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2918400" cy="43891200"/>
  <p:notesSz cx="6858000" cy="9144000"/>
  <p:defaultTextStyle>
    <a:defPPr>
      <a:defRPr lang="en-US"/>
    </a:defPPr>
    <a:lvl1pPr marL="0" algn="l" defTabSz="3685475" rtl="0" eaLnBrk="1" latinLnBrk="0" hangingPunct="1">
      <a:defRPr sz="7256" kern="1200">
        <a:solidFill>
          <a:schemeClr val="tx1"/>
        </a:solidFill>
        <a:latin typeface="+mn-lt"/>
        <a:ea typeface="+mn-ea"/>
        <a:cs typeface="+mn-cs"/>
      </a:defRPr>
    </a:lvl1pPr>
    <a:lvl2pPr marL="1842738" algn="l" defTabSz="3685475" rtl="0" eaLnBrk="1" latinLnBrk="0" hangingPunct="1">
      <a:defRPr sz="7256" kern="1200">
        <a:solidFill>
          <a:schemeClr val="tx1"/>
        </a:solidFill>
        <a:latin typeface="+mn-lt"/>
        <a:ea typeface="+mn-ea"/>
        <a:cs typeface="+mn-cs"/>
      </a:defRPr>
    </a:lvl2pPr>
    <a:lvl3pPr marL="3685475" algn="l" defTabSz="3685475" rtl="0" eaLnBrk="1" latinLnBrk="0" hangingPunct="1">
      <a:defRPr sz="7256" kern="1200">
        <a:solidFill>
          <a:schemeClr val="tx1"/>
        </a:solidFill>
        <a:latin typeface="+mn-lt"/>
        <a:ea typeface="+mn-ea"/>
        <a:cs typeface="+mn-cs"/>
      </a:defRPr>
    </a:lvl3pPr>
    <a:lvl4pPr marL="5528213" algn="l" defTabSz="3685475" rtl="0" eaLnBrk="1" latinLnBrk="0" hangingPunct="1">
      <a:defRPr sz="7256" kern="1200">
        <a:solidFill>
          <a:schemeClr val="tx1"/>
        </a:solidFill>
        <a:latin typeface="+mn-lt"/>
        <a:ea typeface="+mn-ea"/>
        <a:cs typeface="+mn-cs"/>
      </a:defRPr>
    </a:lvl4pPr>
    <a:lvl5pPr marL="7370920" algn="l" defTabSz="3685475" rtl="0" eaLnBrk="1" latinLnBrk="0" hangingPunct="1">
      <a:defRPr sz="7256" kern="1200">
        <a:solidFill>
          <a:schemeClr val="tx1"/>
        </a:solidFill>
        <a:latin typeface="+mn-lt"/>
        <a:ea typeface="+mn-ea"/>
        <a:cs typeface="+mn-cs"/>
      </a:defRPr>
    </a:lvl5pPr>
    <a:lvl6pPr marL="9213657" algn="l" defTabSz="3685475" rtl="0" eaLnBrk="1" latinLnBrk="0" hangingPunct="1">
      <a:defRPr sz="7256" kern="1200">
        <a:solidFill>
          <a:schemeClr val="tx1"/>
        </a:solidFill>
        <a:latin typeface="+mn-lt"/>
        <a:ea typeface="+mn-ea"/>
        <a:cs typeface="+mn-cs"/>
      </a:defRPr>
    </a:lvl6pPr>
    <a:lvl7pPr marL="11056395" algn="l" defTabSz="3685475" rtl="0" eaLnBrk="1" latinLnBrk="0" hangingPunct="1">
      <a:defRPr sz="7256" kern="1200">
        <a:solidFill>
          <a:schemeClr val="tx1"/>
        </a:solidFill>
        <a:latin typeface="+mn-lt"/>
        <a:ea typeface="+mn-ea"/>
        <a:cs typeface="+mn-cs"/>
      </a:defRPr>
    </a:lvl7pPr>
    <a:lvl8pPr marL="12899132" algn="l" defTabSz="3685475" rtl="0" eaLnBrk="1" latinLnBrk="0" hangingPunct="1">
      <a:defRPr sz="7256" kern="1200">
        <a:solidFill>
          <a:schemeClr val="tx1"/>
        </a:solidFill>
        <a:latin typeface="+mn-lt"/>
        <a:ea typeface="+mn-ea"/>
        <a:cs typeface="+mn-cs"/>
      </a:defRPr>
    </a:lvl8pPr>
    <a:lvl9pPr marL="14741870" algn="l" defTabSz="3685475" rtl="0" eaLnBrk="1" latinLnBrk="0" hangingPunct="1">
      <a:defRPr sz="725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07" autoAdjust="0"/>
    <p:restoredTop sz="94660"/>
  </p:normalViewPr>
  <p:slideViewPr>
    <p:cSldViewPr snapToGrid="0">
      <p:cViewPr>
        <p:scale>
          <a:sx n="50" d="100"/>
          <a:sy n="50" d="100"/>
        </p:scale>
        <p:origin x="-4014" y="-9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40-CE37-41C1-A731-91919DF5EA4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8F-57EE-4DE9-BC88-F390142D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995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40-CE37-41C1-A731-91919DF5EA4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8F-57EE-4DE9-BC88-F390142D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959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40-CE37-41C1-A731-91919DF5EA4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8F-57EE-4DE9-BC88-F390142D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926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40-CE37-41C1-A731-91919DF5EA4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8F-57EE-4DE9-BC88-F390142D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888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40-CE37-41C1-A731-91919DF5EA4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8F-57EE-4DE9-BC88-F390142D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964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40-CE37-41C1-A731-91919DF5EA4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8F-57EE-4DE9-BC88-F390142D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89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40-CE37-41C1-A731-91919DF5EA4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8F-57EE-4DE9-BC88-F390142D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792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40-CE37-41C1-A731-91919DF5EA4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8F-57EE-4DE9-BC88-F390142D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714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40-CE37-41C1-A731-91919DF5EA4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8F-57EE-4DE9-BC88-F390142D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056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40-CE37-41C1-A731-91919DF5EA4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8F-57EE-4DE9-BC88-F390142D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256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40-CE37-41C1-A731-91919DF5EA4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8F-57EE-4DE9-BC88-F390142D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043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06740-CE37-41C1-A731-91919DF5EA4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63C8F-57EE-4DE9-BC88-F390142D8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479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-26739" y="0"/>
            <a:ext cx="32918400" cy="43891200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914400" y="7853619"/>
            <a:ext cx="314325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Artificial Intelligence and Machine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9551342"/>
            <a:ext cx="31432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>
                <a:solidFill>
                  <a:srgbClr val="C00000"/>
                </a:solidFill>
                <a:latin typeface="Arial" panose="020B0604020202020204" pitchFamily="34" charset="0"/>
                <a:ea typeface="AR PL UKai CN" panose="02000503000000000000" pitchFamily="2" charset="-128"/>
                <a:cs typeface="Arial" panose="020B0604020202020204" pitchFamily="34" charset="0"/>
              </a:rPr>
              <a:t>Project Title:</a:t>
            </a:r>
            <a:r>
              <a:rPr lang="en-US" b="1" dirty="0">
                <a:solidFill>
                  <a:srgbClr val="FF0000"/>
                </a:solidFill>
              </a:rPr>
              <a:t>Autonomous Multi-Agent V2V Simulation with </a:t>
            </a:r>
            <a:r>
              <a:rPr lang="en-US" b="1" dirty="0" err="1">
                <a:solidFill>
                  <a:srgbClr val="FF0000"/>
                </a:solidFill>
              </a:rPr>
              <a:t>MetaDrive</a:t>
            </a:r>
            <a:endParaRPr lang="en-IN" sz="7200" b="1" dirty="0">
              <a:solidFill>
                <a:srgbClr val="FF0000"/>
              </a:solidFill>
              <a:latin typeface="Arial" panose="020B0604020202020204" pitchFamily="34" charset="0"/>
              <a:ea typeface="AR PL UKai CN" panose="02000503000000000000" pitchFamily="2" charset="-128"/>
              <a:cs typeface="Arial" panose="020B060402020202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 flipV="1">
            <a:off x="31837311" y="33690514"/>
            <a:ext cx="15544800" cy="457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/>
          <p:cNvSpPr txBox="1"/>
          <p:nvPr/>
        </p:nvSpPr>
        <p:spPr>
          <a:xfrm>
            <a:off x="885825" y="12228227"/>
            <a:ext cx="15030450" cy="984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  <a:p>
            <a:pPr algn="just"/>
            <a:r>
              <a:rPr lang="en-US" sz="4400" i="1" dirty="0"/>
              <a:t>A secure multi-agent V2V simulation framework is developed using </a:t>
            </a:r>
            <a:r>
              <a:rPr lang="en-US" sz="4400" i="1" dirty="0" err="1"/>
              <a:t>MetaDrive</a:t>
            </a:r>
            <a:r>
              <a:rPr lang="en-US" sz="4400" i="1" dirty="0"/>
              <a:t> to model autonomous vehicles that communicate through encrypted UDP channels. The system integrates IDM control, Hybrid A</a:t>
            </a:r>
            <a:r>
              <a:rPr lang="en-US" sz="4400" dirty="0"/>
              <a:t> planning, and Fernet-based encryption to improve safety, reduce collisions, and enable cooperative driving. This framework enables realistic testing of connected autonomous mobility in complex, dynamic traffic environments.</a:t>
            </a:r>
            <a:endParaRPr lang="en-IN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N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0075" y="28291674"/>
            <a:ext cx="15373350" cy="10833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endParaRPr lang="en-IN" sz="6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en-IN" sz="6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4400" dirty="0"/>
              <a:t>To build a secure platform for students of different colleges to connect and collaborate.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4400" dirty="0"/>
              <a:t>To allow USN-based login and structured navigation of colleges, departments, and students.</a:t>
            </a:r>
            <a:endParaRPr lang="en-IN" sz="6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4400" dirty="0"/>
              <a:t>To provide an interest-based search feature for discovering peers with similar technical domains.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4400" dirty="0"/>
              <a:t>To enable real-time one-to-one chat and video communication for academic interaction.</a:t>
            </a:r>
          </a:p>
          <a:p>
            <a:pPr marL="857250" lvl="0" indent="-857250">
              <a:buFont typeface="Arial" panose="020B0604020202020204" pitchFamily="34" charset="0"/>
              <a:buChar char="•"/>
            </a:pPr>
            <a:r>
              <a:rPr lang="en-US" sz="4400" dirty="0"/>
              <a:t>To support college announcements and live streaming of events digitally.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4400" dirty="0"/>
              <a:t>To enhance smart campus networking and improve knowledge sharing among students.</a:t>
            </a:r>
          </a:p>
          <a:p>
            <a:pPr lvl="0"/>
            <a:endParaRPr lang="en-IN" sz="4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944975" y="12082989"/>
            <a:ext cx="15373350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/>
              <a:t>Requirement Analysis: Identified essential needs including multi-agent interaction, secure V2V communication, trajectory planning, and simulation logging.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/>
              <a:t>System Design: Created layered architecture diagrams covering decision, planning, communication, and environment modules.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/>
              <a:t>Simulation Development: Configured </a:t>
            </a:r>
            <a:r>
              <a:rPr lang="en-IN" sz="4400" dirty="0" err="1"/>
              <a:t>MetaDrive</a:t>
            </a:r>
            <a:r>
              <a:rPr lang="en-IN" sz="4400" dirty="0"/>
              <a:t> for multi-agent scenarios with procedural maps and integrated IDM and Hybrid A*.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/>
              <a:t>Secure Communication: Implemented UDP broadcasting with AES/Fernet encryption for reliable state sharing.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/>
              <a:t>Testing and Refinement: Conducted scenario-based evaluation, analysed collisions and headway stability, and refined system behaviour.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802100" y="32379079"/>
            <a:ext cx="1537335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algn="just"/>
            <a:r>
              <a:rPr lang="en-US" sz="4400" dirty="0"/>
              <a:t>The proposed V2V simulation framework enhances cooperative autonomous driving by enabling secure, real-time communication among multiple vehicles. Through encrypted state sharing, IDM control, and Hybrid A* planning, the system improves safety and coordination in dynamic traffic. Testing showed fewer collisions, faster hazard responses, and strong potential for advancing intelligent transportation research.</a:t>
            </a:r>
          </a:p>
          <a:p>
            <a:pPr algn="just"/>
            <a:endParaRPr lang="en-IN" sz="4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860" y="172974"/>
            <a:ext cx="30023202" cy="53206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400" y="5259723"/>
            <a:ext cx="314325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solidFill>
                  <a:srgbClr val="7030A0"/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AAVISHKAR - 2025</a:t>
            </a:r>
            <a:endParaRPr lang="en-IN" sz="13800" b="1" dirty="0">
              <a:solidFill>
                <a:srgbClr val="7030A0"/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4400" y="7194976"/>
            <a:ext cx="31432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sz="4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December 2025</a:t>
            </a:r>
            <a:endParaRPr lang="en-IN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00050" y="12048112"/>
            <a:ext cx="15716250" cy="277465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/>
          <p:cNvSpPr/>
          <p:nvPr/>
        </p:nvSpPr>
        <p:spPr>
          <a:xfrm>
            <a:off x="16573500" y="12048112"/>
            <a:ext cx="15830550" cy="277187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/>
          <p:cNvSpPr txBox="1"/>
          <p:nvPr/>
        </p:nvSpPr>
        <p:spPr>
          <a:xfrm>
            <a:off x="7346697" y="40460105"/>
            <a:ext cx="876960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Muniraju M</a:t>
            </a:r>
            <a:endParaRPr lang="en-IN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5400" b="1" dirty="0">
                <a:latin typeface="Arial" panose="020B0604020202020204" pitchFamily="34" charset="0"/>
                <a:cs typeface="Arial" panose="020B0604020202020204" pitchFamily="34" charset="0"/>
              </a:rPr>
              <a:t>Assistant Professor,</a:t>
            </a:r>
          </a:p>
          <a:p>
            <a:r>
              <a:rPr lang="en-IN" sz="5400" b="1" dirty="0">
                <a:latin typeface="Arial" panose="020B0604020202020204" pitchFamily="34" charset="0"/>
                <a:cs typeface="Arial" panose="020B0604020202020204" pitchFamily="34" charset="0"/>
              </a:rPr>
              <a:t>Dept of AIML</a:t>
            </a:r>
          </a:p>
          <a:p>
            <a:endParaRPr lang="en-IN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6E8C7F-556C-2921-D427-5FBF44D6A407}"/>
              </a:ext>
            </a:extLst>
          </p:cNvPr>
          <p:cNvSpPr txBox="1"/>
          <p:nvPr/>
        </p:nvSpPr>
        <p:spPr>
          <a:xfrm>
            <a:off x="542922" y="40504485"/>
            <a:ext cx="68037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of Guide: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825" y="18632260"/>
            <a:ext cx="15030450" cy="10587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algn="just"/>
            <a:r>
              <a:rPr lang="en-US" sz="4400" dirty="0"/>
              <a:t>Most autonomous vehicle simulations rely on limited sensor-based perception, preventing vehicles from anticipating hazards beyond their direct line of sight. To address this limitation, our project introduces a secure multi-agent V2V communication framework built on </a:t>
            </a:r>
            <a:r>
              <a:rPr lang="en-US" sz="4400" dirty="0" err="1"/>
              <a:t>MetaDrive</a:t>
            </a:r>
            <a:r>
              <a:rPr lang="en-US" sz="4400" dirty="0"/>
              <a:t>. Vehicles exchange encrypted state, intent, and hazard information through a UDP-based communication layer, enhancing situational awareness in complex traffic. The system integrates IDM for longitudinal control and Hybrid A* for trajectory planning, enabling safe, cooperative driving. Real-time V2V data reduces collisions, improves headway stability, and supports coordinated </a:t>
            </a:r>
            <a:r>
              <a:rPr lang="en-US" sz="4400" dirty="0" err="1"/>
              <a:t>behaviours</a:t>
            </a:r>
            <a:r>
              <a:rPr lang="en-US" sz="4400" dirty="0"/>
              <a:t> across dynamic road environments. This framework facilitates research in connected autonomous mobility with strong security guarantees.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44975" y="22298972"/>
            <a:ext cx="15087600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b="1" dirty="0"/>
              <a:t>Encrypted V2V communication</a:t>
            </a:r>
            <a:r>
              <a:rPr lang="en-IN" sz="4400" dirty="0"/>
              <a:t> enabled secure real-time sharing of vehicle state information across agents.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b="1" dirty="0"/>
              <a:t>IDM-based control</a:t>
            </a:r>
            <a:r>
              <a:rPr lang="en-IN" sz="4400" dirty="0"/>
              <a:t> maintained stable headways and smoother speed adjustments during dense traffic scenarios.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b="1" dirty="0"/>
              <a:t>Hybrid A*</a:t>
            </a:r>
            <a:r>
              <a:rPr lang="en-IN" sz="4400" dirty="0"/>
              <a:t> planning generated feasible, collision-free trajectories across varied road layouts.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b="1" dirty="0"/>
              <a:t>UDP broadcasting</a:t>
            </a:r>
            <a:r>
              <a:rPr lang="en-IN" sz="4400" dirty="0"/>
              <a:t> achieved low-latency message transfer with minimal packet delay.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b="1" dirty="0"/>
              <a:t>Simulation results</a:t>
            </a:r>
            <a:r>
              <a:rPr lang="en-IN" sz="4400" dirty="0"/>
              <a:t> showed fewer collisions and faster hazard responses compared to non-communicating agents.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b="1" dirty="0"/>
              <a:t>Performance evaluation</a:t>
            </a:r>
            <a:r>
              <a:rPr lang="en-IN" sz="4400" dirty="0"/>
              <a:t> confirmed stable execution and improved cooperative driving behaviour across multi-agent environments.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116300" y="40595613"/>
            <a:ext cx="162877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Priyanshu Kumar        	</a:t>
            </a:r>
            <a:r>
              <a:rPr lang="en-IN" sz="48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IN" sz="4800" b="1">
                <a:latin typeface="Arial" panose="020B0604020202020204" pitchFamily="34" charset="0"/>
                <a:cs typeface="Arial" panose="020B0604020202020204" pitchFamily="34" charset="0"/>
              </a:rPr>
              <a:t>1SJ22CI0XX</a:t>
            </a:r>
            <a:endParaRPr lang="en-IN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4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Pushpak Chakraborty        	</a:t>
            </a:r>
            <a:r>
              <a:rPr lang="en-IN" sz="4800" b="1" dirty="0">
                <a:latin typeface="Arial" panose="020B0604020202020204" pitchFamily="34" charset="0"/>
                <a:cs typeface="Arial" panose="020B0604020202020204" pitchFamily="34" charset="0"/>
              </a:rPr>
              <a:t>1SJ22CI0XX</a:t>
            </a:r>
          </a:p>
          <a:p>
            <a:r>
              <a:rPr lang="en-IN" sz="4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Rajath K M       		</a:t>
            </a:r>
            <a:r>
              <a:rPr lang="en-IN" sz="4800" b="1" dirty="0">
                <a:latin typeface="Arial" panose="020B0604020202020204" pitchFamily="34" charset="0"/>
                <a:cs typeface="Arial" panose="020B0604020202020204" pitchFamily="34" charset="0"/>
              </a:rPr>
              <a:t>1SJ22CI0XX</a:t>
            </a:r>
          </a:p>
          <a:p>
            <a:r>
              <a:rPr lang="en-IN" sz="4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Trupti Garwad     		</a:t>
            </a:r>
            <a:r>
              <a:rPr lang="en-IN" sz="4800" b="1" dirty="0">
                <a:latin typeface="Arial" panose="020B0604020202020204" pitchFamily="34" charset="0"/>
                <a:cs typeface="Arial" panose="020B0604020202020204" pitchFamily="34" charset="0"/>
              </a:rPr>
              <a:t>1SJ22CI0XX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6E8C7F-556C-2921-D427-5FBF44D6A407}"/>
              </a:ext>
            </a:extLst>
          </p:cNvPr>
          <p:cNvSpPr txBox="1"/>
          <p:nvPr/>
        </p:nvSpPr>
        <p:spPr>
          <a:xfrm>
            <a:off x="22632492" y="39766816"/>
            <a:ext cx="6803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Batch</a:t>
            </a:r>
          </a:p>
        </p:txBody>
      </p:sp>
    </p:spTree>
    <p:extLst>
      <p:ext uri="{BB962C8B-B14F-4D97-AF65-F5344CB8AC3E}">
        <p14:creationId xmlns:p14="http://schemas.microsoft.com/office/powerpoint/2010/main" val="4275584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</TotalTime>
  <Words>551</Words>
  <Application>Microsoft Office PowerPoint</Application>
  <PresentationFormat>Custom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Pushpak Chakraborty</cp:lastModifiedBy>
  <cp:revision>17</cp:revision>
  <dcterms:created xsi:type="dcterms:W3CDTF">2025-02-17T04:01:56Z</dcterms:created>
  <dcterms:modified xsi:type="dcterms:W3CDTF">2026-01-04T23:26:32Z</dcterms:modified>
</cp:coreProperties>
</file>