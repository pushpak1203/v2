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56" r:id="rId2"/>
    <p:sldId id="259" r:id="rId3"/>
    <p:sldId id="261" r:id="rId4"/>
    <p:sldId id="260" r:id="rId5"/>
    <p:sldId id="262" r:id="rId6"/>
    <p:sldId id="263" r:id="rId7"/>
    <p:sldId id="264" r:id="rId8"/>
    <p:sldId id="265" r:id="rId9"/>
    <p:sldId id="275" r:id="rId10"/>
    <p:sldId id="314" r:id="rId11"/>
    <p:sldId id="267" r:id="rId12"/>
    <p:sldId id="315" r:id="rId13"/>
    <p:sldId id="269" r:id="rId14"/>
    <p:sldId id="312" r:id="rId15"/>
    <p:sldId id="272" r:id="rId16"/>
    <p:sldId id="273" r:id="rId17"/>
    <p:sldId id="274" r:id="rId18"/>
    <p:sldId id="277" r:id="rId19"/>
    <p:sldId id="278" r:id="rId20"/>
    <p:sldId id="311" r:id="rId21"/>
    <p:sldId id="279" r:id="rId22"/>
    <p:sldId id="280" r:id="rId23"/>
    <p:sldId id="304" r:id="rId24"/>
    <p:sldId id="305" r:id="rId25"/>
    <p:sldId id="306" r:id="rId26"/>
    <p:sldId id="308" r:id="rId27"/>
    <p:sldId id="307" r:id="rId28"/>
    <p:sldId id="309" r:id="rId29"/>
    <p:sldId id="310"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0" autoAdjust="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BE8F3E-4BBF-0FD4-3B38-40A66949DA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3F22E8E-50DE-E7EF-2300-15ECAC60F6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5336FF-8243-46BE-A9A7-36B5000427EC}" type="datetimeFigureOut">
              <a:rPr lang="en-IN" smtClean="0"/>
              <a:t>05-01-2026</a:t>
            </a:fld>
            <a:endParaRPr lang="en-IN"/>
          </a:p>
        </p:txBody>
      </p:sp>
      <p:sp>
        <p:nvSpPr>
          <p:cNvPr id="4" name="Footer Placeholder 3">
            <a:extLst>
              <a:ext uri="{FF2B5EF4-FFF2-40B4-BE49-F238E27FC236}">
                <a16:creationId xmlns:a16="http://schemas.microsoft.com/office/drawing/2014/main" id="{84D405B6-0B27-B464-2330-F428590B832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Autonomous Multi-Agent V2V Simulation with MetaDrive</a:t>
            </a:r>
            <a:endParaRPr lang="en-IN"/>
          </a:p>
        </p:txBody>
      </p:sp>
      <p:sp>
        <p:nvSpPr>
          <p:cNvPr id="5" name="Slide Number Placeholder 4">
            <a:extLst>
              <a:ext uri="{FF2B5EF4-FFF2-40B4-BE49-F238E27FC236}">
                <a16:creationId xmlns:a16="http://schemas.microsoft.com/office/drawing/2014/main" id="{394F1CE5-5FDC-31FB-015F-C068F0FCB28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B0F0F6-0A21-4E2A-8242-7295CD02980A}" type="slidenum">
              <a:rPr lang="en-IN" smtClean="0"/>
              <a:t>‹#›</a:t>
            </a:fld>
            <a:endParaRPr lang="en-IN"/>
          </a:p>
        </p:txBody>
      </p:sp>
    </p:spTree>
    <p:extLst>
      <p:ext uri="{BB962C8B-B14F-4D97-AF65-F5344CB8AC3E}">
        <p14:creationId xmlns:p14="http://schemas.microsoft.com/office/powerpoint/2010/main" val="63594466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5DB825-6509-4AC1-89FB-5E416E1A716B}" type="datetimeFigureOut">
              <a:rPr lang="en-US" smtClean="0"/>
              <a:pPr/>
              <a:t>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Autonomous Multi-Agent V2V Simulation with MetaDrive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74AAA1-1871-4590-8033-AE3F003E5C35}" type="slidenum">
              <a:rPr lang="en-US" smtClean="0"/>
              <a:pPr/>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D74AAA1-1871-4590-8033-AE3F003E5C35}" type="slidenum">
              <a:rPr lang="en-US" smtClean="0"/>
              <a:pPr/>
              <a:t>1</a:t>
            </a:fld>
            <a:endParaRPr lang="en-US"/>
          </a:p>
        </p:txBody>
      </p:sp>
      <p:sp>
        <p:nvSpPr>
          <p:cNvPr id="5" name="Footer Placeholder 4">
            <a:extLst>
              <a:ext uri="{FF2B5EF4-FFF2-40B4-BE49-F238E27FC236}">
                <a16:creationId xmlns:a16="http://schemas.microsoft.com/office/drawing/2014/main" id="{EFF60166-B05D-D28E-AB6C-31276E618265}"/>
              </a:ext>
            </a:extLst>
          </p:cNvPr>
          <p:cNvSpPr>
            <a:spLocks noGrp="1"/>
          </p:cNvSpPr>
          <p:nvPr>
            <p:ph type="ftr" sz="quarter" idx="4"/>
          </p:nvPr>
        </p:nvSpPr>
        <p:spPr/>
        <p:txBody>
          <a:bodyPr/>
          <a:lstStyle/>
          <a:p>
            <a:r>
              <a:rPr lang="en-US"/>
              <a:t>Autonomous Multi-Agent V2V Simulation with MetaDrive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D74AAA1-1871-4590-8033-AE3F003E5C35}" type="slidenum">
              <a:rPr lang="en-US" smtClean="0"/>
              <a:pPr/>
              <a:t>2</a:t>
            </a:fld>
            <a:endParaRPr lang="en-US"/>
          </a:p>
        </p:txBody>
      </p:sp>
      <p:sp>
        <p:nvSpPr>
          <p:cNvPr id="5" name="Footer Placeholder 4">
            <a:extLst>
              <a:ext uri="{FF2B5EF4-FFF2-40B4-BE49-F238E27FC236}">
                <a16:creationId xmlns:a16="http://schemas.microsoft.com/office/drawing/2014/main" id="{59B0F27F-EAED-AF74-4DCC-48D3897C6C0D}"/>
              </a:ext>
            </a:extLst>
          </p:cNvPr>
          <p:cNvSpPr>
            <a:spLocks noGrp="1"/>
          </p:cNvSpPr>
          <p:nvPr>
            <p:ph type="ftr" sz="quarter" idx="4"/>
          </p:nvPr>
        </p:nvSpPr>
        <p:spPr/>
        <p:txBody>
          <a:bodyPr/>
          <a:lstStyle/>
          <a:p>
            <a:r>
              <a:rPr lang="en-US"/>
              <a:t>Autonomous Multi-Agent V2V Simulation with MetaDrive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D74AAA1-1871-4590-8033-AE3F003E5C35}" type="slidenum">
              <a:rPr lang="en-US" smtClean="0"/>
              <a:pPr/>
              <a:t>3</a:t>
            </a:fld>
            <a:endParaRPr lang="en-US"/>
          </a:p>
        </p:txBody>
      </p:sp>
      <p:sp>
        <p:nvSpPr>
          <p:cNvPr id="5" name="Footer Placeholder 4">
            <a:extLst>
              <a:ext uri="{FF2B5EF4-FFF2-40B4-BE49-F238E27FC236}">
                <a16:creationId xmlns:a16="http://schemas.microsoft.com/office/drawing/2014/main" id="{02199AC8-CA76-B8DF-5662-96FEB1F0D2AD}"/>
              </a:ext>
            </a:extLst>
          </p:cNvPr>
          <p:cNvSpPr>
            <a:spLocks noGrp="1"/>
          </p:cNvSpPr>
          <p:nvPr>
            <p:ph type="ftr" sz="quarter" idx="4"/>
          </p:nvPr>
        </p:nvSpPr>
        <p:spPr/>
        <p:txBody>
          <a:bodyPr/>
          <a:lstStyle/>
          <a:p>
            <a:r>
              <a:rPr lang="en-US"/>
              <a:t>Autonomous Multi-Agent V2V Simulation with MetaDrive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D74AAA1-1871-4590-8033-AE3F003E5C35}" type="slidenum">
              <a:rPr lang="en-US" smtClean="0"/>
              <a:pPr/>
              <a:t>4</a:t>
            </a:fld>
            <a:endParaRPr lang="en-US"/>
          </a:p>
        </p:txBody>
      </p:sp>
      <p:sp>
        <p:nvSpPr>
          <p:cNvPr id="5" name="Footer Placeholder 4">
            <a:extLst>
              <a:ext uri="{FF2B5EF4-FFF2-40B4-BE49-F238E27FC236}">
                <a16:creationId xmlns:a16="http://schemas.microsoft.com/office/drawing/2014/main" id="{5896CCD8-0D4B-D9D9-302F-06C2720719F2}"/>
              </a:ext>
            </a:extLst>
          </p:cNvPr>
          <p:cNvSpPr>
            <a:spLocks noGrp="1"/>
          </p:cNvSpPr>
          <p:nvPr>
            <p:ph type="ftr" sz="quarter" idx="4"/>
          </p:nvPr>
        </p:nvSpPr>
        <p:spPr/>
        <p:txBody>
          <a:bodyPr/>
          <a:lstStyle/>
          <a:p>
            <a:r>
              <a:rPr lang="en-US"/>
              <a:t>Autonomous Multi-Agent V2V Simulation with MetaDrive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CA80F-38CE-4CE8-27BC-60AA4AC94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44894-894D-0A20-6BE2-56F109F32E2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6547FB2-8F0B-2F66-5837-42666BD89A1B}"/>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05C2C51C-255A-A3A6-EE34-D8D1E9D222F4}"/>
              </a:ext>
            </a:extLst>
          </p:cNvPr>
          <p:cNvSpPr>
            <a:spLocks noGrp="1"/>
          </p:cNvSpPr>
          <p:nvPr>
            <p:ph type="sldNum" sz="quarter" idx="10"/>
          </p:nvPr>
        </p:nvSpPr>
        <p:spPr/>
        <p:txBody>
          <a:bodyPr/>
          <a:lstStyle/>
          <a:p>
            <a:fld id="{2D74AAA1-1871-4590-8033-AE3F003E5C35}" type="slidenum">
              <a:rPr lang="en-US" smtClean="0"/>
              <a:pPr/>
              <a:t>9</a:t>
            </a:fld>
            <a:endParaRPr lang="en-US"/>
          </a:p>
        </p:txBody>
      </p:sp>
      <p:sp>
        <p:nvSpPr>
          <p:cNvPr id="5" name="Footer Placeholder 4">
            <a:extLst>
              <a:ext uri="{FF2B5EF4-FFF2-40B4-BE49-F238E27FC236}">
                <a16:creationId xmlns:a16="http://schemas.microsoft.com/office/drawing/2014/main" id="{A4252191-37BE-DC06-ACA3-73C030CF363E}"/>
              </a:ext>
            </a:extLst>
          </p:cNvPr>
          <p:cNvSpPr>
            <a:spLocks noGrp="1"/>
          </p:cNvSpPr>
          <p:nvPr>
            <p:ph type="ftr" sz="quarter" idx="4"/>
          </p:nvPr>
        </p:nvSpPr>
        <p:spPr/>
        <p:txBody>
          <a:bodyPr/>
          <a:lstStyle/>
          <a:p>
            <a:r>
              <a:rPr lang="en-US"/>
              <a:t>Autonomous Multi-Agent V2V Simulation with MetaDrive</a:t>
            </a:r>
          </a:p>
        </p:txBody>
      </p:sp>
    </p:spTree>
    <p:extLst>
      <p:ext uri="{BB962C8B-B14F-4D97-AF65-F5344CB8AC3E}">
        <p14:creationId xmlns:p14="http://schemas.microsoft.com/office/powerpoint/2010/main" val="1982293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0B2D5-EEF0-09BA-AEFF-44CF2E077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1422C-C6A9-E8EB-1D49-8A660FFE9DF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150E7B-3A5D-C23E-D0F4-9FACD45464D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C8B204C4-D0B7-6EE3-E31C-15662D11F3FE}"/>
              </a:ext>
            </a:extLst>
          </p:cNvPr>
          <p:cNvSpPr>
            <a:spLocks noGrp="1"/>
          </p:cNvSpPr>
          <p:nvPr>
            <p:ph type="sldNum" sz="quarter" idx="10"/>
          </p:nvPr>
        </p:nvSpPr>
        <p:spPr/>
        <p:txBody>
          <a:bodyPr/>
          <a:lstStyle/>
          <a:p>
            <a:fld id="{2D74AAA1-1871-4590-8033-AE3F003E5C35}" type="slidenum">
              <a:rPr lang="en-US" smtClean="0"/>
              <a:pPr/>
              <a:t>10</a:t>
            </a:fld>
            <a:endParaRPr lang="en-US"/>
          </a:p>
        </p:txBody>
      </p:sp>
      <p:sp>
        <p:nvSpPr>
          <p:cNvPr id="5" name="Footer Placeholder 4">
            <a:extLst>
              <a:ext uri="{FF2B5EF4-FFF2-40B4-BE49-F238E27FC236}">
                <a16:creationId xmlns:a16="http://schemas.microsoft.com/office/drawing/2014/main" id="{B76B4317-3F11-6ADB-70A0-38BCD260F469}"/>
              </a:ext>
            </a:extLst>
          </p:cNvPr>
          <p:cNvSpPr>
            <a:spLocks noGrp="1"/>
          </p:cNvSpPr>
          <p:nvPr>
            <p:ph type="ftr" sz="quarter" idx="4"/>
          </p:nvPr>
        </p:nvSpPr>
        <p:spPr/>
        <p:txBody>
          <a:bodyPr/>
          <a:lstStyle/>
          <a:p>
            <a:r>
              <a:rPr lang="en-US"/>
              <a:t>Autonomous Multi-Agent V2V Simulation with MetaDrive</a:t>
            </a:r>
          </a:p>
        </p:txBody>
      </p:sp>
    </p:spTree>
    <p:extLst>
      <p:ext uri="{BB962C8B-B14F-4D97-AF65-F5344CB8AC3E}">
        <p14:creationId xmlns:p14="http://schemas.microsoft.com/office/powerpoint/2010/main" val="3795998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9C704-98AB-0CD4-43ED-CDB1FD069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D5E46-71E4-ED21-0E2E-E93061DFCF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13072FC-508F-D0D5-6D6E-FF0234CBB46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A0B04AAA-3AF7-0C18-9B0E-527510C0DFAF}"/>
              </a:ext>
            </a:extLst>
          </p:cNvPr>
          <p:cNvSpPr>
            <a:spLocks noGrp="1"/>
          </p:cNvSpPr>
          <p:nvPr>
            <p:ph type="sldNum" sz="quarter" idx="10"/>
          </p:nvPr>
        </p:nvSpPr>
        <p:spPr/>
        <p:txBody>
          <a:bodyPr/>
          <a:lstStyle/>
          <a:p>
            <a:fld id="{2D74AAA1-1871-4590-8033-AE3F003E5C35}" type="slidenum">
              <a:rPr lang="en-US" smtClean="0"/>
              <a:pPr/>
              <a:t>12</a:t>
            </a:fld>
            <a:endParaRPr lang="en-US"/>
          </a:p>
        </p:txBody>
      </p:sp>
      <p:sp>
        <p:nvSpPr>
          <p:cNvPr id="5" name="Footer Placeholder 4">
            <a:extLst>
              <a:ext uri="{FF2B5EF4-FFF2-40B4-BE49-F238E27FC236}">
                <a16:creationId xmlns:a16="http://schemas.microsoft.com/office/drawing/2014/main" id="{7247BE90-2436-BFA9-9897-E9BD4BC2C06E}"/>
              </a:ext>
            </a:extLst>
          </p:cNvPr>
          <p:cNvSpPr>
            <a:spLocks noGrp="1"/>
          </p:cNvSpPr>
          <p:nvPr>
            <p:ph type="ftr" sz="quarter" idx="4"/>
          </p:nvPr>
        </p:nvSpPr>
        <p:spPr/>
        <p:txBody>
          <a:bodyPr/>
          <a:lstStyle/>
          <a:p>
            <a:r>
              <a:rPr lang="en-US"/>
              <a:t>Autonomous Multi-Agent V2V Simulation with MetaDrive</a:t>
            </a:r>
          </a:p>
        </p:txBody>
      </p:sp>
    </p:spTree>
    <p:extLst>
      <p:ext uri="{BB962C8B-B14F-4D97-AF65-F5344CB8AC3E}">
        <p14:creationId xmlns:p14="http://schemas.microsoft.com/office/powerpoint/2010/main" val="872181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74AAA1-1871-4590-8033-AE3F003E5C35}" type="slidenum">
              <a:rPr lang="en-US" smtClean="0"/>
              <a:pPr/>
              <a:t>15</a:t>
            </a:fld>
            <a:endParaRPr lang="en-US"/>
          </a:p>
        </p:txBody>
      </p:sp>
      <p:sp>
        <p:nvSpPr>
          <p:cNvPr id="5" name="Footer Placeholder 4">
            <a:extLst>
              <a:ext uri="{FF2B5EF4-FFF2-40B4-BE49-F238E27FC236}">
                <a16:creationId xmlns:a16="http://schemas.microsoft.com/office/drawing/2014/main" id="{FD47588E-4CB4-3B19-DDF3-EF6F4565620E}"/>
              </a:ext>
            </a:extLst>
          </p:cNvPr>
          <p:cNvSpPr>
            <a:spLocks noGrp="1"/>
          </p:cNvSpPr>
          <p:nvPr>
            <p:ph type="ftr" sz="quarter" idx="4"/>
          </p:nvPr>
        </p:nvSpPr>
        <p:spPr/>
        <p:txBody>
          <a:bodyPr/>
          <a:lstStyle/>
          <a:p>
            <a:r>
              <a:rPr lang="en-US"/>
              <a:t>Autonomous Multi-Agent V2V Simulation with MetaDrive</a:t>
            </a:r>
          </a:p>
        </p:txBody>
      </p:sp>
    </p:spTree>
    <p:extLst>
      <p:ext uri="{BB962C8B-B14F-4D97-AF65-F5344CB8AC3E}">
        <p14:creationId xmlns:p14="http://schemas.microsoft.com/office/powerpoint/2010/main" val="696439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7AAA859-77E4-4BCA-846C-EC5FCD6D3C1D}" type="datetime1">
              <a:rPr lang="en-US" smtClean="0"/>
              <a:t>1/5/2026</a:t>
            </a:fld>
            <a:endParaRPr lang="en-US"/>
          </a:p>
        </p:txBody>
      </p:sp>
      <p:sp>
        <p:nvSpPr>
          <p:cNvPr id="5" name="Footer Placeholder 4"/>
          <p:cNvSpPr>
            <a:spLocks noGrp="1"/>
          </p:cNvSpPr>
          <p:nvPr>
            <p:ph type="ftr" sz="quarter" idx="11"/>
          </p:nvPr>
        </p:nvSpPr>
        <p:spPr/>
        <p:txBody>
          <a:bodyPr/>
          <a:lstStyle/>
          <a:p>
            <a:r>
              <a:rPr lang="en-US"/>
              <a:t>Autonomous Multi-Agent V2V Simulation with MetaDrive</a:t>
            </a:r>
          </a:p>
        </p:txBody>
      </p:sp>
      <p:sp>
        <p:nvSpPr>
          <p:cNvPr id="6" name="Slide Number Placeholder 5"/>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3FB100-0168-4E95-A3D4-A1C5BCE736A2}" type="datetime1">
              <a:rPr lang="en-US" smtClean="0"/>
              <a:t>1/5/2026</a:t>
            </a:fld>
            <a:endParaRPr lang="en-US"/>
          </a:p>
        </p:txBody>
      </p:sp>
      <p:sp>
        <p:nvSpPr>
          <p:cNvPr id="5" name="Footer Placeholder 4"/>
          <p:cNvSpPr>
            <a:spLocks noGrp="1"/>
          </p:cNvSpPr>
          <p:nvPr>
            <p:ph type="ftr" sz="quarter" idx="11"/>
          </p:nvPr>
        </p:nvSpPr>
        <p:spPr/>
        <p:txBody>
          <a:bodyPr/>
          <a:lstStyle/>
          <a:p>
            <a:r>
              <a:rPr lang="en-US"/>
              <a:t>Autonomous Multi-Agent V2V Simulation with MetaDrive</a:t>
            </a:r>
          </a:p>
        </p:txBody>
      </p:sp>
      <p:sp>
        <p:nvSpPr>
          <p:cNvPr id="6" name="Slide Number Placeholder 5"/>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776AC1-F53F-4DDB-B4A1-0372E4543FA3}" type="datetime1">
              <a:rPr lang="en-US" smtClean="0"/>
              <a:t>1/5/2026</a:t>
            </a:fld>
            <a:endParaRPr lang="en-US"/>
          </a:p>
        </p:txBody>
      </p:sp>
      <p:sp>
        <p:nvSpPr>
          <p:cNvPr id="5" name="Footer Placeholder 4"/>
          <p:cNvSpPr>
            <a:spLocks noGrp="1"/>
          </p:cNvSpPr>
          <p:nvPr>
            <p:ph type="ftr" sz="quarter" idx="11"/>
          </p:nvPr>
        </p:nvSpPr>
        <p:spPr/>
        <p:txBody>
          <a:bodyPr/>
          <a:lstStyle/>
          <a:p>
            <a:r>
              <a:rPr lang="en-US"/>
              <a:t>Autonomous Multi-Agent V2V Simulation with MetaDrive</a:t>
            </a:r>
          </a:p>
        </p:txBody>
      </p:sp>
      <p:sp>
        <p:nvSpPr>
          <p:cNvPr id="6" name="Slide Number Placeholder 5"/>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73B30-2870-408B-BAB6-0D96EB8B9D72}" type="datetime1">
              <a:rPr lang="en-US" smtClean="0"/>
              <a:t>1/5/2026</a:t>
            </a:fld>
            <a:endParaRPr lang="en-US"/>
          </a:p>
        </p:txBody>
      </p:sp>
      <p:sp>
        <p:nvSpPr>
          <p:cNvPr id="6" name="Footer Placeholder 5"/>
          <p:cNvSpPr>
            <a:spLocks noGrp="1"/>
          </p:cNvSpPr>
          <p:nvPr>
            <p:ph type="ftr" sz="quarter" idx="11"/>
          </p:nvPr>
        </p:nvSpPr>
        <p:spPr/>
        <p:txBody>
          <a:bodyPr/>
          <a:lstStyle/>
          <a:p>
            <a:r>
              <a:rPr lang="en-US"/>
              <a:t>Autonomous Multi-Agent V2V Simulation with MetaDrive</a:t>
            </a:r>
          </a:p>
        </p:txBody>
      </p:sp>
      <p:sp>
        <p:nvSpPr>
          <p:cNvPr id="7" name="Slide Number Placeholder 6"/>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AD355A9-18DF-43E5-AE55-4408C54283E5}" type="datetime1">
              <a:rPr lang="en-US" smtClean="0"/>
              <a:t>1/5/2026</a:t>
            </a:fld>
            <a:endParaRPr lang="en-US"/>
          </a:p>
        </p:txBody>
      </p:sp>
      <p:sp>
        <p:nvSpPr>
          <p:cNvPr id="8" name="Footer Placeholder 7"/>
          <p:cNvSpPr>
            <a:spLocks noGrp="1"/>
          </p:cNvSpPr>
          <p:nvPr>
            <p:ph type="ftr" sz="quarter" idx="11"/>
          </p:nvPr>
        </p:nvSpPr>
        <p:spPr/>
        <p:txBody>
          <a:bodyPr/>
          <a:lstStyle/>
          <a:p>
            <a:r>
              <a:rPr lang="en-US"/>
              <a:t>Autonomous Multi-Agent V2V Simulation with MetaDrive</a:t>
            </a:r>
          </a:p>
        </p:txBody>
      </p:sp>
      <p:sp>
        <p:nvSpPr>
          <p:cNvPr id="9" name="Slide Number Placeholder 8"/>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3D08B4-F317-4855-A579-95696F1E510E}" type="datetime1">
              <a:rPr lang="en-US" smtClean="0"/>
              <a:t>1/5/2026</a:t>
            </a:fld>
            <a:endParaRPr lang="en-US"/>
          </a:p>
        </p:txBody>
      </p:sp>
      <p:sp>
        <p:nvSpPr>
          <p:cNvPr id="4" name="Footer Placeholder 3"/>
          <p:cNvSpPr>
            <a:spLocks noGrp="1"/>
          </p:cNvSpPr>
          <p:nvPr>
            <p:ph type="ftr" sz="quarter" idx="11"/>
          </p:nvPr>
        </p:nvSpPr>
        <p:spPr/>
        <p:txBody>
          <a:bodyPr/>
          <a:lstStyle/>
          <a:p>
            <a:r>
              <a:rPr lang="en-US"/>
              <a:t>Autonomous Multi-Agent V2V Simulation with MetaDrive</a:t>
            </a:r>
          </a:p>
        </p:txBody>
      </p:sp>
      <p:sp>
        <p:nvSpPr>
          <p:cNvPr id="5" name="Slide Number Placeholder 4"/>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3FF6DD-D805-4688-A89F-4B8F5EA34E5B}" type="datetime1">
              <a:rPr lang="en-US" smtClean="0"/>
              <a:t>1/5/2026</a:t>
            </a:fld>
            <a:endParaRPr lang="en-US"/>
          </a:p>
        </p:txBody>
      </p:sp>
      <p:sp>
        <p:nvSpPr>
          <p:cNvPr id="3" name="Footer Placeholder 2"/>
          <p:cNvSpPr>
            <a:spLocks noGrp="1"/>
          </p:cNvSpPr>
          <p:nvPr>
            <p:ph type="ftr" sz="quarter" idx="11"/>
          </p:nvPr>
        </p:nvSpPr>
        <p:spPr/>
        <p:txBody>
          <a:bodyPr/>
          <a:lstStyle/>
          <a:p>
            <a:r>
              <a:rPr lang="en-US"/>
              <a:t>Autonomous Multi-Agent V2V Simulation with MetaDrive</a:t>
            </a:r>
          </a:p>
        </p:txBody>
      </p:sp>
      <p:sp>
        <p:nvSpPr>
          <p:cNvPr id="4" name="Slide Number Placeholder 3"/>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39591B-EC26-41ED-BA5D-946CC6A362F7}" type="datetime1">
              <a:rPr lang="en-US" smtClean="0"/>
              <a:t>1/5/2026</a:t>
            </a:fld>
            <a:endParaRPr lang="en-US"/>
          </a:p>
        </p:txBody>
      </p:sp>
      <p:sp>
        <p:nvSpPr>
          <p:cNvPr id="6" name="Footer Placeholder 5"/>
          <p:cNvSpPr>
            <a:spLocks noGrp="1"/>
          </p:cNvSpPr>
          <p:nvPr>
            <p:ph type="ftr" sz="quarter" idx="11"/>
          </p:nvPr>
        </p:nvSpPr>
        <p:spPr/>
        <p:txBody>
          <a:bodyPr/>
          <a:lstStyle/>
          <a:p>
            <a:r>
              <a:rPr lang="en-US"/>
              <a:t>Autonomous Multi-Agent V2V Simulation with MetaDrive</a:t>
            </a:r>
          </a:p>
        </p:txBody>
      </p:sp>
      <p:sp>
        <p:nvSpPr>
          <p:cNvPr id="7" name="Slide Number Placeholder 6"/>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ED0C3E-95F1-4DDC-8B1B-F96D44536638}" type="datetime1">
              <a:rPr lang="en-US" smtClean="0"/>
              <a:t>1/5/2026</a:t>
            </a:fld>
            <a:endParaRPr lang="en-US"/>
          </a:p>
        </p:txBody>
      </p:sp>
      <p:sp>
        <p:nvSpPr>
          <p:cNvPr id="6" name="Footer Placeholder 5"/>
          <p:cNvSpPr>
            <a:spLocks noGrp="1"/>
          </p:cNvSpPr>
          <p:nvPr>
            <p:ph type="ftr" sz="quarter" idx="11"/>
          </p:nvPr>
        </p:nvSpPr>
        <p:spPr/>
        <p:txBody>
          <a:bodyPr/>
          <a:lstStyle/>
          <a:p>
            <a:r>
              <a:rPr lang="en-US"/>
              <a:t>Autonomous Multi-Agent V2V Simulation with MetaDrive</a:t>
            </a:r>
          </a:p>
        </p:txBody>
      </p:sp>
      <p:sp>
        <p:nvSpPr>
          <p:cNvPr id="7" name="Slide Number Placeholder 6"/>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87CF75-FEA5-4244-B06B-9ED1DF850ADD}" type="datetime1">
              <a:rPr lang="en-US" smtClean="0"/>
              <a:t>1/5/2026</a:t>
            </a:fld>
            <a:endParaRPr lang="en-US"/>
          </a:p>
        </p:txBody>
      </p:sp>
      <p:sp>
        <p:nvSpPr>
          <p:cNvPr id="5" name="Footer Placeholder 4"/>
          <p:cNvSpPr>
            <a:spLocks noGrp="1"/>
          </p:cNvSpPr>
          <p:nvPr>
            <p:ph type="ftr" sz="quarter" idx="11"/>
          </p:nvPr>
        </p:nvSpPr>
        <p:spPr/>
        <p:txBody>
          <a:bodyPr/>
          <a:lstStyle/>
          <a:p>
            <a:r>
              <a:rPr lang="en-US"/>
              <a:t>Autonomous Multi-Agent V2V Simulation with MetaDrive</a:t>
            </a:r>
          </a:p>
        </p:txBody>
      </p:sp>
      <p:sp>
        <p:nvSpPr>
          <p:cNvPr id="6" name="Slide Number Placeholder 5"/>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9FFE56-7904-40D1-A1B6-4FA10DEAAF03}" type="datetime1">
              <a:rPr lang="en-US" smtClean="0"/>
              <a:t>1/5/2026</a:t>
            </a:fld>
            <a:endParaRPr lang="en-US"/>
          </a:p>
        </p:txBody>
      </p:sp>
      <p:sp>
        <p:nvSpPr>
          <p:cNvPr id="5" name="Footer Placeholder 4"/>
          <p:cNvSpPr>
            <a:spLocks noGrp="1"/>
          </p:cNvSpPr>
          <p:nvPr>
            <p:ph type="ftr" sz="quarter" idx="11"/>
          </p:nvPr>
        </p:nvSpPr>
        <p:spPr/>
        <p:txBody>
          <a:bodyPr/>
          <a:lstStyle/>
          <a:p>
            <a:r>
              <a:rPr lang="en-US"/>
              <a:t>Autonomous Multi-Agent V2V Simulation with MetaDrive</a:t>
            </a:r>
          </a:p>
        </p:txBody>
      </p:sp>
      <p:sp>
        <p:nvSpPr>
          <p:cNvPr id="6" name="Slide Number Placeholder 5"/>
          <p:cNvSpPr>
            <a:spLocks noGrp="1"/>
          </p:cNvSpPr>
          <p:nvPr>
            <p:ph type="sldNum" sz="quarter" idx="12"/>
          </p:nvPr>
        </p:nvSpPr>
        <p:spPr/>
        <p:txBody>
          <a:bodyPr/>
          <a:lstStyle/>
          <a:p>
            <a:fld id="{FC6170F0-41F2-461F-AAB8-A7A369DA6AB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476FD1-86E3-4C03-9215-29F2E674C739}" type="datetime1">
              <a:rPr lang="en-US" smtClean="0"/>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Autonomous Multi-Agent V2V Simulation with MetaDrive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6170F0-41F2-461F-AAB8-A7A369DA6AB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1470025"/>
          </a:xfrm>
        </p:spPr>
        <p:txBody>
          <a:bodyPr>
            <a:normAutofit/>
          </a:bodyPr>
          <a:lstStyle/>
          <a:p>
            <a:pPr lvl="0"/>
            <a:r>
              <a:rPr lang="en-US" sz="1000" b="1" dirty="0">
                <a:solidFill>
                  <a:srgbClr val="FF0000"/>
                </a:solidFill>
                <a:latin typeface="Times New Roman" pitchFamily="18" charset="0"/>
                <a:cs typeface="Times New Roman" pitchFamily="18" charset="0"/>
              </a:rPr>
              <a:t>||Jai Sri </a:t>
            </a:r>
            <a:r>
              <a:rPr lang="en-US" sz="1000" b="1" dirty="0" err="1">
                <a:solidFill>
                  <a:srgbClr val="FF0000"/>
                </a:solidFill>
                <a:latin typeface="Times New Roman" pitchFamily="18" charset="0"/>
                <a:cs typeface="Times New Roman" pitchFamily="18" charset="0"/>
              </a:rPr>
              <a:t>Gurudev</a:t>
            </a:r>
            <a:r>
              <a:rPr lang="en-US" sz="1000" b="1" dirty="0">
                <a:solidFill>
                  <a:srgbClr val="FF0000"/>
                </a:solidFill>
                <a:latin typeface="Times New Roman" pitchFamily="18" charset="0"/>
                <a:cs typeface="Times New Roman" pitchFamily="18" charset="0"/>
              </a:rPr>
              <a:t> ||</a:t>
            </a:r>
            <a:br>
              <a:rPr lang="en-US" sz="1000" b="1" dirty="0">
                <a:latin typeface="Times New Roman" pitchFamily="18" charset="0"/>
                <a:cs typeface="Times New Roman" pitchFamily="18" charset="0"/>
              </a:rPr>
            </a:br>
            <a:r>
              <a:rPr lang="en-US" sz="1000" b="1" dirty="0" err="1">
                <a:solidFill>
                  <a:schemeClr val="tx1">
                    <a:lumMod val="85000"/>
                    <a:lumOff val="15000"/>
                  </a:schemeClr>
                </a:solidFill>
                <a:latin typeface="Times New Roman" pitchFamily="18" charset="0"/>
                <a:cs typeface="Times New Roman" pitchFamily="18" charset="0"/>
              </a:rPr>
              <a:t>Adichunchanagiri</a:t>
            </a:r>
            <a:r>
              <a:rPr lang="en-US" sz="1000" b="1" dirty="0">
                <a:solidFill>
                  <a:schemeClr val="tx1">
                    <a:lumMod val="85000"/>
                    <a:lumOff val="15000"/>
                  </a:schemeClr>
                </a:solidFill>
                <a:latin typeface="Times New Roman" pitchFamily="18" charset="0"/>
                <a:cs typeface="Times New Roman" pitchFamily="18" charset="0"/>
              </a:rPr>
              <a:t> </a:t>
            </a:r>
            <a:r>
              <a:rPr lang="en-US" sz="1000" b="1" dirty="0" err="1">
                <a:solidFill>
                  <a:schemeClr val="tx1">
                    <a:lumMod val="85000"/>
                    <a:lumOff val="15000"/>
                  </a:schemeClr>
                </a:solidFill>
                <a:latin typeface="Times New Roman" pitchFamily="18" charset="0"/>
                <a:cs typeface="Times New Roman" pitchFamily="18" charset="0"/>
              </a:rPr>
              <a:t>Shikshana</a:t>
            </a:r>
            <a:r>
              <a:rPr lang="en-US" sz="1000" b="1" dirty="0">
                <a:solidFill>
                  <a:schemeClr val="tx1">
                    <a:lumMod val="85000"/>
                    <a:lumOff val="15000"/>
                  </a:schemeClr>
                </a:solidFill>
                <a:latin typeface="Times New Roman" pitchFamily="18" charset="0"/>
                <a:cs typeface="Times New Roman" pitchFamily="18" charset="0"/>
              </a:rPr>
              <a:t> Trust</a:t>
            </a:r>
            <a:r>
              <a:rPr lang="en-US" sz="800" b="1" dirty="0">
                <a:solidFill>
                  <a:srgbClr val="FF0000"/>
                </a:solidFill>
                <a:latin typeface="Times New Roman" pitchFamily="18" charset="0"/>
                <a:cs typeface="Times New Roman" pitchFamily="18" charset="0"/>
              </a:rPr>
              <a:t>(R.)</a:t>
            </a:r>
            <a:br>
              <a:rPr lang="en-US" sz="1000" b="1" dirty="0">
                <a:latin typeface="Times New Roman" pitchFamily="18" charset="0"/>
                <a:cs typeface="Times New Roman" pitchFamily="18" charset="0"/>
              </a:rPr>
            </a:br>
            <a:r>
              <a:rPr lang="en-US" sz="2000" b="1" dirty="0">
                <a:solidFill>
                  <a:schemeClr val="accent6">
                    <a:lumMod val="75000"/>
                  </a:schemeClr>
                </a:solidFill>
                <a:latin typeface="Times New Roman" pitchFamily="18" charset="0"/>
                <a:cs typeface="Times New Roman" pitchFamily="18" charset="0"/>
              </a:rPr>
              <a:t>SJC INSTITUTE OF TECHNOLOGY</a:t>
            </a:r>
            <a:br>
              <a:rPr lang="en-US" sz="1000" b="1" dirty="0">
                <a:solidFill>
                  <a:schemeClr val="accent6">
                    <a:lumMod val="75000"/>
                  </a:schemeClr>
                </a:solidFill>
                <a:latin typeface="Times New Roman" pitchFamily="18" charset="0"/>
                <a:cs typeface="Times New Roman" pitchFamily="18" charset="0"/>
              </a:rPr>
            </a:br>
            <a:r>
              <a:rPr lang="en-US" sz="1000" b="1" dirty="0">
                <a:solidFill>
                  <a:schemeClr val="tx1">
                    <a:lumMod val="85000"/>
                    <a:lumOff val="15000"/>
                  </a:schemeClr>
                </a:solidFill>
                <a:latin typeface="Times New Roman" pitchFamily="18" charset="0"/>
                <a:cs typeface="Times New Roman" pitchFamily="18" charset="0"/>
              </a:rPr>
              <a:t>An Autonomous Institution under VTU from 2024-25</a:t>
            </a:r>
            <a:br>
              <a:rPr lang="en-US" sz="1000" b="1" dirty="0">
                <a:solidFill>
                  <a:schemeClr val="tx1">
                    <a:lumMod val="85000"/>
                    <a:lumOff val="15000"/>
                  </a:schemeClr>
                </a:solidFill>
                <a:latin typeface="Times New Roman" pitchFamily="18" charset="0"/>
                <a:cs typeface="Times New Roman" pitchFamily="18" charset="0"/>
              </a:rPr>
            </a:br>
            <a:r>
              <a:rPr lang="en-US" sz="1000" b="1" dirty="0">
                <a:solidFill>
                  <a:schemeClr val="tx1">
                    <a:lumMod val="85000"/>
                    <a:lumOff val="15000"/>
                  </a:schemeClr>
                </a:solidFill>
                <a:latin typeface="Times New Roman" pitchFamily="18" charset="0"/>
                <a:cs typeface="Times New Roman" pitchFamily="18" charset="0"/>
              </a:rPr>
              <a:t>AICTE Approved, Accredited by NBA(CSE,ISE,ECE,ME,CV,AE) NAAC with A+ grade, QS I-Gauge Gold rated </a:t>
            </a:r>
            <a:br>
              <a:rPr lang="en-US" sz="1000" b="1" dirty="0">
                <a:solidFill>
                  <a:schemeClr val="tx1">
                    <a:lumMod val="85000"/>
                    <a:lumOff val="15000"/>
                  </a:schemeClr>
                </a:solidFill>
                <a:latin typeface="Times New Roman" pitchFamily="18" charset="0"/>
                <a:cs typeface="Times New Roman" pitchFamily="18" charset="0"/>
              </a:rPr>
            </a:br>
            <a:r>
              <a:rPr lang="en-US" sz="1000" b="1" dirty="0">
                <a:solidFill>
                  <a:schemeClr val="tx1">
                    <a:lumMod val="85000"/>
                    <a:lumOff val="15000"/>
                  </a:schemeClr>
                </a:solidFill>
                <a:latin typeface="Times New Roman" pitchFamily="18" charset="0"/>
                <a:cs typeface="Times New Roman" pitchFamily="18" charset="0"/>
              </a:rPr>
              <a:t>P.B. No. 20, B.B. Road,</a:t>
            </a:r>
            <a:br>
              <a:rPr lang="en-US" sz="1000" b="1" dirty="0">
                <a:solidFill>
                  <a:schemeClr val="tx1">
                    <a:lumMod val="85000"/>
                    <a:lumOff val="15000"/>
                  </a:schemeClr>
                </a:solidFill>
                <a:latin typeface="Times New Roman" pitchFamily="18" charset="0"/>
                <a:cs typeface="Times New Roman" pitchFamily="18" charset="0"/>
              </a:rPr>
            </a:br>
            <a:r>
              <a:rPr lang="en-US" sz="1000" b="1" dirty="0" err="1">
                <a:solidFill>
                  <a:schemeClr val="tx1">
                    <a:lumMod val="85000"/>
                    <a:lumOff val="15000"/>
                  </a:schemeClr>
                </a:solidFill>
                <a:latin typeface="Times New Roman" pitchFamily="18" charset="0"/>
                <a:cs typeface="Times New Roman" pitchFamily="18" charset="0"/>
              </a:rPr>
              <a:t>Chikkaballapur</a:t>
            </a:r>
            <a:r>
              <a:rPr lang="en-US" sz="1000" b="1" dirty="0">
                <a:solidFill>
                  <a:schemeClr val="tx1">
                    <a:lumMod val="85000"/>
                    <a:lumOff val="15000"/>
                  </a:schemeClr>
                </a:solidFill>
                <a:latin typeface="Times New Roman" pitchFamily="18" charset="0"/>
                <a:cs typeface="Times New Roman" pitchFamily="18" charset="0"/>
              </a:rPr>
              <a:t>- 562101, Karnataka.</a:t>
            </a:r>
            <a:br>
              <a:rPr lang="en-US" sz="1000" b="1" dirty="0">
                <a:latin typeface="Times New Roman" pitchFamily="18" charset="0"/>
                <a:cs typeface="Times New Roman" pitchFamily="18" charset="0"/>
              </a:rPr>
            </a:br>
            <a:endParaRPr lang="en-US" sz="1000" dirty="0"/>
          </a:p>
        </p:txBody>
      </p:sp>
      <p:sp>
        <p:nvSpPr>
          <p:cNvPr id="3" name="Subtitle 2"/>
          <p:cNvSpPr>
            <a:spLocks noGrp="1"/>
          </p:cNvSpPr>
          <p:nvPr>
            <p:ph type="subTitle" idx="1"/>
          </p:nvPr>
        </p:nvSpPr>
        <p:spPr>
          <a:xfrm>
            <a:off x="0" y="1500174"/>
            <a:ext cx="9144000" cy="4643470"/>
          </a:xfrm>
        </p:spPr>
        <p:txBody>
          <a:bodyPr>
            <a:normAutofit lnSpcReduction="10000"/>
          </a:bodyPr>
          <a:lstStyle/>
          <a:p>
            <a:pPr defTabSz="914377">
              <a:defRPr/>
            </a:pPr>
            <a:endParaRPr lang="en-US" sz="35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defTabSz="914377">
              <a:defRPr/>
            </a:pPr>
            <a:r>
              <a:rPr lang="en-US" sz="3500" b="1" dirty="0">
                <a:solidFill>
                  <a:schemeClr val="tx1">
                    <a:lumMod val="65000"/>
                    <a:lumOff val="35000"/>
                  </a:schemeClr>
                </a:solidFill>
                <a:latin typeface="Times New Roman" panose="02020603050405020304" pitchFamily="18" charset="0"/>
                <a:cs typeface="Times New Roman" panose="02020603050405020304" pitchFamily="18" charset="0"/>
              </a:rPr>
              <a:t>Major Project Phase 2- BCI786</a:t>
            </a:r>
            <a:endParaRPr lang="en-US" b="1" dirty="0">
              <a:solidFill>
                <a:srgbClr val="3333CC"/>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defTabSz="914377">
              <a:defRPr/>
            </a:pPr>
            <a:r>
              <a:rPr lang="en-US" b="1" dirty="0">
                <a:solidFill>
                  <a:srgbClr val="3333CC"/>
                </a:solidFill>
                <a:latin typeface="Times New Roman" panose="02020603050405020304"/>
                <a:ea typeface="Times New Roman" panose="02020603050405020304"/>
                <a:cs typeface="Times New Roman" panose="02020603050405020304"/>
                <a:sym typeface="Times New Roman" panose="02020603050405020304"/>
              </a:rPr>
              <a:t>“Autonomous Multi-Agent V2V Simulation with </a:t>
            </a:r>
            <a:r>
              <a:rPr lang="en-US" b="1" dirty="0" err="1">
                <a:solidFill>
                  <a:srgbClr val="3333CC"/>
                </a:solidFill>
                <a:latin typeface="Times New Roman" panose="02020603050405020304"/>
                <a:ea typeface="Times New Roman" panose="02020603050405020304"/>
                <a:cs typeface="Times New Roman" panose="02020603050405020304"/>
                <a:sym typeface="Times New Roman" panose="02020603050405020304"/>
              </a:rPr>
              <a:t>MetaDrive</a:t>
            </a:r>
            <a:r>
              <a:rPr lang="en-US" b="1" dirty="0">
                <a:solidFill>
                  <a:srgbClr val="3333CC"/>
                </a:solidFill>
                <a:latin typeface="Times New Roman" panose="02020603050405020304"/>
                <a:ea typeface="Times New Roman" panose="02020603050405020304"/>
                <a:cs typeface="Times New Roman" panose="02020603050405020304"/>
                <a:sym typeface="Times New Roman" panose="02020603050405020304"/>
              </a:rPr>
              <a:t>”</a:t>
            </a:r>
            <a:endParaRPr lang="en-US" sz="2000" dirty="0">
              <a:solidFill>
                <a:schemeClr val="dk1"/>
              </a:solidFill>
              <a:ea typeface="Calibri" panose="020F0502020204030204"/>
              <a:cs typeface="Calibri" panose="020F0502020204030204"/>
              <a:sym typeface="Calibri" panose="020F0502020204030204"/>
            </a:endParaRPr>
          </a:p>
          <a:p>
            <a:pPr defTabSz="914377">
              <a:defRPr/>
            </a:pPr>
            <a:r>
              <a:rPr lang="en-US" sz="2200" dirty="0">
                <a:latin typeface="Times New Roman" panose="02020603050405020304" pitchFamily="18" charset="0"/>
                <a:cs typeface="Times New Roman" panose="02020603050405020304" pitchFamily="18" charset="0"/>
              </a:rPr>
              <a:t>     </a:t>
            </a:r>
          </a:p>
          <a:p>
            <a:pPr lvl="0" algn="l">
              <a:lnSpc>
                <a:spcPct val="160000"/>
              </a:lnSpc>
              <a:spcBef>
                <a:spcPts val="0"/>
              </a:spcBef>
              <a:buClr>
                <a:schemeClr val="accent2"/>
              </a:buClr>
              <a:buSzPts val="1800"/>
            </a:pPr>
            <a:r>
              <a:rPr lang="en-US" sz="2200" b="1" i="0" u="none" strike="noStrike" cap="none" dirty="0">
                <a:solidFill>
                  <a:schemeClr val="accent2"/>
                </a:solidFill>
                <a:latin typeface="Times New Roman" pitchFamily="18" charset="0"/>
                <a:ea typeface="Times New Roman" panose="02020603050405020304"/>
                <a:cs typeface="Times New Roman" pitchFamily="18" charset="0"/>
                <a:sym typeface="Times New Roman" panose="02020603050405020304"/>
              </a:rPr>
              <a:t>Presented by:</a:t>
            </a:r>
            <a:endParaRPr lang="en-US" sz="2200" b="1" i="0" u="none" strike="noStrike" cap="none" dirty="0">
              <a:solidFill>
                <a:schemeClr val="dk1"/>
              </a:solidFill>
              <a:latin typeface="Times New Roman" pitchFamily="18" charset="0"/>
              <a:ea typeface="Calibri" panose="020F0502020204030204"/>
              <a:cs typeface="Times New Roman" pitchFamily="18" charset="0"/>
              <a:sym typeface="Calibri" panose="020F0502020204030204"/>
            </a:endParaRPr>
          </a:p>
          <a:p>
            <a:pPr lvl="0" algn="l">
              <a:lnSpc>
                <a:spcPct val="160000"/>
              </a:lnSpc>
              <a:spcBef>
                <a:spcPts val="0"/>
              </a:spcBef>
              <a:buClr>
                <a:schemeClr val="accent2"/>
              </a:buClr>
              <a:buSzPts val="1800"/>
            </a:pPr>
            <a:r>
              <a:rPr lang="en-US" sz="1800" b="1" dirty="0">
                <a:solidFill>
                  <a:schemeClr val="accent2"/>
                </a:solidFill>
                <a:latin typeface="Times New Roman" pitchFamily="18" charset="0"/>
                <a:ea typeface="Times New Roman" panose="02020603050405020304"/>
                <a:cs typeface="Times New Roman" pitchFamily="18" charset="0"/>
                <a:sym typeface="Times New Roman" panose="02020603050405020304"/>
              </a:rPr>
              <a:t>PRIYANSHU KUMAR	</a:t>
            </a:r>
            <a:r>
              <a:rPr lang="en-US" sz="1800" b="1">
                <a:solidFill>
                  <a:schemeClr val="accent2"/>
                </a:solidFill>
                <a:latin typeface="Times New Roman" pitchFamily="18" charset="0"/>
                <a:ea typeface="Times New Roman" panose="02020603050405020304"/>
                <a:cs typeface="Times New Roman" pitchFamily="18" charset="0"/>
                <a:sym typeface="Times New Roman" panose="02020603050405020304"/>
              </a:rPr>
              <a:t>	1SJ22CI0XX</a:t>
            </a:r>
            <a:r>
              <a:rPr lang="en-US" sz="1800" b="1" dirty="0">
                <a:solidFill>
                  <a:schemeClr val="accent2"/>
                </a:solidFill>
                <a:latin typeface="Times New Roman" pitchFamily="18" charset="0"/>
                <a:ea typeface="Times New Roman" panose="02020603050405020304"/>
                <a:cs typeface="Times New Roman" pitchFamily="18" charset="0"/>
                <a:sym typeface="Times New Roman" panose="02020603050405020304"/>
              </a:rPr>
              <a:t>	</a:t>
            </a:r>
            <a:endParaRPr lang="en-US" sz="1800" b="1" dirty="0">
              <a:solidFill>
                <a:schemeClr val="dk1"/>
              </a:solidFill>
              <a:latin typeface="Times New Roman" pitchFamily="18" charset="0"/>
              <a:ea typeface="Calibri" panose="020F0502020204030204"/>
              <a:cs typeface="Times New Roman" pitchFamily="18" charset="0"/>
              <a:sym typeface="Calibri" panose="020F0502020204030204"/>
            </a:endParaRPr>
          </a:p>
          <a:p>
            <a:pPr lvl="0" algn="l">
              <a:lnSpc>
                <a:spcPct val="120000"/>
              </a:lnSpc>
              <a:spcBef>
                <a:spcPts val="0"/>
              </a:spcBef>
              <a:buClr>
                <a:schemeClr val="accent2"/>
              </a:buClr>
              <a:buSzPts val="1800"/>
            </a:pPr>
            <a:r>
              <a:rPr lang="en-US" sz="1800" b="1" dirty="0">
                <a:solidFill>
                  <a:schemeClr val="accent2"/>
                </a:solidFill>
                <a:latin typeface="Times New Roman" pitchFamily="18" charset="0"/>
                <a:ea typeface="Times New Roman" panose="02020603050405020304"/>
                <a:cs typeface="Times New Roman" pitchFamily="18" charset="0"/>
                <a:sym typeface="Times New Roman" panose="02020603050405020304"/>
              </a:rPr>
              <a:t>PUSHPAK CHAKRABORTY	1SJ22CI0XX   </a:t>
            </a:r>
            <a:endParaRPr lang="en-US" sz="1800" b="1" dirty="0">
              <a:solidFill>
                <a:schemeClr val="dk1"/>
              </a:solidFill>
              <a:latin typeface="Times New Roman" pitchFamily="18" charset="0"/>
              <a:ea typeface="Calibri" panose="020F0502020204030204"/>
              <a:cs typeface="Times New Roman" pitchFamily="18" charset="0"/>
              <a:sym typeface="Calibri" panose="020F0502020204030204"/>
            </a:endParaRPr>
          </a:p>
          <a:p>
            <a:pPr lvl="0" algn="l">
              <a:lnSpc>
                <a:spcPct val="120000"/>
              </a:lnSpc>
              <a:spcBef>
                <a:spcPts val="0"/>
              </a:spcBef>
              <a:buClr>
                <a:schemeClr val="accent2"/>
              </a:buClr>
              <a:buSzPts val="1800"/>
            </a:pPr>
            <a:r>
              <a:rPr lang="en-US" sz="1800" b="1" dirty="0">
                <a:solidFill>
                  <a:schemeClr val="accent2"/>
                </a:solidFill>
                <a:latin typeface="Times New Roman" pitchFamily="18" charset="0"/>
                <a:ea typeface="Times New Roman" panose="02020603050405020304"/>
                <a:cs typeface="Times New Roman" pitchFamily="18" charset="0"/>
                <a:sym typeface="Times New Roman" panose="02020603050405020304"/>
              </a:rPr>
              <a:t>RAJATH K M               		1SJ22CI0XX</a:t>
            </a:r>
            <a:endParaRPr lang="en-US" sz="1800" b="1" dirty="0">
              <a:solidFill>
                <a:schemeClr val="dk1"/>
              </a:solidFill>
              <a:latin typeface="Times New Roman" pitchFamily="18" charset="0"/>
              <a:ea typeface="Calibri" panose="020F0502020204030204"/>
              <a:cs typeface="Times New Roman" pitchFamily="18" charset="0"/>
              <a:sym typeface="Calibri" panose="020F0502020204030204"/>
            </a:endParaRPr>
          </a:p>
          <a:p>
            <a:pPr lvl="0" algn="l">
              <a:lnSpc>
                <a:spcPct val="120000"/>
              </a:lnSpc>
              <a:spcBef>
                <a:spcPts val="0"/>
              </a:spcBef>
              <a:buClr>
                <a:schemeClr val="accent2"/>
              </a:buClr>
              <a:buSzPts val="1800"/>
            </a:pPr>
            <a:r>
              <a:rPr lang="en-US" sz="1800" b="1" dirty="0">
                <a:solidFill>
                  <a:schemeClr val="accent2"/>
                </a:solidFill>
                <a:latin typeface="Times New Roman" pitchFamily="18" charset="0"/>
                <a:ea typeface="Times New Roman" panose="02020603050405020304"/>
                <a:cs typeface="Times New Roman" pitchFamily="18" charset="0"/>
                <a:sym typeface="Times New Roman" panose="02020603050405020304"/>
              </a:rPr>
              <a:t>TRUPTI GARWAD		1SJ22CI0XX</a:t>
            </a:r>
            <a:endParaRPr lang="en-US" sz="1800" dirty="0">
              <a:solidFill>
                <a:schemeClr val="dk1"/>
              </a:solidFill>
              <a:latin typeface="Times New Roman" pitchFamily="18" charset="0"/>
              <a:ea typeface="Calibri" panose="020F0502020204030204"/>
              <a:cs typeface="Times New Roman" pitchFamily="18" charset="0"/>
              <a:sym typeface="Calibri" panose="020F0502020204030204"/>
            </a:endParaRPr>
          </a:p>
          <a:p>
            <a:pPr lvl="0" algn="l">
              <a:lnSpc>
                <a:spcPct val="70000"/>
              </a:lnSpc>
              <a:spcBef>
                <a:spcPts val="0"/>
              </a:spcBef>
              <a:buClr>
                <a:srgbClr val="953590"/>
              </a:buClr>
              <a:buSzPts val="1800"/>
            </a:pPr>
            <a:r>
              <a:rPr lang="en-US" sz="1800" b="1" i="0" u="none" strike="noStrike" cap="none" dirty="0">
                <a:solidFill>
                  <a:srgbClr val="953590"/>
                </a:solidFill>
                <a:latin typeface="Times New Roman" panose="02020603050405020304"/>
                <a:ea typeface="Times New Roman" panose="02020603050405020304"/>
                <a:cs typeface="Times New Roman" panose="02020603050405020304"/>
                <a:sym typeface="Times New Roman" panose="02020603050405020304"/>
              </a:rPr>
              <a:t>							</a:t>
            </a:r>
            <a:endParaRPr lang="en-US" dirty="0"/>
          </a:p>
        </p:txBody>
      </p:sp>
      <p:pic>
        <p:nvPicPr>
          <p:cNvPr id="1027" name="Picture 3" descr="C:\Users\welco_koih58\OneDrive\Desktop\download.jpg"/>
          <p:cNvPicPr>
            <a:picLocks noChangeAspect="1" noChangeArrowheads="1"/>
          </p:cNvPicPr>
          <p:nvPr/>
        </p:nvPicPr>
        <p:blipFill>
          <a:blip r:embed="rId3"/>
          <a:srcRect/>
          <a:stretch>
            <a:fillRect/>
          </a:stretch>
        </p:blipFill>
        <p:spPr bwMode="auto">
          <a:xfrm>
            <a:off x="142844" y="214290"/>
            <a:ext cx="1285884" cy="1071570"/>
          </a:xfrm>
          <a:prstGeom prst="rect">
            <a:avLst/>
          </a:prstGeom>
          <a:noFill/>
        </p:spPr>
      </p:pic>
      <p:cxnSp>
        <p:nvCxnSpPr>
          <p:cNvPr id="13" name="Straight Connector 12"/>
          <p:cNvCxnSpPr/>
          <p:nvPr/>
        </p:nvCxnSpPr>
        <p:spPr>
          <a:xfrm>
            <a:off x="0" y="150017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p:nvPr/>
        </p:nvCxnSpPr>
        <p:spPr>
          <a:xfrm>
            <a:off x="0" y="614364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6215075" y="3507360"/>
            <a:ext cx="2928926" cy="2862322"/>
          </a:xfrm>
          <a:prstGeom prst="rect">
            <a:avLst/>
          </a:prstGeom>
          <a:noFill/>
        </p:spPr>
        <p:txBody>
          <a:bodyPr wrap="square" rtlCol="0">
            <a:spAutoFit/>
          </a:bodyPr>
          <a:lstStyle/>
          <a:p>
            <a:pPr lvl="0">
              <a:buClr>
                <a:srgbClr val="953590"/>
              </a:buClr>
              <a:buSzPts val="1800"/>
            </a:pPr>
            <a:endPar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endParaRPr>
          </a:p>
          <a:p>
            <a:pPr lvl="0">
              <a:buClr>
                <a:srgbClr val="953590"/>
              </a:buClr>
              <a:buSzPts val="1800"/>
            </a:pPr>
            <a:endPar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endParaRPr>
          </a:p>
          <a:p>
            <a:pPr lvl="0">
              <a:buClr>
                <a:srgbClr val="953590"/>
              </a:buClr>
              <a:buSzPts val="1800"/>
            </a:pPr>
            <a:endPar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endParaRPr>
          </a:p>
          <a:p>
            <a:pPr lvl="0">
              <a:buClr>
                <a:srgbClr val="953590"/>
              </a:buClr>
              <a:buSzPts val="1800"/>
            </a:pPr>
            <a:endPar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50000"/>
              </a:lnSpc>
              <a:buClr>
                <a:srgbClr val="953590"/>
              </a:buClr>
              <a:buSzPts val="1800"/>
            </a:pPr>
            <a:r>
              <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rPr>
              <a:t>Under the guidance of :</a:t>
            </a:r>
            <a:endParaRPr lang="en-US" b="1" dirty="0">
              <a:solidFill>
                <a:schemeClr val="dk1"/>
              </a:solidFill>
              <a:latin typeface="Times New Roman" panose="02020603050405020304"/>
              <a:ea typeface="Calibri" panose="020F0502020204030204"/>
              <a:cs typeface="Calibri" panose="020F0502020204030204"/>
              <a:sym typeface="Calibri" panose="020F0502020204030204"/>
            </a:endParaRPr>
          </a:p>
          <a:p>
            <a:pPr lvl="0">
              <a:lnSpc>
                <a:spcPct val="150000"/>
              </a:lnSpc>
              <a:buClr>
                <a:srgbClr val="953590"/>
              </a:buClr>
              <a:buSzPts val="1800"/>
            </a:pPr>
            <a:r>
              <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rPr>
              <a:t>Asst. Prof Muniraju M </a:t>
            </a:r>
            <a:endParaRPr lang="en-US" b="1" dirty="0">
              <a:solidFill>
                <a:schemeClr val="dk1"/>
              </a:solidFill>
              <a:latin typeface="Times New Roman" panose="02020603050405020304"/>
              <a:ea typeface="Calibri" panose="020F0502020204030204"/>
              <a:cs typeface="Calibri" panose="020F0502020204030204"/>
              <a:sym typeface="Calibri" panose="020F0502020204030204"/>
            </a:endParaRPr>
          </a:p>
          <a:p>
            <a:pPr lvl="0">
              <a:buClr>
                <a:srgbClr val="953590"/>
              </a:buClr>
              <a:buSzPts val="1800"/>
            </a:pPr>
            <a:r>
              <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rPr>
              <a:t>Dept. of AI &amp; ML, SJCIT</a:t>
            </a:r>
            <a:endParaRPr lang="en-US" b="1" dirty="0">
              <a:solidFill>
                <a:schemeClr val="dk1"/>
              </a:solidFill>
              <a:latin typeface="Times New Roman" panose="02020603050405020304"/>
              <a:ea typeface="Calibri" panose="020F0502020204030204"/>
              <a:cs typeface="Calibri" panose="020F0502020204030204"/>
              <a:sym typeface="Calibri" panose="020F0502020204030204"/>
            </a:endParaRPr>
          </a:p>
          <a:p>
            <a:pPr lvl="0">
              <a:buClr>
                <a:srgbClr val="953590"/>
              </a:buClr>
              <a:buSzPts val="1800"/>
            </a:pPr>
            <a:endParaRPr lang="en-US" b="1" dirty="0">
              <a:solidFill>
                <a:srgbClr val="953590"/>
              </a:solidFill>
              <a:latin typeface="Times New Roman" panose="02020603050405020304"/>
              <a:ea typeface="Times New Roman" panose="02020603050405020304"/>
              <a:cs typeface="Times New Roman" panose="02020603050405020304"/>
              <a:sym typeface="Times New Roman" panose="02020603050405020304"/>
            </a:endParaRPr>
          </a:p>
          <a:p>
            <a:endParaRPr lang="en-US" dirty="0"/>
          </a:p>
        </p:txBody>
      </p:sp>
      <p:pic>
        <p:nvPicPr>
          <p:cNvPr id="1028" name="Picture 2" descr="Home - Information Science and Engineering"/>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7929586" y="285728"/>
            <a:ext cx="1071570" cy="1000132"/>
          </a:xfrm>
          <a:prstGeom prst="rect">
            <a:avLst/>
          </a:prstGeom>
          <a:noFill/>
          <a:ln w="9525">
            <a:noFill/>
            <a:miter lim="800000"/>
            <a:headEnd/>
            <a:tailEnd/>
          </a:ln>
        </p:spPr>
      </p:pic>
      <p:pic>
        <p:nvPicPr>
          <p:cNvPr id="1029" name="Picture 1" descr="C:\Users\welco_koih58\Downloads\WhatsApp Image 2024-11-12 at 9.06.30 AM.jpeg"/>
          <p:cNvPicPr>
            <a:picLocks noChangeAspect="1" noChangeArrowheads="1"/>
          </p:cNvPicPr>
          <p:nvPr/>
        </p:nvPicPr>
        <p:blipFill>
          <a:blip r:embed="rId5" cstate="print"/>
          <a:srcRect/>
          <a:stretch>
            <a:fillRect/>
          </a:stretch>
        </p:blipFill>
        <p:spPr bwMode="auto">
          <a:xfrm>
            <a:off x="7965289" y="1780321"/>
            <a:ext cx="1071538" cy="1000132"/>
          </a:xfrm>
          <a:prstGeom prst="rect">
            <a:avLst/>
          </a:prstGeom>
          <a:noFill/>
          <a:ln w="9525">
            <a:noFill/>
            <a:miter lim="800000"/>
            <a:headEnd/>
            <a:tailEnd/>
          </a:ln>
        </p:spPr>
      </p:pic>
      <p:sp>
        <p:nvSpPr>
          <p:cNvPr id="26" name="TextBox 25"/>
          <p:cNvSpPr txBox="1"/>
          <p:nvPr/>
        </p:nvSpPr>
        <p:spPr>
          <a:xfrm>
            <a:off x="357158" y="1571612"/>
            <a:ext cx="8786842" cy="369332"/>
          </a:xfrm>
          <a:prstGeom prst="rect">
            <a:avLst/>
          </a:prstGeom>
          <a:noFill/>
        </p:spPr>
        <p:txBody>
          <a:bodyPr wrap="square" rtlCol="0">
            <a:spAutoFit/>
          </a:bodyPr>
          <a:lstStyle/>
          <a:p>
            <a:pPr algn="ctr"/>
            <a:r>
              <a:rPr lang="en-US" altLang="en-US" b="1" dirty="0">
                <a:solidFill>
                  <a:schemeClr val="accent5">
                    <a:lumMod val="75000"/>
                  </a:schemeClr>
                </a:solidFill>
                <a:latin typeface="Times New Roman" panose="02020603050405020304" pitchFamily="18" charset="0"/>
                <a:cs typeface="Times New Roman" panose="02020603050405020304" pitchFamily="18" charset="0"/>
              </a:rPr>
              <a:t>DEPARTMENT OF ARTIFICIAL INTELLIGENCE &amp; MACHINE LEARNING</a:t>
            </a:r>
            <a:endParaRPr lang="en-US" b="1" dirty="0">
              <a:solidFill>
                <a:schemeClr val="accent5">
                  <a:lumMod val="75000"/>
                </a:schemeClr>
              </a:solidFill>
            </a:endParaRPr>
          </a:p>
        </p:txBody>
      </p:sp>
      <p:sp>
        <p:nvSpPr>
          <p:cNvPr id="7" name="Footer Placeholder 6">
            <a:extLst>
              <a:ext uri="{FF2B5EF4-FFF2-40B4-BE49-F238E27FC236}">
                <a16:creationId xmlns:a16="http://schemas.microsoft.com/office/drawing/2014/main" id="{6FE3C47E-E0D5-5261-9646-C6D8F93ECF9D}"/>
              </a:ext>
            </a:extLst>
          </p:cNvPr>
          <p:cNvSpPr>
            <a:spLocks noGrp="1"/>
          </p:cNvSpPr>
          <p:nvPr>
            <p:ph type="ftr" sz="quarter" idx="11"/>
          </p:nvPr>
        </p:nvSpPr>
        <p:spPr/>
        <p:txBody>
          <a:bodyPr/>
          <a:lstStyle/>
          <a:p>
            <a:r>
              <a:rPr lang="en-US"/>
              <a:t>Autonomous Multi-Agent V2V Simulation with MetaDrive</a:t>
            </a:r>
          </a:p>
        </p:txBody>
      </p:sp>
      <p:sp>
        <p:nvSpPr>
          <p:cNvPr id="8" name="Slide Number Placeholder 7">
            <a:extLst>
              <a:ext uri="{FF2B5EF4-FFF2-40B4-BE49-F238E27FC236}">
                <a16:creationId xmlns:a16="http://schemas.microsoft.com/office/drawing/2014/main" id="{CEBD2131-BF80-1AD5-7618-2D59874F20C5}"/>
              </a:ext>
            </a:extLst>
          </p:cNvPr>
          <p:cNvSpPr>
            <a:spLocks noGrp="1"/>
          </p:cNvSpPr>
          <p:nvPr>
            <p:ph type="sldNum" sz="quarter" idx="12"/>
          </p:nvPr>
        </p:nvSpPr>
        <p:spPr/>
        <p:txBody>
          <a:bodyPr/>
          <a:lstStyle/>
          <a:p>
            <a:fld id="{FC6170F0-41F2-461F-AAB8-A7A369DA6ABC}"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1470025"/>
          </a:xfrm>
        </p:spPr>
        <p:txBody>
          <a:bodyPr>
            <a:normAutofit/>
          </a:bodyPr>
          <a:lstStyle/>
          <a:p>
            <a:pPr lvl="0"/>
            <a:r>
              <a:rPr lang="en-US" sz="1000" b="1" dirty="0">
                <a:solidFill>
                  <a:schemeClr val="tx1">
                    <a:lumMod val="85000"/>
                    <a:lumOff val="15000"/>
                  </a:schemeClr>
                </a:solidFill>
                <a:latin typeface="Times New Roman" pitchFamily="18" charset="0"/>
                <a:cs typeface="Times New Roman" pitchFamily="18" charset="0"/>
              </a:rPr>
              <a:t>.</a:t>
            </a:r>
            <a:br>
              <a:rPr lang="en-US" sz="1000" b="1" dirty="0">
                <a:latin typeface="Times New Roman" pitchFamily="18" charset="0"/>
                <a:cs typeface="Times New Roman" pitchFamily="18" charset="0"/>
              </a:rPr>
            </a:br>
            <a:endParaRPr lang="en-US" sz="1000" dirty="0"/>
          </a:p>
        </p:txBody>
      </p:sp>
      <p:sp>
        <p:nvSpPr>
          <p:cNvPr id="3" name="Subtitle 2"/>
          <p:cNvSpPr>
            <a:spLocks noGrp="1"/>
          </p:cNvSpPr>
          <p:nvPr>
            <p:ph type="subTitle" idx="1"/>
          </p:nvPr>
        </p:nvSpPr>
        <p:spPr>
          <a:xfrm>
            <a:off x="467544" y="1285860"/>
            <a:ext cx="8219256" cy="4643470"/>
          </a:xfrm>
        </p:spPr>
        <p:txBody>
          <a:bodyPr>
            <a:normAutofit fontScale="92500" lnSpcReduction="10000"/>
          </a:bodyPr>
          <a:lstStyle/>
          <a:p>
            <a:pPr lvl="0" indent="-165100" algn="just">
              <a:lnSpc>
                <a:spcPct val="150000"/>
              </a:lnSpc>
              <a:spcBef>
                <a:spcPts val="0"/>
              </a:spcBef>
              <a:buClr>
                <a:schemeClr val="dk1"/>
              </a:buClr>
              <a:buSzPts val="2600"/>
            </a:pPr>
            <a:r>
              <a:rPr lang="en-US" sz="2000" dirty="0">
                <a:solidFill>
                  <a:schemeClr val="tx1"/>
                </a:solidFill>
                <a:latin typeface="Times New Roman" panose="02020603050405020304" pitchFamily="18" charset="0"/>
                <a:cs typeface="Times New Roman" panose="02020603050405020304" pitchFamily="18" charset="0"/>
              </a:rPr>
              <a:t>Autonomous vehicles must operate safely in dynamic and unpredictable road environments, which requires not only accurate perception but also cooperative behavior between vehicles. Traditional autonomous systems make decisions independently, causing limited awareness of nearby agents and increasing the likelihood of collisions. This project presents an autonomous multi-agent driving simulation with integrated Vehicle-to-Vehicle (V2V) communication using the </a:t>
            </a:r>
            <a:r>
              <a:rPr lang="en-US" sz="2000" dirty="0" err="1">
                <a:solidFill>
                  <a:schemeClr val="tx1"/>
                </a:solidFill>
                <a:latin typeface="Times New Roman" panose="02020603050405020304" pitchFamily="18" charset="0"/>
                <a:cs typeface="Times New Roman" panose="02020603050405020304" pitchFamily="18" charset="0"/>
              </a:rPr>
              <a:t>MetaDrive</a:t>
            </a:r>
            <a:r>
              <a:rPr lang="en-US" sz="2000" dirty="0">
                <a:solidFill>
                  <a:schemeClr val="tx1"/>
                </a:solidFill>
                <a:latin typeface="Times New Roman" panose="02020603050405020304" pitchFamily="18" charset="0"/>
                <a:cs typeface="Times New Roman" panose="02020603050405020304" pitchFamily="18" charset="0"/>
              </a:rPr>
              <a:t> simulator. The system allows multiple autonomous vehicles to share their position, velocity, heading, and obstacle information in real time through a secure, encrypted communication channel. By combining sensor data with shared V2V messages, vehicles improve their situational awareness, respond more intelligently to dynamic events, and significantly enhance overall driving safety.</a:t>
            </a:r>
          </a:p>
        </p:txBody>
      </p:sp>
      <p:pic>
        <p:nvPicPr>
          <p:cNvPr id="1027" name="Picture 3" descr="C:\Users\welco_koih58\OneDrive\Desktop\download.jpg"/>
          <p:cNvPicPr>
            <a:picLocks noChangeAspect="1" noChangeArrowheads="1"/>
          </p:cNvPicPr>
          <p:nvPr/>
        </p:nvPicPr>
        <p:blipFill>
          <a:blip r:embed="rId3"/>
          <a:srcRect/>
          <a:stretch>
            <a:fillRect/>
          </a:stretch>
        </p:blipFill>
        <p:spPr bwMode="auto">
          <a:xfrm>
            <a:off x="0" y="0"/>
            <a:ext cx="1285884" cy="1071570"/>
          </a:xfrm>
          <a:prstGeom prst="rect">
            <a:avLst/>
          </a:prstGeom>
          <a:noFill/>
        </p:spPr>
      </p:pic>
      <p:cxnSp>
        <p:nvCxnSpPr>
          <p:cNvPr id="13" name="Straight Connector 12"/>
          <p:cNvCxnSpPr/>
          <p:nvPr/>
        </p:nvCxnSpPr>
        <p:spPr>
          <a:xfrm>
            <a:off x="0" y="114298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p:nvPr/>
        </p:nvCxnSpPr>
        <p:spPr>
          <a:xfrm>
            <a:off x="0" y="6357958"/>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pic>
        <p:nvPicPr>
          <p:cNvPr id="1028" name="Picture 2" descr="Home - Information Science and Engineering"/>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sp>
        <p:nvSpPr>
          <p:cNvPr id="4" name="TextBox 3">
            <a:extLst>
              <a:ext uri="{FF2B5EF4-FFF2-40B4-BE49-F238E27FC236}">
                <a16:creationId xmlns:a16="http://schemas.microsoft.com/office/drawing/2014/main" id="{C1792214-4B7B-8D59-93EF-8FA252EF7894}"/>
              </a:ext>
            </a:extLst>
          </p:cNvPr>
          <p:cNvSpPr txBox="1"/>
          <p:nvPr/>
        </p:nvSpPr>
        <p:spPr>
          <a:xfrm>
            <a:off x="2033228" y="478255"/>
            <a:ext cx="5077544" cy="1077218"/>
          </a:xfrm>
          <a:prstGeom prst="rect">
            <a:avLst/>
          </a:prstGeom>
          <a:noFill/>
        </p:spPr>
        <p:txBody>
          <a:bodyPr wrap="square" rtlCol="0">
            <a:spAutoFit/>
          </a:bodyPr>
          <a:lstStyle/>
          <a:p>
            <a:pPr algn="ctr"/>
            <a:r>
              <a:rPr lang="en-US" sz="3200" b="1" dirty="0">
                <a:solidFill>
                  <a:schemeClr val="accent1">
                    <a:lumMod val="50000"/>
                  </a:schemeClr>
                </a:solidFill>
                <a:latin typeface="Times New Roman" panose="02020603050405020304" pitchFamily="18" charset="0"/>
                <a:cs typeface="Times New Roman" panose="02020603050405020304" pitchFamily="18" charset="0"/>
              </a:rPr>
              <a:t>PROJECT DESCRIPTION</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a:p>
            <a:pPr algn="ct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4995D8D9-CFAE-228A-DBAC-B6CD77A759EF}"/>
              </a:ext>
            </a:extLst>
          </p:cNvPr>
          <p:cNvSpPr>
            <a:spLocks noGrp="1"/>
          </p:cNvSpPr>
          <p:nvPr>
            <p:ph type="ftr" sz="quarter" idx="11"/>
          </p:nvPr>
        </p:nvSpPr>
        <p:spPr/>
        <p:txBody>
          <a:bodyPr/>
          <a:lstStyle/>
          <a:p>
            <a:r>
              <a:rPr lang="en-US"/>
              <a:t>Autonomous Multi-Agent V2V Simulation with MetaDrive</a:t>
            </a:r>
          </a:p>
        </p:txBody>
      </p:sp>
      <p:sp>
        <p:nvSpPr>
          <p:cNvPr id="8" name="Slide Number Placeholder 7">
            <a:extLst>
              <a:ext uri="{FF2B5EF4-FFF2-40B4-BE49-F238E27FC236}">
                <a16:creationId xmlns:a16="http://schemas.microsoft.com/office/drawing/2014/main" id="{AF77D423-1E1F-5000-9BB2-B5E7BA901679}"/>
              </a:ext>
            </a:extLst>
          </p:cNvPr>
          <p:cNvSpPr>
            <a:spLocks noGrp="1"/>
          </p:cNvSpPr>
          <p:nvPr>
            <p:ph type="sldNum" sz="quarter" idx="12"/>
          </p:nvPr>
        </p:nvSpPr>
        <p:spPr/>
        <p:txBody>
          <a:bodyPr/>
          <a:lstStyle/>
          <a:p>
            <a:fld id="{FC6170F0-41F2-461F-AAB8-A7A369DA6ABC}"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1470025"/>
          </a:xfrm>
        </p:spPr>
        <p:txBody>
          <a:bodyPr>
            <a:normAutofit/>
          </a:bodyPr>
          <a:lstStyle/>
          <a:p>
            <a:pPr lvl="0"/>
            <a:r>
              <a:rPr lang="en-US" sz="1000" b="1" dirty="0">
                <a:solidFill>
                  <a:schemeClr val="tx1">
                    <a:lumMod val="85000"/>
                    <a:lumOff val="15000"/>
                  </a:schemeClr>
                </a:solidFill>
                <a:latin typeface="Times New Roman" pitchFamily="18" charset="0"/>
                <a:cs typeface="Times New Roman" pitchFamily="18" charset="0"/>
              </a:rPr>
              <a:t>.</a:t>
            </a:r>
            <a:br>
              <a:rPr lang="en-US" sz="1000" b="1" dirty="0">
                <a:latin typeface="Times New Roman" pitchFamily="18" charset="0"/>
                <a:cs typeface="Times New Roman" pitchFamily="18" charset="0"/>
              </a:rPr>
            </a:br>
            <a:endParaRPr lang="en-US" sz="1000" dirty="0"/>
          </a:p>
        </p:txBody>
      </p:sp>
      <p:sp>
        <p:nvSpPr>
          <p:cNvPr id="3" name="Subtitle 2"/>
          <p:cNvSpPr>
            <a:spLocks noGrp="1"/>
          </p:cNvSpPr>
          <p:nvPr>
            <p:ph type="subTitle" idx="1"/>
          </p:nvPr>
        </p:nvSpPr>
        <p:spPr>
          <a:xfrm>
            <a:off x="395536" y="1285860"/>
            <a:ext cx="8291264" cy="4643470"/>
          </a:xfrm>
        </p:spPr>
        <p:txBody>
          <a:bodyPr>
            <a:normAutofit fontScale="92500"/>
          </a:bodyPr>
          <a:lstStyle/>
          <a:p>
            <a:pPr algn="just">
              <a:lnSpc>
                <a:spcPct val="150000"/>
              </a:lnSpc>
              <a:spcBef>
                <a:spcPts val="0"/>
              </a:spcBef>
              <a:buClr>
                <a:srgbClr val="953590"/>
              </a:buClr>
              <a:buSzPts val="1800"/>
            </a:pPr>
            <a:r>
              <a:rPr lang="en-US" sz="2000" dirty="0">
                <a:solidFill>
                  <a:schemeClr val="tx1"/>
                </a:solidFill>
                <a:latin typeface="Times New Roman" panose="02020603050405020304" pitchFamily="18" charset="0"/>
                <a:cs typeface="Times New Roman" panose="02020603050405020304" pitchFamily="18" charset="0"/>
              </a:rPr>
              <a:t>Autonomous vehicles face significant challenges when they operate as isolated decision-making units. Without V2V communication, agents have limited visibility, delayed reaction times, and poor prediction of the intentions of nearby vehicles. This results in inefficient traffic flow and increased collision probability, especially in multi-agent environments. The core problem addressed in this project is the absence of a secure, coordinated communication framework for autonomous vehicles that enables them to share critical information and collaboratively avoid collisions. Therefore, the need arises for a robust simulation platform that demonstrates how V2V communication improves coordination, safety, and responsiveness among multiple autonomous agents.</a:t>
            </a:r>
          </a:p>
        </p:txBody>
      </p:sp>
      <p:pic>
        <p:nvPicPr>
          <p:cNvPr id="1027" name="Picture 3" descr="C:\Users\welco_koih58\OneDrive\Desktop\download.jpg"/>
          <p:cNvPicPr>
            <a:picLocks noChangeAspect="1" noChangeArrowheads="1"/>
          </p:cNvPicPr>
          <p:nvPr/>
        </p:nvPicPr>
        <p:blipFill>
          <a:blip r:embed="rId3"/>
          <a:srcRect/>
          <a:stretch>
            <a:fillRect/>
          </a:stretch>
        </p:blipFill>
        <p:spPr bwMode="auto">
          <a:xfrm>
            <a:off x="0" y="0"/>
            <a:ext cx="1285884" cy="1071570"/>
          </a:xfrm>
          <a:prstGeom prst="rect">
            <a:avLst/>
          </a:prstGeom>
          <a:noFill/>
        </p:spPr>
      </p:pic>
      <p:cxnSp>
        <p:nvCxnSpPr>
          <p:cNvPr id="13" name="Straight Connector 12"/>
          <p:cNvCxnSpPr/>
          <p:nvPr/>
        </p:nvCxnSpPr>
        <p:spPr>
          <a:xfrm>
            <a:off x="0" y="114298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p:nvPr/>
        </p:nvCxnSpPr>
        <p:spPr>
          <a:xfrm>
            <a:off x="0" y="6357958"/>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pic>
        <p:nvPicPr>
          <p:cNvPr id="1028" name="Picture 2" descr="Home - Information Science and Engineering"/>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sp>
        <p:nvSpPr>
          <p:cNvPr id="6" name="TextBox 5">
            <a:extLst>
              <a:ext uri="{FF2B5EF4-FFF2-40B4-BE49-F238E27FC236}">
                <a16:creationId xmlns:a16="http://schemas.microsoft.com/office/drawing/2014/main" id="{F24B36BB-25EC-5D7F-E952-64EFF55E8565}"/>
              </a:ext>
            </a:extLst>
          </p:cNvPr>
          <p:cNvSpPr txBox="1"/>
          <p:nvPr/>
        </p:nvSpPr>
        <p:spPr>
          <a:xfrm>
            <a:off x="2051720" y="404664"/>
            <a:ext cx="5400600" cy="742511"/>
          </a:xfrm>
          <a:prstGeom prst="rect">
            <a:avLst/>
          </a:prstGeom>
          <a:noFill/>
        </p:spPr>
        <p:txBody>
          <a:bodyPr wrap="square" rtlCol="0">
            <a:spAutoFit/>
          </a:bodyPr>
          <a:lstStyle/>
          <a:p>
            <a:pPr lvl="0" algn="ctr">
              <a:lnSpc>
                <a:spcPct val="150000"/>
              </a:lnSpc>
              <a:buClr>
                <a:schemeClr val="dk1"/>
              </a:buClr>
              <a:buSzPts val="2600"/>
            </a:pPr>
            <a:r>
              <a:rPr lang="en-US" sz="3200" b="1" dirty="0">
                <a:solidFill>
                  <a:schemeClr val="accent5">
                    <a:lumMod val="50000"/>
                  </a:schemeClr>
                </a:solidFill>
                <a:latin typeface="Times New Roman" panose="02020603050405020304" charset="0"/>
                <a:ea typeface="Times New Roman" panose="02020603050405020304"/>
                <a:cs typeface="Times New Roman" panose="02020603050405020304" charset="0"/>
                <a:sym typeface="Times New Roman" panose="02020603050405020304"/>
              </a:rPr>
              <a:t>PROBLEM STATEMENT </a:t>
            </a:r>
            <a:endParaRPr lang="en-US" sz="3200" b="1" dirty="0">
              <a:solidFill>
                <a:schemeClr val="accent5">
                  <a:lumMod val="50000"/>
                </a:schemeClr>
              </a:solidFill>
              <a:latin typeface="Times New Roman" panose="02020603050405020304" charset="0"/>
              <a:cs typeface="Times New Roman" panose="02020603050405020304" charset="0"/>
            </a:endParaRPr>
          </a:p>
        </p:txBody>
      </p:sp>
      <p:sp>
        <p:nvSpPr>
          <p:cNvPr id="7" name="Footer Placeholder 6">
            <a:extLst>
              <a:ext uri="{FF2B5EF4-FFF2-40B4-BE49-F238E27FC236}">
                <a16:creationId xmlns:a16="http://schemas.microsoft.com/office/drawing/2014/main" id="{02E6E6EC-AE86-DD57-34E2-F66A2117548E}"/>
              </a:ext>
            </a:extLst>
          </p:cNvPr>
          <p:cNvSpPr>
            <a:spLocks noGrp="1"/>
          </p:cNvSpPr>
          <p:nvPr>
            <p:ph type="ftr" sz="quarter" idx="11"/>
          </p:nvPr>
        </p:nvSpPr>
        <p:spPr/>
        <p:txBody>
          <a:bodyPr/>
          <a:lstStyle/>
          <a:p>
            <a:r>
              <a:rPr lang="en-US"/>
              <a:t>Autonomous Multi-Agent V2V Simulation with MetaDrive</a:t>
            </a:r>
          </a:p>
        </p:txBody>
      </p:sp>
      <p:sp>
        <p:nvSpPr>
          <p:cNvPr id="8" name="Slide Number Placeholder 7">
            <a:extLst>
              <a:ext uri="{FF2B5EF4-FFF2-40B4-BE49-F238E27FC236}">
                <a16:creationId xmlns:a16="http://schemas.microsoft.com/office/drawing/2014/main" id="{03B255FE-EFE5-D4E6-768B-9A1E8A727CF5}"/>
              </a:ext>
            </a:extLst>
          </p:cNvPr>
          <p:cNvSpPr>
            <a:spLocks noGrp="1"/>
          </p:cNvSpPr>
          <p:nvPr>
            <p:ph type="sldNum" sz="quarter" idx="12"/>
          </p:nvPr>
        </p:nvSpPr>
        <p:spPr/>
        <p:txBody>
          <a:bodyPr/>
          <a:lstStyle/>
          <a:p>
            <a:fld id="{FC6170F0-41F2-461F-AAB8-A7A369DA6ABC}"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1470025"/>
          </a:xfrm>
        </p:spPr>
        <p:txBody>
          <a:bodyPr>
            <a:normAutofit/>
          </a:bodyPr>
          <a:lstStyle/>
          <a:p>
            <a:pPr lvl="0"/>
            <a:r>
              <a:rPr lang="en-US" sz="1000" b="1" dirty="0">
                <a:solidFill>
                  <a:schemeClr val="tx1">
                    <a:lumMod val="85000"/>
                    <a:lumOff val="15000"/>
                  </a:schemeClr>
                </a:solidFill>
                <a:latin typeface="Times New Roman" pitchFamily="18" charset="0"/>
                <a:cs typeface="Times New Roman" pitchFamily="18" charset="0"/>
              </a:rPr>
              <a:t>.</a:t>
            </a:r>
            <a:br>
              <a:rPr lang="en-US" sz="1000" b="1" dirty="0">
                <a:latin typeface="Times New Roman" pitchFamily="18" charset="0"/>
                <a:cs typeface="Times New Roman" pitchFamily="18" charset="0"/>
              </a:rPr>
            </a:br>
            <a:endParaRPr lang="en-US" sz="1000" dirty="0"/>
          </a:p>
        </p:txBody>
      </p:sp>
      <p:pic>
        <p:nvPicPr>
          <p:cNvPr id="1027" name="Picture 3" descr="C:\Users\welco_koih58\OneDrive\Desktop\download.jpg"/>
          <p:cNvPicPr>
            <a:picLocks noChangeAspect="1" noChangeArrowheads="1"/>
          </p:cNvPicPr>
          <p:nvPr/>
        </p:nvPicPr>
        <p:blipFill>
          <a:blip r:embed="rId3"/>
          <a:srcRect/>
          <a:stretch>
            <a:fillRect/>
          </a:stretch>
        </p:blipFill>
        <p:spPr bwMode="auto">
          <a:xfrm>
            <a:off x="0" y="0"/>
            <a:ext cx="1285884" cy="1071570"/>
          </a:xfrm>
          <a:prstGeom prst="rect">
            <a:avLst/>
          </a:prstGeom>
          <a:noFill/>
        </p:spPr>
      </p:pic>
      <p:cxnSp>
        <p:nvCxnSpPr>
          <p:cNvPr id="13" name="Straight Connector 12"/>
          <p:cNvCxnSpPr/>
          <p:nvPr/>
        </p:nvCxnSpPr>
        <p:spPr>
          <a:xfrm>
            <a:off x="0" y="114298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pic>
        <p:nvPicPr>
          <p:cNvPr id="1028" name="Picture 2" descr="Home - Information Science and Engineering"/>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sp>
        <p:nvSpPr>
          <p:cNvPr id="4" name="TextBox 3">
            <a:extLst>
              <a:ext uri="{FF2B5EF4-FFF2-40B4-BE49-F238E27FC236}">
                <a16:creationId xmlns:a16="http://schemas.microsoft.com/office/drawing/2014/main" id="{25628AFE-87A6-F43B-54A9-40FE6BC60FC2}"/>
              </a:ext>
            </a:extLst>
          </p:cNvPr>
          <p:cNvSpPr txBox="1"/>
          <p:nvPr/>
        </p:nvSpPr>
        <p:spPr>
          <a:xfrm>
            <a:off x="1367644" y="341102"/>
            <a:ext cx="6408712" cy="861774"/>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OBJECTIVE OF PROJECT</a:t>
            </a:r>
          </a:p>
          <a:p>
            <a:pPr algn="ctr"/>
            <a:endParaRPr lang="en-IN" dirty="0"/>
          </a:p>
        </p:txBody>
      </p:sp>
      <p:cxnSp>
        <p:nvCxnSpPr>
          <p:cNvPr id="5" name="Straight Connector 4">
            <a:extLst>
              <a:ext uri="{FF2B5EF4-FFF2-40B4-BE49-F238E27FC236}">
                <a16:creationId xmlns:a16="http://schemas.microsoft.com/office/drawing/2014/main" id="{211B78C9-1B73-B04F-2B93-4FB1E9906536}"/>
              </a:ext>
            </a:extLst>
          </p:cNvPr>
          <p:cNvCxnSpPr/>
          <p:nvPr/>
        </p:nvCxnSpPr>
        <p:spPr>
          <a:xfrm>
            <a:off x="0" y="6357958"/>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8" name="Footer Placeholder 7">
            <a:extLst>
              <a:ext uri="{FF2B5EF4-FFF2-40B4-BE49-F238E27FC236}">
                <a16:creationId xmlns:a16="http://schemas.microsoft.com/office/drawing/2014/main" id="{C213502F-6715-0D18-2FA7-B242470339FB}"/>
              </a:ext>
            </a:extLst>
          </p:cNvPr>
          <p:cNvSpPr>
            <a:spLocks noGrp="1"/>
          </p:cNvSpPr>
          <p:nvPr>
            <p:ph type="ftr" sz="quarter" idx="11"/>
          </p:nvPr>
        </p:nvSpPr>
        <p:spPr>
          <a:xfrm>
            <a:off x="3124200" y="6448251"/>
            <a:ext cx="2895600" cy="365125"/>
          </a:xfrm>
        </p:spPr>
        <p:txBody>
          <a:bodyPr/>
          <a:lstStyle/>
          <a:p>
            <a:r>
              <a:rPr lang="en-US" dirty="0"/>
              <a:t>Autonomous Multi-Agent V2V Simulation with </a:t>
            </a:r>
            <a:r>
              <a:rPr lang="en-US" dirty="0" err="1"/>
              <a:t>MetaDrive</a:t>
            </a:r>
            <a:endParaRPr lang="en-US" dirty="0"/>
          </a:p>
        </p:txBody>
      </p:sp>
      <p:sp>
        <p:nvSpPr>
          <p:cNvPr id="9" name="Slide Number Placeholder 8">
            <a:extLst>
              <a:ext uri="{FF2B5EF4-FFF2-40B4-BE49-F238E27FC236}">
                <a16:creationId xmlns:a16="http://schemas.microsoft.com/office/drawing/2014/main" id="{C94E034E-2968-B8AB-2A27-FAB6EB03C529}"/>
              </a:ext>
            </a:extLst>
          </p:cNvPr>
          <p:cNvSpPr>
            <a:spLocks noGrp="1"/>
          </p:cNvSpPr>
          <p:nvPr>
            <p:ph type="sldNum" sz="quarter" idx="12"/>
          </p:nvPr>
        </p:nvSpPr>
        <p:spPr/>
        <p:txBody>
          <a:bodyPr/>
          <a:lstStyle/>
          <a:p>
            <a:fld id="{FC6170F0-41F2-461F-AAB8-A7A369DA6ABC}" type="slidenum">
              <a:rPr lang="en-US" smtClean="0"/>
              <a:pPr/>
              <a:t>4</a:t>
            </a:fld>
            <a:endParaRPr lang="en-US"/>
          </a:p>
        </p:txBody>
      </p:sp>
      <p:sp>
        <p:nvSpPr>
          <p:cNvPr id="7" name="Rectangle 2">
            <a:extLst>
              <a:ext uri="{FF2B5EF4-FFF2-40B4-BE49-F238E27FC236}">
                <a16:creationId xmlns:a16="http://schemas.microsoft.com/office/drawing/2014/main" id="{2901302F-BBED-9850-443F-6654F5D844AE}"/>
              </a:ext>
            </a:extLst>
          </p:cNvPr>
          <p:cNvSpPr>
            <a:spLocks noGrp="1" noChangeArrowheads="1"/>
          </p:cNvSpPr>
          <p:nvPr>
            <p:ph type="subTitle" idx="1"/>
          </p:nvPr>
        </p:nvSpPr>
        <p:spPr bwMode="auto">
          <a:xfrm>
            <a:off x="395536" y="1184555"/>
            <a:ext cx="85692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 </a:t>
            </a:r>
            <a:r>
              <a:rPr kumimoji="0" lang="en-US" altLang="en-US" sz="1800" b="1" i="0" u="none" strike="noStrike" cap="none" normalizeH="0" baseline="0" dirty="0">
                <a:ln>
                  <a:noFill/>
                </a:ln>
                <a:solidFill>
                  <a:schemeClr val="tx1"/>
                </a:solidFill>
                <a:effectLst/>
                <a:latin typeface="Arial" panose="020B0604020202020204" pitchFamily="34" charset="0"/>
              </a:rPr>
              <a:t>secure, cooperative autonomous driving simulation</a:t>
            </a:r>
            <a:r>
              <a:rPr kumimoji="0" lang="en-US" altLang="en-US" sz="1800" b="0" i="0" u="none" strike="noStrike" cap="none" normalizeH="0" baseline="0" dirty="0">
                <a:ln>
                  <a:noFill/>
                </a:ln>
                <a:solidFill>
                  <a:schemeClr val="tx1"/>
                </a:solidFill>
                <a:effectLst/>
                <a:latin typeface="Arial" panose="020B0604020202020204" pitchFamily="34" charset="0"/>
              </a:rPr>
              <a:t> using the </a:t>
            </a:r>
            <a:r>
              <a:rPr kumimoji="0" lang="en-US" altLang="en-US" sz="1800" b="0" i="0" u="none" strike="noStrike" cap="none" normalizeH="0" baseline="0" dirty="0" err="1">
                <a:ln>
                  <a:noFill/>
                </a:ln>
                <a:solidFill>
                  <a:schemeClr val="tx1"/>
                </a:solidFill>
                <a:effectLst/>
                <a:latin typeface="Arial" panose="020B0604020202020204" pitchFamily="34" charset="0"/>
              </a:rPr>
              <a:t>MetaDrive</a:t>
            </a:r>
            <a:r>
              <a:rPr kumimoji="0" lang="en-US" altLang="en-US" sz="1800" b="0" i="0" u="none" strike="noStrike" cap="none" normalizeH="0" baseline="0" dirty="0">
                <a:ln>
                  <a:noFill/>
                </a:ln>
                <a:solidFill>
                  <a:schemeClr val="tx1"/>
                </a:solidFill>
                <a:effectLst/>
                <a:latin typeface="Arial" panose="020B0604020202020204" pitchFamily="34" charset="0"/>
              </a:rPr>
              <a:t> platform.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a:t>
            </a:r>
            <a:r>
              <a:rPr kumimoji="0" lang="en-US" altLang="en-US" sz="1800" b="1" i="0" u="none" strike="noStrike" cap="none" normalizeH="0" baseline="0" dirty="0">
                <a:ln>
                  <a:noFill/>
                </a:ln>
                <a:solidFill>
                  <a:schemeClr val="tx1"/>
                </a:solidFill>
                <a:effectLst/>
                <a:latin typeface="Arial" panose="020B0604020202020204" pitchFamily="34" charset="0"/>
              </a:rPr>
              <a:t>multi-agent vehicle coordination</a:t>
            </a:r>
            <a:r>
              <a:rPr kumimoji="0" lang="en-US" altLang="en-US" sz="1800" b="0" i="0" u="none" strike="noStrike" cap="none" normalizeH="0" baseline="0" dirty="0">
                <a:ln>
                  <a:noFill/>
                </a:ln>
                <a:solidFill>
                  <a:schemeClr val="tx1"/>
                </a:solidFill>
                <a:effectLst/>
                <a:latin typeface="Arial" panose="020B0604020202020204" pitchFamily="34" charset="0"/>
              </a:rPr>
              <a:t> through Vehicle-to-Vehicle (V2V) communication.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Model </a:t>
            </a:r>
            <a:r>
              <a:rPr kumimoji="0" lang="en-US" altLang="en-US" sz="1800" b="1" i="0" u="none" strike="noStrike" cap="none" normalizeH="0" baseline="0" dirty="0">
                <a:ln>
                  <a:noFill/>
                </a:ln>
                <a:solidFill>
                  <a:schemeClr val="tx1"/>
                </a:solidFill>
                <a:effectLst/>
                <a:latin typeface="Arial" panose="020B0604020202020204" pitchFamily="34" charset="0"/>
              </a:rPr>
              <a:t>realistic multi-agent driving behavior</a:t>
            </a:r>
            <a:r>
              <a:rPr kumimoji="0" lang="en-US" altLang="en-US" sz="1800" b="0" i="0" u="none" strike="noStrike" cap="none" normalizeH="0" baseline="0" dirty="0">
                <a:ln>
                  <a:noFill/>
                </a:ln>
                <a:solidFill>
                  <a:schemeClr val="tx1"/>
                </a:solidFill>
                <a:effectLst/>
                <a:latin typeface="Arial" panose="020B0604020202020204" pitchFamily="34" charset="0"/>
              </a:rPr>
              <a:t> in dynamic traffic environments.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Reduce collision risk</a:t>
            </a:r>
            <a:r>
              <a:rPr kumimoji="0" lang="en-US" altLang="en-US" sz="1800" b="0" i="0" u="none" strike="noStrike" cap="none" normalizeH="0" baseline="0" dirty="0">
                <a:ln>
                  <a:noFill/>
                </a:ln>
                <a:solidFill>
                  <a:schemeClr val="tx1"/>
                </a:solidFill>
                <a:effectLst/>
                <a:latin typeface="Arial" panose="020B0604020202020204" pitchFamily="34" charset="0"/>
              </a:rPr>
              <a:t> by leveraging early obstacle and hazard information shared among vehicles.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vehicle </a:t>
            </a:r>
            <a:r>
              <a:rPr kumimoji="0" lang="en-US" altLang="en-US" sz="1800" b="1" i="0" u="none" strike="noStrike" cap="none" normalizeH="0" baseline="0" dirty="0">
                <a:ln>
                  <a:noFill/>
                </a:ln>
                <a:solidFill>
                  <a:schemeClr val="tx1"/>
                </a:solidFill>
                <a:effectLst/>
                <a:latin typeface="Arial" panose="020B0604020202020204" pitchFamily="34" charset="0"/>
              </a:rPr>
              <a:t>responsiveness and decision-making</a:t>
            </a:r>
            <a:r>
              <a:rPr kumimoji="0" lang="en-US" altLang="en-US" sz="1800" b="0" i="0" u="none" strike="noStrike" cap="none" normalizeH="0" baseline="0" dirty="0">
                <a:ln>
                  <a:noFill/>
                </a:ln>
                <a:solidFill>
                  <a:schemeClr val="tx1"/>
                </a:solidFill>
                <a:effectLst/>
                <a:latin typeface="Arial" panose="020B0604020202020204" pitchFamily="34" charset="0"/>
              </a:rPr>
              <a:t> through shared situational awareness.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communication data directly into the </a:t>
            </a:r>
            <a:r>
              <a:rPr kumimoji="0" lang="en-US" altLang="en-US" sz="1800" b="1" i="0" u="none" strike="noStrike" cap="none" normalizeH="0" baseline="0" dirty="0">
                <a:ln>
                  <a:noFill/>
                </a:ln>
                <a:solidFill>
                  <a:schemeClr val="tx1"/>
                </a:solidFill>
                <a:effectLst/>
                <a:latin typeface="Arial" panose="020B0604020202020204" pitchFamily="34" charset="0"/>
              </a:rPr>
              <a:t>autonomous decision-making pipeline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 </a:t>
            </a:r>
            <a:r>
              <a:rPr kumimoji="0" lang="en-US" altLang="en-US" sz="1800" b="1" i="0" u="none" strike="noStrike" cap="none" normalizeH="0" baseline="0" dirty="0">
                <a:ln>
                  <a:noFill/>
                </a:ln>
                <a:solidFill>
                  <a:schemeClr val="tx1"/>
                </a:solidFill>
                <a:effectLst/>
                <a:latin typeface="Arial" panose="020B0604020202020204" pitchFamily="34" charset="0"/>
              </a:rPr>
              <a:t>V2V communication latency</a:t>
            </a:r>
            <a:r>
              <a:rPr kumimoji="0" lang="en-US" altLang="en-US" sz="1800" b="0" i="0" u="none" strike="noStrike" cap="none" normalizeH="0" baseline="0" dirty="0">
                <a:ln>
                  <a:noFill/>
                </a:ln>
                <a:solidFill>
                  <a:schemeClr val="tx1"/>
                </a:solidFill>
                <a:effectLst/>
                <a:latin typeface="Arial" panose="020B0604020202020204" pitchFamily="34" charset="0"/>
              </a:rPr>
              <a:t> and its impact on system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 </a:t>
            </a:r>
            <a:r>
              <a:rPr kumimoji="0" lang="en-US" altLang="en-US" sz="1800" b="1" i="0" u="none" strike="noStrike" cap="none" normalizeH="0" baseline="0" dirty="0">
                <a:ln>
                  <a:noFill/>
                </a:ln>
                <a:solidFill>
                  <a:schemeClr val="tx1"/>
                </a:solidFill>
                <a:effectLst/>
                <a:latin typeface="Arial" panose="020B0604020202020204" pitchFamily="34" charset="0"/>
              </a:rPr>
              <a:t>system accuracy</a:t>
            </a:r>
            <a:r>
              <a:rPr kumimoji="0" lang="en-US" altLang="en-US" sz="1800" b="0" i="0" u="none" strike="noStrike" cap="none" normalizeH="0" baseline="0" dirty="0">
                <a:ln>
                  <a:noFill/>
                </a:ln>
                <a:solidFill>
                  <a:schemeClr val="tx1"/>
                </a:solidFill>
                <a:effectLst/>
                <a:latin typeface="Arial" panose="020B0604020202020204" pitchFamily="34" charset="0"/>
              </a:rPr>
              <a:t> in perception, communication, and decision outcomes.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Quantify the </a:t>
            </a:r>
            <a:r>
              <a:rPr kumimoji="0" lang="en-US" altLang="en-US" sz="1800" b="1" i="0" u="none" strike="noStrike" cap="none" normalizeH="0" baseline="0" dirty="0">
                <a:ln>
                  <a:noFill/>
                </a:ln>
                <a:solidFill>
                  <a:schemeClr val="tx1"/>
                </a:solidFill>
                <a:effectLst/>
                <a:latin typeface="Arial" panose="020B0604020202020204" pitchFamily="34" charset="0"/>
              </a:rPr>
              <a:t>performance improvement achieved through coordinated driving</a:t>
            </a:r>
            <a:r>
              <a:rPr kumimoji="0" lang="en-US" altLang="en-US" sz="1800" b="0" i="0" u="none" strike="noStrike" cap="none" normalizeH="0" baseline="0" dirty="0">
                <a:ln>
                  <a:noFill/>
                </a:ln>
                <a:solidFill>
                  <a:schemeClr val="tx1"/>
                </a:solidFill>
                <a:effectLst/>
                <a:latin typeface="Arial" panose="020B0604020202020204" pitchFamily="34" charset="0"/>
              </a:rPr>
              <a:t> versus isolated agents.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Demonstrate a </a:t>
            </a:r>
            <a:r>
              <a:rPr kumimoji="0" lang="en-US" altLang="en-US" sz="1800" b="1" i="0" u="none" strike="noStrike" cap="none" normalizeH="0" baseline="0" dirty="0">
                <a:ln>
                  <a:noFill/>
                </a:ln>
                <a:solidFill>
                  <a:schemeClr val="tx1"/>
                </a:solidFill>
                <a:effectLst/>
                <a:latin typeface="Arial" panose="020B0604020202020204" pitchFamily="34" charset="0"/>
              </a:rPr>
              <a:t>scalable simulation framework</a:t>
            </a:r>
            <a:r>
              <a:rPr kumimoji="0" lang="en-US" altLang="en-US" sz="1800" b="0" i="0" u="none" strike="noStrike" cap="none" normalizeH="0" baseline="0" dirty="0">
                <a:ln>
                  <a:noFill/>
                </a:ln>
                <a:solidFill>
                  <a:schemeClr val="tx1"/>
                </a:solidFill>
                <a:effectLst/>
                <a:latin typeface="Arial" panose="020B0604020202020204" pitchFamily="34" charset="0"/>
              </a:rPr>
              <a:t> suitable for future V2I and V2X extensions.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8620-B553-9609-F149-8E5D4940A706}"/>
              </a:ext>
            </a:extLst>
          </p:cNvPr>
          <p:cNvSpPr>
            <a:spLocks noGrp="1"/>
          </p:cNvSpPr>
          <p:nvPr>
            <p:ph type="title"/>
          </p:nvPr>
        </p:nvSpPr>
        <p:spPr>
          <a:xfrm>
            <a:off x="0" y="0"/>
            <a:ext cx="9144000" cy="1124744"/>
          </a:xfrm>
        </p:spPr>
        <p:txBody>
          <a:bodyPr/>
          <a:lstStyle/>
          <a:p>
            <a:r>
              <a:rPr lang="en-IN" dirty="0"/>
              <a:t>                            </a:t>
            </a:r>
          </a:p>
        </p:txBody>
      </p:sp>
      <p:sp>
        <p:nvSpPr>
          <p:cNvPr id="3" name="Content Placeholder 2">
            <a:extLst>
              <a:ext uri="{FF2B5EF4-FFF2-40B4-BE49-F238E27FC236}">
                <a16:creationId xmlns:a16="http://schemas.microsoft.com/office/drawing/2014/main" id="{C90D7127-85E7-F79A-A9B3-32B2BA2ABE7D}"/>
              </a:ext>
            </a:extLst>
          </p:cNvPr>
          <p:cNvSpPr>
            <a:spLocks noGrp="1"/>
          </p:cNvSpPr>
          <p:nvPr>
            <p:ph idx="1"/>
          </p:nvPr>
        </p:nvSpPr>
        <p:spPr>
          <a:xfrm>
            <a:off x="424545" y="1454332"/>
            <a:ext cx="8363272" cy="5184576"/>
          </a:xfrm>
        </p:spPr>
        <p:txBody>
          <a:bodyPr>
            <a:normAutofit/>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The scope of the work includes designing a multi-agent simulation environment, integrating V2V communication, implementing secure messaging through AES encryption, and testing cooperative driving behaviors. The project focuses on realistic agent interactions, collision avoidance strategies, and decentralized decision-making. While the current implementation concentrates on V2V sharing, the architecture has been built to extend towards more complex frameworks such as Vehicle-to-Infrastructure (V2I) and Vehicle-to-Everything (V2X) systems in future developments.</a:t>
            </a:r>
            <a:endParaRPr lang="en-IN" sz="1900" dirty="0">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92834157-3DFA-55F4-F714-9AD9D558DB64}"/>
              </a:ext>
            </a:extLst>
          </p:cNvPr>
          <p:cNvPicPr>
            <a:picLocks noChangeAspect="1" noChangeArrowheads="1"/>
          </p:cNvPicPr>
          <p:nvPr/>
        </p:nvPicPr>
        <p:blipFill>
          <a:blip r:embed="rId2"/>
          <a:srcRect/>
          <a:stretch>
            <a:fillRect/>
          </a:stretch>
        </p:blipFill>
        <p:spPr bwMode="auto">
          <a:xfrm>
            <a:off x="0" y="0"/>
            <a:ext cx="1285884" cy="1071570"/>
          </a:xfrm>
          <a:prstGeom prst="rect">
            <a:avLst/>
          </a:prstGeom>
          <a:noFill/>
        </p:spPr>
      </p:pic>
      <p:pic>
        <p:nvPicPr>
          <p:cNvPr id="7" name="Picture 2" descr="Home - Information Science and Engineering">
            <a:extLst>
              <a:ext uri="{FF2B5EF4-FFF2-40B4-BE49-F238E27FC236}">
                <a16:creationId xmlns:a16="http://schemas.microsoft.com/office/drawing/2014/main" id="{7075CCFC-DA34-7F8F-977B-26B36B452554}"/>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F8EB348B-7319-3EAE-49DA-7EEAF3EEDEDA}"/>
              </a:ext>
            </a:extLst>
          </p:cNvPr>
          <p:cNvCxnSpPr/>
          <p:nvPr/>
        </p:nvCxnSpPr>
        <p:spPr>
          <a:xfrm>
            <a:off x="0" y="114298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05989B48-C3E6-F207-9BCA-BEFEE0176119}"/>
              </a:ext>
            </a:extLst>
          </p:cNvPr>
          <p:cNvSpPr txBox="1"/>
          <p:nvPr/>
        </p:nvSpPr>
        <p:spPr>
          <a:xfrm>
            <a:off x="2483768" y="476672"/>
            <a:ext cx="4752528" cy="584775"/>
          </a:xfrm>
          <a:prstGeom prst="rect">
            <a:avLst/>
          </a:prstGeom>
          <a:noFill/>
        </p:spPr>
        <p:txBody>
          <a:bodyPr wrap="square" rtlCol="0">
            <a:spAutoFit/>
          </a:bodyPr>
          <a:lstStyle/>
          <a:p>
            <a:pPr algn="ctr"/>
            <a:r>
              <a:rPr lang="en-IN" sz="3200" b="1" dirty="0">
                <a:solidFill>
                  <a:schemeClr val="accent5">
                    <a:lumMod val="75000"/>
                  </a:schemeClr>
                </a:solidFill>
                <a:latin typeface="Times New Roman" panose="02020603050405020304" pitchFamily="18" charset="0"/>
                <a:cs typeface="Times New Roman" panose="02020603050405020304" pitchFamily="18" charset="0"/>
              </a:rPr>
              <a:t>SCOPE</a:t>
            </a:r>
          </a:p>
        </p:txBody>
      </p:sp>
      <p:cxnSp>
        <p:nvCxnSpPr>
          <p:cNvPr id="12" name="Straight Connector 11">
            <a:extLst>
              <a:ext uri="{FF2B5EF4-FFF2-40B4-BE49-F238E27FC236}">
                <a16:creationId xmlns:a16="http://schemas.microsoft.com/office/drawing/2014/main" id="{98DAE477-A96E-F119-D642-8305BA34FC80}"/>
              </a:ext>
            </a:extLst>
          </p:cNvPr>
          <p:cNvCxnSpPr>
            <a:cxnSpLocks/>
          </p:cNvCxnSpPr>
          <p:nvPr/>
        </p:nvCxnSpPr>
        <p:spPr>
          <a:xfrm>
            <a:off x="0" y="6453336"/>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3" name="Footer Placeholder 12">
            <a:extLst>
              <a:ext uri="{FF2B5EF4-FFF2-40B4-BE49-F238E27FC236}">
                <a16:creationId xmlns:a16="http://schemas.microsoft.com/office/drawing/2014/main" id="{F0E0EE4A-B770-B553-BB2B-C56AF8AEFC5A}"/>
              </a:ext>
            </a:extLst>
          </p:cNvPr>
          <p:cNvSpPr>
            <a:spLocks noGrp="1"/>
          </p:cNvSpPr>
          <p:nvPr>
            <p:ph type="ftr" sz="quarter" idx="11"/>
          </p:nvPr>
        </p:nvSpPr>
        <p:spPr>
          <a:xfrm>
            <a:off x="3124200" y="6520259"/>
            <a:ext cx="2895600" cy="365125"/>
          </a:xfrm>
        </p:spPr>
        <p:txBody>
          <a:bodyPr/>
          <a:lstStyle/>
          <a:p>
            <a:r>
              <a:rPr lang="en-US" dirty="0"/>
              <a:t>Autonomous Multi-Agent V2V Simulation with </a:t>
            </a:r>
            <a:r>
              <a:rPr lang="en-US" dirty="0" err="1"/>
              <a:t>MetaDrive</a:t>
            </a:r>
            <a:endParaRPr lang="en-US" dirty="0"/>
          </a:p>
        </p:txBody>
      </p:sp>
      <p:sp>
        <p:nvSpPr>
          <p:cNvPr id="14" name="Slide Number Placeholder 13">
            <a:extLst>
              <a:ext uri="{FF2B5EF4-FFF2-40B4-BE49-F238E27FC236}">
                <a16:creationId xmlns:a16="http://schemas.microsoft.com/office/drawing/2014/main" id="{B14D970E-CD24-8FEB-20E9-26903031153D}"/>
              </a:ext>
            </a:extLst>
          </p:cNvPr>
          <p:cNvSpPr>
            <a:spLocks noGrp="1"/>
          </p:cNvSpPr>
          <p:nvPr>
            <p:ph type="sldNum" sz="quarter" idx="12"/>
          </p:nvPr>
        </p:nvSpPr>
        <p:spPr/>
        <p:txBody>
          <a:bodyPr/>
          <a:lstStyle/>
          <a:p>
            <a:fld id="{FC6170F0-41F2-461F-AAB8-A7A369DA6ABC}" type="slidenum">
              <a:rPr lang="en-US" smtClean="0"/>
              <a:pPr/>
              <a:t>5</a:t>
            </a:fld>
            <a:endParaRPr lang="en-US"/>
          </a:p>
        </p:txBody>
      </p:sp>
    </p:spTree>
    <p:extLst>
      <p:ext uri="{BB962C8B-B14F-4D97-AF65-F5344CB8AC3E}">
        <p14:creationId xmlns:p14="http://schemas.microsoft.com/office/powerpoint/2010/main" val="3257991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CE454-90F2-7A06-EDA9-3C877BD5C710}"/>
              </a:ext>
            </a:extLst>
          </p:cNvPr>
          <p:cNvSpPr>
            <a:spLocks noGrp="1"/>
          </p:cNvSpPr>
          <p:nvPr>
            <p:ph type="title"/>
          </p:nvPr>
        </p:nvSpPr>
        <p:spPr>
          <a:xfrm>
            <a:off x="0" y="0"/>
            <a:ext cx="9144000" cy="1071570"/>
          </a:xfrm>
        </p:spPr>
        <p:txBody>
          <a:bodyPr>
            <a:normAutofit fontScale="90000"/>
          </a:bodyPr>
          <a:lstStyle/>
          <a:p>
            <a:br>
              <a:rPr lang="en-IN" sz="3200" b="1" dirty="0">
                <a:solidFill>
                  <a:schemeClr val="accent5">
                    <a:lumMod val="75000"/>
                  </a:schemeClr>
                </a:solidFill>
                <a:latin typeface="Times New Roman" panose="02020603050405020304" pitchFamily="18" charset="0"/>
                <a:cs typeface="Times New Roman" panose="02020603050405020304" pitchFamily="18" charset="0"/>
              </a:rPr>
            </a:br>
            <a:br>
              <a:rPr lang="en-IN" sz="3200" b="1" dirty="0">
                <a:solidFill>
                  <a:schemeClr val="accent5">
                    <a:lumMod val="75000"/>
                  </a:schemeClr>
                </a:solidFill>
                <a:latin typeface="Times New Roman" panose="02020603050405020304" pitchFamily="18" charset="0"/>
                <a:cs typeface="Times New Roman" panose="02020603050405020304" pitchFamily="18" charset="0"/>
              </a:rPr>
            </a:br>
            <a:r>
              <a:rPr lang="en-GB" sz="3200" b="1" dirty="0">
                <a:solidFill>
                  <a:schemeClr val="accent1">
                    <a:lumMod val="50000"/>
                  </a:schemeClr>
                </a:solidFill>
                <a:latin typeface="Times New Roman" panose="02020603050405020304" pitchFamily="18" charset="0"/>
                <a:cs typeface="Times New Roman" panose="02020603050405020304" pitchFamily="18" charset="0"/>
              </a:rPr>
              <a:t>SIGNIFICANT</a:t>
            </a:r>
            <a:br>
              <a:rPr lang="en-IN" sz="3200" b="1" dirty="0">
                <a:solidFill>
                  <a:schemeClr val="accent1">
                    <a:lumMod val="50000"/>
                  </a:schemeClr>
                </a:solidFill>
                <a:latin typeface="Times New Roman" panose="02020603050405020304" pitchFamily="18" charset="0"/>
                <a:cs typeface="Times New Roman" panose="02020603050405020304" pitchFamily="18" charset="0"/>
              </a:rPr>
            </a:br>
            <a:br>
              <a:rPr lang="en-IN" sz="3200" b="1" dirty="0">
                <a:solidFill>
                  <a:schemeClr val="accent5">
                    <a:lumMod val="75000"/>
                  </a:schemeClr>
                </a:solidFill>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84B87F-513A-5794-FEDF-FC66F665E456}"/>
              </a:ext>
            </a:extLst>
          </p:cNvPr>
          <p:cNvSpPr>
            <a:spLocks noGrp="1"/>
          </p:cNvSpPr>
          <p:nvPr>
            <p:ph idx="1"/>
          </p:nvPr>
        </p:nvSpPr>
        <p:spPr>
          <a:xfrm>
            <a:off x="575556" y="1471318"/>
            <a:ext cx="7992888" cy="5283192"/>
          </a:xfrm>
        </p:spPr>
        <p:txBody>
          <a:bodyPr>
            <a:normAutofit/>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The significance of this project lies in demonstrating how autonomous vehicles can collaborate effectively in real-time environments. By incorporating V2V communication, vehicles gain a collective understanding of their surroundings, enabling them to anticipate potential hazards and take coordinated actions. This substantially enhances road safety, reduces collisions, and makes traffic flow smoother and more efficient. Furthermore, the project provides a research-driven simulation framework that can contribute to advancements in intelligent transportation systems, smart city planning, and future autonomous vehicle deployment.</a:t>
            </a:r>
            <a:endParaRPr lang="en-IN" sz="1900" b="1" dirty="0">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ADE1900C-2551-F247-CCE8-C4987622CF01}"/>
              </a:ext>
            </a:extLst>
          </p:cNvPr>
          <p:cNvPicPr>
            <a:picLocks noChangeAspect="1" noChangeArrowheads="1"/>
          </p:cNvPicPr>
          <p:nvPr/>
        </p:nvPicPr>
        <p:blipFill>
          <a:blip r:embed="rId2"/>
          <a:srcRect/>
          <a:stretch>
            <a:fillRect/>
          </a:stretch>
        </p:blipFill>
        <p:spPr bwMode="auto">
          <a:xfrm>
            <a:off x="0" y="0"/>
            <a:ext cx="1285884" cy="1071570"/>
          </a:xfrm>
          <a:prstGeom prst="rect">
            <a:avLst/>
          </a:prstGeom>
          <a:noFill/>
        </p:spPr>
      </p:pic>
      <p:pic>
        <p:nvPicPr>
          <p:cNvPr id="7" name="Picture 2" descr="Home - Information Science and Engineering">
            <a:extLst>
              <a:ext uri="{FF2B5EF4-FFF2-40B4-BE49-F238E27FC236}">
                <a16:creationId xmlns:a16="http://schemas.microsoft.com/office/drawing/2014/main" id="{3136F826-79E1-D170-D6D1-CDC9EE642E73}"/>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5C8BC200-1647-3FB6-9ED5-DC27828330E1}"/>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1CF8FFDE-CB8C-9763-FBFF-52343E1B21D1}"/>
              </a:ext>
            </a:extLst>
          </p:cNvPr>
          <p:cNvCxnSpPr>
            <a:cxnSpLocks/>
          </p:cNvCxnSpPr>
          <p:nvPr/>
        </p:nvCxnSpPr>
        <p:spPr>
          <a:xfrm>
            <a:off x="0" y="6353174"/>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2" name="Footer Placeholder 11">
            <a:extLst>
              <a:ext uri="{FF2B5EF4-FFF2-40B4-BE49-F238E27FC236}">
                <a16:creationId xmlns:a16="http://schemas.microsoft.com/office/drawing/2014/main" id="{A95D187F-B684-1999-004A-B6511AF8D5E0}"/>
              </a:ext>
            </a:extLst>
          </p:cNvPr>
          <p:cNvSpPr>
            <a:spLocks noGrp="1"/>
          </p:cNvSpPr>
          <p:nvPr>
            <p:ph type="ftr" sz="quarter" idx="11"/>
          </p:nvPr>
        </p:nvSpPr>
        <p:spPr/>
        <p:txBody>
          <a:bodyPr/>
          <a:lstStyle/>
          <a:p>
            <a:r>
              <a:rPr lang="en-US"/>
              <a:t>Autonomous Multi-Agent V2V Simulation with MetaDrive</a:t>
            </a:r>
          </a:p>
        </p:txBody>
      </p:sp>
      <p:sp>
        <p:nvSpPr>
          <p:cNvPr id="13" name="Slide Number Placeholder 12">
            <a:extLst>
              <a:ext uri="{FF2B5EF4-FFF2-40B4-BE49-F238E27FC236}">
                <a16:creationId xmlns:a16="http://schemas.microsoft.com/office/drawing/2014/main" id="{F3C25155-15F6-062A-76C9-0DF52C31A63C}"/>
              </a:ext>
            </a:extLst>
          </p:cNvPr>
          <p:cNvSpPr>
            <a:spLocks noGrp="1"/>
          </p:cNvSpPr>
          <p:nvPr>
            <p:ph type="sldNum" sz="quarter" idx="12"/>
          </p:nvPr>
        </p:nvSpPr>
        <p:spPr/>
        <p:txBody>
          <a:bodyPr/>
          <a:lstStyle/>
          <a:p>
            <a:fld id="{FC6170F0-41F2-461F-AAB8-A7A369DA6ABC}" type="slidenum">
              <a:rPr lang="en-US" smtClean="0"/>
              <a:pPr/>
              <a:t>6</a:t>
            </a:fld>
            <a:endParaRPr lang="en-US"/>
          </a:p>
        </p:txBody>
      </p:sp>
    </p:spTree>
    <p:extLst>
      <p:ext uri="{BB962C8B-B14F-4D97-AF65-F5344CB8AC3E}">
        <p14:creationId xmlns:p14="http://schemas.microsoft.com/office/powerpoint/2010/main" val="1419672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C4761-0CA5-89BA-8D65-7904C0EA43A8}"/>
              </a:ext>
            </a:extLst>
          </p:cNvPr>
          <p:cNvSpPr>
            <a:spLocks noGrp="1"/>
          </p:cNvSpPr>
          <p:nvPr>
            <p:ph type="title"/>
          </p:nvPr>
        </p:nvSpPr>
        <p:spPr>
          <a:xfrm>
            <a:off x="0" y="0"/>
            <a:ext cx="9144000" cy="1196752"/>
          </a:xfrm>
        </p:spPr>
        <p:txBody>
          <a:bodyPr>
            <a:normAutofit fontScale="90000"/>
          </a:bodyPr>
          <a:lstStyle/>
          <a:p>
            <a:br>
              <a:rPr lang="en-IN" b="1" dirty="0">
                <a:solidFill>
                  <a:schemeClr val="accent5">
                    <a:lumMod val="75000"/>
                  </a:schemeClr>
                </a:solidFill>
                <a:latin typeface="Times New Roman" panose="02020603050405020304" pitchFamily="18" charset="0"/>
                <a:cs typeface="Times New Roman" panose="02020603050405020304" pitchFamily="18" charset="0"/>
              </a:rPr>
            </a:br>
            <a:r>
              <a:rPr lang="en-IN" sz="3600" b="1" dirty="0">
                <a:solidFill>
                  <a:schemeClr val="accent1">
                    <a:lumMod val="50000"/>
                  </a:schemeClr>
                </a:solidFill>
                <a:latin typeface="Times New Roman" panose="02020603050405020304" pitchFamily="18" charset="0"/>
                <a:cs typeface="Times New Roman" panose="02020603050405020304" pitchFamily="18" charset="0"/>
              </a:rPr>
              <a:t>EXISTING SYSTEM</a:t>
            </a:r>
            <a:br>
              <a:rPr lang="en-IN" b="1" dirty="0">
                <a:solidFill>
                  <a:schemeClr val="accent5">
                    <a:lumMod val="75000"/>
                  </a:schemeClr>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D282F31-EF81-BDAC-A268-1A48E45A06B2}"/>
              </a:ext>
            </a:extLst>
          </p:cNvPr>
          <p:cNvSpPr>
            <a:spLocks noGrp="1"/>
          </p:cNvSpPr>
          <p:nvPr>
            <p:ph idx="1"/>
          </p:nvPr>
        </p:nvSpPr>
        <p:spPr>
          <a:xfrm>
            <a:off x="539552" y="1311494"/>
            <a:ext cx="8064896" cy="4752528"/>
          </a:xfrm>
        </p:spPr>
        <p:txBody>
          <a:bodyPr>
            <a:normAutofit/>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Existing autonomous driving systems rely only on onboard sensors like LiDAR, cameras, and RADAR, causing each vehicle to operate independently without any V2V communication. This isolation limits situational awareness, creates blind spots, and reduces the ability to predict the behavior of nearby vehicles. Most simulation frameworks also focus on single-agent models, offering minimal support for cooperative decision-making. As a result, vehicles often show delayed reactions, inefficient maneuvers, and increased collision risk in dynamic traffic. These limitations highlight the need for a coordinated, communication-enabled multi-agent simulation to achieve safer autonomous driving.</a:t>
            </a:r>
            <a:endParaRPr lang="en-IN" sz="1900" dirty="0">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5865189D-61B3-E4A2-0BD1-09B03B9770D6}"/>
              </a:ext>
            </a:extLst>
          </p:cNvPr>
          <p:cNvPicPr>
            <a:picLocks noChangeAspect="1" noChangeArrowheads="1"/>
          </p:cNvPicPr>
          <p:nvPr/>
        </p:nvPicPr>
        <p:blipFill>
          <a:blip r:embed="rId2"/>
          <a:srcRect/>
          <a:stretch>
            <a:fillRect/>
          </a:stretch>
        </p:blipFill>
        <p:spPr bwMode="auto">
          <a:xfrm>
            <a:off x="0" y="0"/>
            <a:ext cx="1285884" cy="1000108"/>
          </a:xfrm>
          <a:prstGeom prst="rect">
            <a:avLst/>
          </a:prstGeom>
          <a:noFill/>
        </p:spPr>
      </p:pic>
      <p:pic>
        <p:nvPicPr>
          <p:cNvPr id="8" name="Picture 2" descr="Home - Information Science and Engineering">
            <a:extLst>
              <a:ext uri="{FF2B5EF4-FFF2-40B4-BE49-F238E27FC236}">
                <a16:creationId xmlns:a16="http://schemas.microsoft.com/office/drawing/2014/main" id="{3A457C56-C744-9D4D-3EAB-9BD910B17984}"/>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9" name="Straight Connector 8">
            <a:extLst>
              <a:ext uri="{FF2B5EF4-FFF2-40B4-BE49-F238E27FC236}">
                <a16:creationId xmlns:a16="http://schemas.microsoft.com/office/drawing/2014/main" id="{CCBCF9AE-3BA7-B35F-E07F-DE47102F556D}"/>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0" name="Straight Connector 9">
            <a:extLst>
              <a:ext uri="{FF2B5EF4-FFF2-40B4-BE49-F238E27FC236}">
                <a16:creationId xmlns:a16="http://schemas.microsoft.com/office/drawing/2014/main" id="{2769EC43-DF85-0772-73A2-85494C202830}"/>
              </a:ext>
            </a:extLst>
          </p:cNvPr>
          <p:cNvCxnSpPr>
            <a:cxnSpLocks/>
          </p:cNvCxnSpPr>
          <p:nvPr/>
        </p:nvCxnSpPr>
        <p:spPr>
          <a:xfrm>
            <a:off x="0" y="6353174"/>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2" name="Footer Placeholder 11">
            <a:extLst>
              <a:ext uri="{FF2B5EF4-FFF2-40B4-BE49-F238E27FC236}">
                <a16:creationId xmlns:a16="http://schemas.microsoft.com/office/drawing/2014/main" id="{167EEB86-3070-726B-D728-CAAD77C9D2A3}"/>
              </a:ext>
            </a:extLst>
          </p:cNvPr>
          <p:cNvSpPr>
            <a:spLocks noGrp="1"/>
          </p:cNvSpPr>
          <p:nvPr>
            <p:ph type="ftr" sz="quarter" idx="11"/>
          </p:nvPr>
        </p:nvSpPr>
        <p:spPr/>
        <p:txBody>
          <a:bodyPr/>
          <a:lstStyle/>
          <a:p>
            <a:r>
              <a:rPr lang="en-US"/>
              <a:t>Autonomous Multi-Agent V2V Simulation with MetaDrive</a:t>
            </a:r>
          </a:p>
        </p:txBody>
      </p:sp>
      <p:sp>
        <p:nvSpPr>
          <p:cNvPr id="13" name="Slide Number Placeholder 12">
            <a:extLst>
              <a:ext uri="{FF2B5EF4-FFF2-40B4-BE49-F238E27FC236}">
                <a16:creationId xmlns:a16="http://schemas.microsoft.com/office/drawing/2014/main" id="{0A00540C-D2F6-F8CD-C94F-1D4132282CA5}"/>
              </a:ext>
            </a:extLst>
          </p:cNvPr>
          <p:cNvSpPr>
            <a:spLocks noGrp="1"/>
          </p:cNvSpPr>
          <p:nvPr>
            <p:ph type="sldNum" sz="quarter" idx="12"/>
          </p:nvPr>
        </p:nvSpPr>
        <p:spPr/>
        <p:txBody>
          <a:bodyPr/>
          <a:lstStyle/>
          <a:p>
            <a:fld id="{FC6170F0-41F2-461F-AAB8-A7A369DA6ABC}" type="slidenum">
              <a:rPr lang="en-US" smtClean="0"/>
              <a:pPr/>
              <a:t>7</a:t>
            </a:fld>
            <a:endParaRPr lang="en-US"/>
          </a:p>
        </p:txBody>
      </p:sp>
    </p:spTree>
    <p:extLst>
      <p:ext uri="{BB962C8B-B14F-4D97-AF65-F5344CB8AC3E}">
        <p14:creationId xmlns:p14="http://schemas.microsoft.com/office/powerpoint/2010/main" val="1232386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E13C1-67E5-F7AA-9F76-E08ABFFF71D1}"/>
              </a:ext>
            </a:extLst>
          </p:cNvPr>
          <p:cNvSpPr>
            <a:spLocks noGrp="1"/>
          </p:cNvSpPr>
          <p:nvPr>
            <p:ph type="title"/>
          </p:nvPr>
        </p:nvSpPr>
        <p:spPr>
          <a:xfrm>
            <a:off x="0" y="0"/>
            <a:ext cx="9144000" cy="1116740"/>
          </a:xfrm>
        </p:spPr>
        <p:txBody>
          <a:bodyPr>
            <a:normAutofit/>
          </a:bodyPr>
          <a:lstStyle/>
          <a:p>
            <a:br>
              <a:rPr lang="en-IN" sz="3200" b="1" dirty="0">
                <a:solidFill>
                  <a:schemeClr val="accent5">
                    <a:lumMod val="75000"/>
                  </a:schemeClr>
                </a:solidFill>
                <a:latin typeface="Times New Roman" panose="02020603050405020304" pitchFamily="18" charset="0"/>
                <a:cs typeface="Times New Roman" panose="02020603050405020304" pitchFamily="18" charset="0"/>
              </a:rPr>
            </a:br>
            <a:r>
              <a:rPr lang="en-IN" sz="3200" b="1" dirty="0">
                <a:solidFill>
                  <a:schemeClr val="accent1">
                    <a:lumMod val="50000"/>
                  </a:schemeClr>
                </a:solidFill>
                <a:latin typeface="Times New Roman" panose="02020603050405020304" pitchFamily="18" charset="0"/>
                <a:cs typeface="Times New Roman" panose="02020603050405020304" pitchFamily="18" charset="0"/>
              </a:rPr>
              <a:t>PROPOSED SYSTEM</a:t>
            </a:r>
            <a:endParaRPr lang="en-IN" sz="3200" dirty="0">
              <a:solidFill>
                <a:schemeClr val="accent1">
                  <a:lumMod val="50000"/>
                </a:schemeClr>
              </a:solidFill>
            </a:endParaRPr>
          </a:p>
        </p:txBody>
      </p:sp>
      <p:sp>
        <p:nvSpPr>
          <p:cNvPr id="3" name="Content Placeholder 2">
            <a:extLst>
              <a:ext uri="{FF2B5EF4-FFF2-40B4-BE49-F238E27FC236}">
                <a16:creationId xmlns:a16="http://schemas.microsoft.com/office/drawing/2014/main" id="{3EB86BC9-C3FC-FC42-8C3B-00C1EEFCECF4}"/>
              </a:ext>
            </a:extLst>
          </p:cNvPr>
          <p:cNvSpPr>
            <a:spLocks noGrp="1"/>
          </p:cNvSpPr>
          <p:nvPr>
            <p:ph idx="1"/>
          </p:nvPr>
        </p:nvSpPr>
        <p:spPr>
          <a:xfrm>
            <a:off x="457200" y="1186614"/>
            <a:ext cx="8229600" cy="5169736"/>
          </a:xfrm>
        </p:spPr>
        <p:txBody>
          <a:bodyPr>
            <a:normAutofit/>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The proposed system integrates the </a:t>
            </a:r>
            <a:r>
              <a:rPr lang="en-US" sz="1900" dirty="0" err="1">
                <a:latin typeface="Times New Roman" panose="02020603050405020304" pitchFamily="18" charset="0"/>
                <a:cs typeface="Times New Roman" panose="02020603050405020304" pitchFamily="18" charset="0"/>
              </a:rPr>
              <a:t>MetaDrive</a:t>
            </a:r>
            <a:r>
              <a:rPr lang="en-US" sz="1900" dirty="0">
                <a:latin typeface="Times New Roman" panose="02020603050405020304" pitchFamily="18" charset="0"/>
                <a:cs typeface="Times New Roman" panose="02020603050405020304" pitchFamily="18" charset="0"/>
              </a:rPr>
              <a:t> simulation platform with a custom-built V2V communication framework. Each vehicle operates as an autonomous agent, equipped with virtual sensors such as Lidar, lane detectors, and obstacle detectors. The system enables vehicles to broadcast their state information—such as location, speed, orientation, and detected obstacles—to surrounding agents. All messages are encrypted before transmission to ensure both privacy and security. The decision-making layer of each vehicle combines sensor inputs with shared V2V data to perform trajectory planning, braking decisions, lane changes, and avoidance maneuvers. This creates an environment where vehicles behave collectively and intelligently, resulting in safer and more coordinated motion.</a:t>
            </a:r>
            <a:endParaRPr lang="en-IN" sz="1900" dirty="0">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30EBB271-C1D4-4BEB-F423-283B09AE706A}"/>
              </a:ext>
            </a:extLst>
          </p:cNvPr>
          <p:cNvPicPr>
            <a:picLocks noChangeAspect="1" noChangeArrowheads="1"/>
          </p:cNvPicPr>
          <p:nvPr/>
        </p:nvPicPr>
        <p:blipFill>
          <a:blip r:embed="rId2"/>
          <a:srcRect/>
          <a:stretch>
            <a:fillRect/>
          </a:stretch>
        </p:blipFill>
        <p:spPr bwMode="auto">
          <a:xfrm>
            <a:off x="0" y="26949"/>
            <a:ext cx="1285884" cy="1000108"/>
          </a:xfrm>
          <a:prstGeom prst="rect">
            <a:avLst/>
          </a:prstGeom>
          <a:noFill/>
        </p:spPr>
      </p:pic>
      <p:pic>
        <p:nvPicPr>
          <p:cNvPr id="7" name="Picture 2" descr="Home - Information Science and Engineering">
            <a:extLst>
              <a:ext uri="{FF2B5EF4-FFF2-40B4-BE49-F238E27FC236}">
                <a16:creationId xmlns:a16="http://schemas.microsoft.com/office/drawing/2014/main" id="{76F3FC3D-DFD2-56ED-EAAD-A1C5A1766B01}"/>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2D475AE7-85CB-D391-27C0-A724B920C7C7}"/>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20258189-7827-0123-49D9-EA58949F1813}"/>
              </a:ext>
            </a:extLst>
          </p:cNvPr>
          <p:cNvCxnSpPr>
            <a:cxnSpLocks/>
          </p:cNvCxnSpPr>
          <p:nvPr/>
        </p:nvCxnSpPr>
        <p:spPr>
          <a:xfrm>
            <a:off x="0" y="6353174"/>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2" name="Footer Placeholder 11">
            <a:extLst>
              <a:ext uri="{FF2B5EF4-FFF2-40B4-BE49-F238E27FC236}">
                <a16:creationId xmlns:a16="http://schemas.microsoft.com/office/drawing/2014/main" id="{47FE6BDC-D9A2-54F1-ABA2-A00F065A13FE}"/>
              </a:ext>
            </a:extLst>
          </p:cNvPr>
          <p:cNvSpPr>
            <a:spLocks noGrp="1"/>
          </p:cNvSpPr>
          <p:nvPr>
            <p:ph type="ftr" sz="quarter" idx="11"/>
          </p:nvPr>
        </p:nvSpPr>
        <p:spPr/>
        <p:txBody>
          <a:bodyPr/>
          <a:lstStyle/>
          <a:p>
            <a:r>
              <a:rPr lang="en-US"/>
              <a:t>Autonomous Multi-Agent V2V Simulation with MetaDrive</a:t>
            </a:r>
          </a:p>
        </p:txBody>
      </p:sp>
      <p:sp>
        <p:nvSpPr>
          <p:cNvPr id="13" name="Slide Number Placeholder 12">
            <a:extLst>
              <a:ext uri="{FF2B5EF4-FFF2-40B4-BE49-F238E27FC236}">
                <a16:creationId xmlns:a16="http://schemas.microsoft.com/office/drawing/2014/main" id="{42DA6BEE-1EEB-4D46-B70A-E9BC2227F4CE}"/>
              </a:ext>
            </a:extLst>
          </p:cNvPr>
          <p:cNvSpPr>
            <a:spLocks noGrp="1"/>
          </p:cNvSpPr>
          <p:nvPr>
            <p:ph type="sldNum" sz="quarter" idx="12"/>
          </p:nvPr>
        </p:nvSpPr>
        <p:spPr/>
        <p:txBody>
          <a:bodyPr/>
          <a:lstStyle/>
          <a:p>
            <a:fld id="{FC6170F0-41F2-461F-AAB8-A7A369DA6ABC}" type="slidenum">
              <a:rPr lang="en-US" smtClean="0"/>
              <a:pPr/>
              <a:t>8</a:t>
            </a:fld>
            <a:endParaRPr lang="en-US"/>
          </a:p>
        </p:txBody>
      </p:sp>
    </p:spTree>
    <p:extLst>
      <p:ext uri="{BB962C8B-B14F-4D97-AF65-F5344CB8AC3E}">
        <p14:creationId xmlns:p14="http://schemas.microsoft.com/office/powerpoint/2010/main" val="4160876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5A31F-0380-A004-6922-6B50BB7EE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5BFA7-67DC-3139-27E8-1FF522D1DCE3}"/>
              </a:ext>
            </a:extLst>
          </p:cNvPr>
          <p:cNvSpPr>
            <a:spLocks noGrp="1"/>
          </p:cNvSpPr>
          <p:nvPr>
            <p:ph type="ctrTitle"/>
          </p:nvPr>
        </p:nvSpPr>
        <p:spPr>
          <a:xfrm>
            <a:off x="0" y="0"/>
            <a:ext cx="9144000" cy="1470025"/>
          </a:xfrm>
        </p:spPr>
        <p:txBody>
          <a:bodyPr>
            <a:normAutofit/>
          </a:bodyPr>
          <a:lstStyle/>
          <a:p>
            <a:r>
              <a:rPr lang="en-US" sz="3200" b="1" dirty="0">
                <a:latin typeface="Times New Roman" panose="02020603050405020304" pitchFamily="18" charset="0"/>
                <a:ea typeface="Prompt Medium" pitchFamily="34" charset="-122"/>
                <a:cs typeface="Times New Roman" panose="02020603050405020304" pitchFamily="18" charset="0"/>
              </a:rPr>
              <a:t>SYSTEM ARCHITECTURE</a:t>
            </a:r>
            <a:endParaRPr lang="en-US" sz="3200" b="1" dirty="0">
              <a:latin typeface="Times New Roman" panose="02020603050405020304" pitchFamily="18" charset="0"/>
              <a:cs typeface="Times New Roman" panose="02020603050405020304" pitchFamily="18" charset="0"/>
            </a:endParaRPr>
          </a:p>
        </p:txBody>
      </p:sp>
      <p:pic>
        <p:nvPicPr>
          <p:cNvPr id="1027" name="Picture 3" descr="C:\Users\welco_koih58\OneDrive\Desktop\download.jpg">
            <a:extLst>
              <a:ext uri="{FF2B5EF4-FFF2-40B4-BE49-F238E27FC236}">
                <a16:creationId xmlns:a16="http://schemas.microsoft.com/office/drawing/2014/main" id="{0933A320-514C-745D-8BE9-091BB721EEBA}"/>
              </a:ext>
            </a:extLst>
          </p:cNvPr>
          <p:cNvPicPr>
            <a:picLocks noChangeAspect="1" noChangeArrowheads="1"/>
          </p:cNvPicPr>
          <p:nvPr/>
        </p:nvPicPr>
        <p:blipFill>
          <a:blip r:embed="rId3"/>
          <a:srcRect/>
          <a:stretch>
            <a:fillRect/>
          </a:stretch>
        </p:blipFill>
        <p:spPr bwMode="auto">
          <a:xfrm>
            <a:off x="0" y="0"/>
            <a:ext cx="1285884" cy="1071570"/>
          </a:xfrm>
          <a:prstGeom prst="rect">
            <a:avLst/>
          </a:prstGeom>
          <a:noFill/>
        </p:spPr>
      </p:pic>
      <p:cxnSp>
        <p:nvCxnSpPr>
          <p:cNvPr id="13" name="Straight Connector 12">
            <a:extLst>
              <a:ext uri="{FF2B5EF4-FFF2-40B4-BE49-F238E27FC236}">
                <a16:creationId xmlns:a16="http://schemas.microsoft.com/office/drawing/2014/main" id="{5354FE3F-1728-3127-7784-67FA3857AAE9}"/>
              </a:ext>
            </a:extLst>
          </p:cNvPr>
          <p:cNvCxnSpPr/>
          <p:nvPr/>
        </p:nvCxnSpPr>
        <p:spPr>
          <a:xfrm>
            <a:off x="0" y="114298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67E390C2-4F2D-CD33-6D69-FFE81E570B52}"/>
              </a:ext>
            </a:extLst>
          </p:cNvPr>
          <p:cNvCxnSpPr/>
          <p:nvPr/>
        </p:nvCxnSpPr>
        <p:spPr>
          <a:xfrm>
            <a:off x="0" y="6357958"/>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pic>
        <p:nvPicPr>
          <p:cNvPr id="1028" name="Picture 2" descr="Home - Information Science and Engineering">
            <a:extLst>
              <a:ext uri="{FF2B5EF4-FFF2-40B4-BE49-F238E27FC236}">
                <a16:creationId xmlns:a16="http://schemas.microsoft.com/office/drawing/2014/main" id="{DBD4F3D7-F9E1-B198-4660-6D0D63187582}"/>
              </a:ext>
            </a:extLst>
          </p:cNvPr>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pic>
        <p:nvPicPr>
          <p:cNvPr id="4" name="Picture 3">
            <a:extLst>
              <a:ext uri="{FF2B5EF4-FFF2-40B4-BE49-F238E27FC236}">
                <a16:creationId xmlns:a16="http://schemas.microsoft.com/office/drawing/2014/main" id="{B86E36CD-764F-2F4E-95F7-3899DDE3CF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504" y="1470025"/>
            <a:ext cx="8928992" cy="4836315"/>
          </a:xfrm>
          <a:prstGeom prst="rect">
            <a:avLst/>
          </a:prstGeom>
        </p:spPr>
      </p:pic>
      <p:sp>
        <p:nvSpPr>
          <p:cNvPr id="6" name="Footer Placeholder 5">
            <a:extLst>
              <a:ext uri="{FF2B5EF4-FFF2-40B4-BE49-F238E27FC236}">
                <a16:creationId xmlns:a16="http://schemas.microsoft.com/office/drawing/2014/main" id="{DD90082B-A604-4E66-E8DF-6D6C6CE389B6}"/>
              </a:ext>
            </a:extLst>
          </p:cNvPr>
          <p:cNvSpPr>
            <a:spLocks noGrp="1"/>
          </p:cNvSpPr>
          <p:nvPr>
            <p:ph type="ftr" sz="quarter" idx="11"/>
          </p:nvPr>
        </p:nvSpPr>
        <p:spPr/>
        <p:txBody>
          <a:bodyPr/>
          <a:lstStyle/>
          <a:p>
            <a:r>
              <a:rPr lang="en-US"/>
              <a:t>Autonomous Multi-Agent V2V Simulation with MetaDrive</a:t>
            </a:r>
          </a:p>
        </p:txBody>
      </p:sp>
      <p:sp>
        <p:nvSpPr>
          <p:cNvPr id="7" name="Slide Number Placeholder 6">
            <a:extLst>
              <a:ext uri="{FF2B5EF4-FFF2-40B4-BE49-F238E27FC236}">
                <a16:creationId xmlns:a16="http://schemas.microsoft.com/office/drawing/2014/main" id="{6F07C699-7E63-4521-D0FE-99BA06B8A1D0}"/>
              </a:ext>
            </a:extLst>
          </p:cNvPr>
          <p:cNvSpPr>
            <a:spLocks noGrp="1"/>
          </p:cNvSpPr>
          <p:nvPr>
            <p:ph type="sldNum" sz="quarter" idx="12"/>
          </p:nvPr>
        </p:nvSpPr>
        <p:spPr/>
        <p:txBody>
          <a:bodyPr/>
          <a:lstStyle/>
          <a:p>
            <a:fld id="{FC6170F0-41F2-461F-AAB8-A7A369DA6ABC}" type="slidenum">
              <a:rPr lang="en-US" smtClean="0"/>
              <a:pPr/>
              <a:t>9</a:t>
            </a:fld>
            <a:endParaRPr lang="en-US"/>
          </a:p>
        </p:txBody>
      </p:sp>
    </p:spTree>
    <p:extLst>
      <p:ext uri="{BB962C8B-B14F-4D97-AF65-F5344CB8AC3E}">
        <p14:creationId xmlns:p14="http://schemas.microsoft.com/office/powerpoint/2010/main" val="216309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C932-2C7E-5F7B-3C25-9B98A79D9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18F01-AFE5-0548-0876-F3F304DADA7F}"/>
              </a:ext>
            </a:extLst>
          </p:cNvPr>
          <p:cNvSpPr>
            <a:spLocks noGrp="1"/>
          </p:cNvSpPr>
          <p:nvPr>
            <p:ph type="ctrTitle"/>
          </p:nvPr>
        </p:nvSpPr>
        <p:spPr>
          <a:xfrm>
            <a:off x="0" y="0"/>
            <a:ext cx="9144000" cy="1470025"/>
          </a:xfrm>
        </p:spPr>
        <p:txBody>
          <a:bodyPr>
            <a:normAutofit/>
          </a:bodyPr>
          <a:lstStyle/>
          <a:p>
            <a:r>
              <a:rPr lang="en-US" sz="3200" b="1" dirty="0">
                <a:latin typeface="Times New Roman" panose="02020603050405020304" pitchFamily="18" charset="0"/>
                <a:ea typeface="Prompt Medium" pitchFamily="34" charset="-122"/>
                <a:cs typeface="Times New Roman" panose="02020603050405020304" pitchFamily="18" charset="0"/>
              </a:rPr>
              <a:t>SYSTEM ARCHITECTURE</a:t>
            </a:r>
            <a:endParaRPr lang="en-US" sz="3200" b="1" dirty="0">
              <a:latin typeface="Times New Roman" panose="02020603050405020304" pitchFamily="18" charset="0"/>
              <a:cs typeface="Times New Roman" panose="02020603050405020304" pitchFamily="18" charset="0"/>
            </a:endParaRPr>
          </a:p>
        </p:txBody>
      </p:sp>
      <p:pic>
        <p:nvPicPr>
          <p:cNvPr id="1027" name="Picture 3" descr="C:\Users\welco_koih58\OneDrive\Desktop\download.jpg">
            <a:extLst>
              <a:ext uri="{FF2B5EF4-FFF2-40B4-BE49-F238E27FC236}">
                <a16:creationId xmlns:a16="http://schemas.microsoft.com/office/drawing/2014/main" id="{7768896D-6DFC-F2E4-2BE5-660B4A6F37D6}"/>
              </a:ext>
            </a:extLst>
          </p:cNvPr>
          <p:cNvPicPr>
            <a:picLocks noChangeAspect="1" noChangeArrowheads="1"/>
          </p:cNvPicPr>
          <p:nvPr/>
        </p:nvPicPr>
        <p:blipFill>
          <a:blip r:embed="rId3"/>
          <a:srcRect/>
          <a:stretch>
            <a:fillRect/>
          </a:stretch>
        </p:blipFill>
        <p:spPr bwMode="auto">
          <a:xfrm>
            <a:off x="0" y="0"/>
            <a:ext cx="1285884" cy="1071570"/>
          </a:xfrm>
          <a:prstGeom prst="rect">
            <a:avLst/>
          </a:prstGeom>
          <a:noFill/>
        </p:spPr>
      </p:pic>
      <p:cxnSp>
        <p:nvCxnSpPr>
          <p:cNvPr id="13" name="Straight Connector 12">
            <a:extLst>
              <a:ext uri="{FF2B5EF4-FFF2-40B4-BE49-F238E27FC236}">
                <a16:creationId xmlns:a16="http://schemas.microsoft.com/office/drawing/2014/main" id="{6345C6AA-0158-F439-B524-31F004A20B84}"/>
              </a:ext>
            </a:extLst>
          </p:cNvPr>
          <p:cNvCxnSpPr/>
          <p:nvPr/>
        </p:nvCxnSpPr>
        <p:spPr>
          <a:xfrm>
            <a:off x="0" y="114298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0A27D64F-FC08-4946-FAB5-13A1E0A4F689}"/>
              </a:ext>
            </a:extLst>
          </p:cNvPr>
          <p:cNvCxnSpPr/>
          <p:nvPr/>
        </p:nvCxnSpPr>
        <p:spPr>
          <a:xfrm>
            <a:off x="0" y="6357958"/>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pic>
        <p:nvPicPr>
          <p:cNvPr id="1028" name="Picture 2" descr="Home - Information Science and Engineering">
            <a:extLst>
              <a:ext uri="{FF2B5EF4-FFF2-40B4-BE49-F238E27FC236}">
                <a16:creationId xmlns:a16="http://schemas.microsoft.com/office/drawing/2014/main" id="{614479FB-AA8D-3F6E-8CDA-C568631C6BA4}"/>
              </a:ext>
            </a:extLst>
          </p:cNvPr>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graphicFrame>
        <p:nvGraphicFramePr>
          <p:cNvPr id="5" name="Table 4">
            <a:extLst>
              <a:ext uri="{FF2B5EF4-FFF2-40B4-BE49-F238E27FC236}">
                <a16:creationId xmlns:a16="http://schemas.microsoft.com/office/drawing/2014/main" id="{D97223C1-54FA-DFF8-2052-1EE80F0079EB}"/>
              </a:ext>
            </a:extLst>
          </p:cNvPr>
          <p:cNvGraphicFramePr>
            <a:graphicFrameLocks noGrp="1"/>
          </p:cNvGraphicFramePr>
          <p:nvPr/>
        </p:nvGraphicFramePr>
        <p:xfrm>
          <a:off x="415627" y="1598024"/>
          <a:ext cx="8312745" cy="4288409"/>
        </p:xfrm>
        <a:graphic>
          <a:graphicData uri="http://schemas.openxmlformats.org/drawingml/2006/table">
            <a:tbl>
              <a:tblPr firstRow="1" firstCol="1" bandRow="1">
                <a:tableStyleId>{72833802-FEF1-4C79-8D5D-14CF1EAF98D9}</a:tableStyleId>
              </a:tblPr>
              <a:tblGrid>
                <a:gridCol w="2237724">
                  <a:extLst>
                    <a:ext uri="{9D8B030D-6E8A-4147-A177-3AD203B41FA5}">
                      <a16:colId xmlns:a16="http://schemas.microsoft.com/office/drawing/2014/main" val="869541257"/>
                    </a:ext>
                  </a:extLst>
                </a:gridCol>
                <a:gridCol w="2089465">
                  <a:extLst>
                    <a:ext uri="{9D8B030D-6E8A-4147-A177-3AD203B41FA5}">
                      <a16:colId xmlns:a16="http://schemas.microsoft.com/office/drawing/2014/main" val="1165214705"/>
                    </a:ext>
                  </a:extLst>
                </a:gridCol>
                <a:gridCol w="3985556">
                  <a:extLst>
                    <a:ext uri="{9D8B030D-6E8A-4147-A177-3AD203B41FA5}">
                      <a16:colId xmlns:a16="http://schemas.microsoft.com/office/drawing/2014/main" val="3195689991"/>
                    </a:ext>
                  </a:extLst>
                </a:gridCol>
              </a:tblGrid>
              <a:tr h="432946">
                <a:tc>
                  <a:txBody>
                    <a:bodyPr/>
                    <a:lstStyle/>
                    <a:p>
                      <a:pPr>
                        <a:lnSpc>
                          <a:spcPct val="115000"/>
                        </a:lnSpc>
                        <a:spcAft>
                          <a:spcPts val="800"/>
                        </a:spcAft>
                        <a:buNone/>
                      </a:pPr>
                      <a:r>
                        <a:rPr lang="en-IN" sz="1200" kern="100">
                          <a:effectLst/>
                        </a:rPr>
                        <a:t>Section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Module/File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dirty="0">
                          <a:effectLst/>
                        </a:rPr>
                        <a:t>Description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1986588"/>
                  </a:ext>
                </a:extLst>
              </a:tr>
              <a:tr h="432946">
                <a:tc>
                  <a:txBody>
                    <a:bodyPr/>
                    <a:lstStyle/>
                    <a:p>
                      <a:pPr>
                        <a:lnSpc>
                          <a:spcPct val="115000"/>
                        </a:lnSpc>
                        <a:spcAft>
                          <a:spcPts val="800"/>
                        </a:spcAft>
                        <a:buNone/>
                      </a:pPr>
                      <a:r>
                        <a:rPr lang="en-IN" sz="1200" kern="100">
                          <a:effectLst/>
                        </a:rPr>
                        <a:t>1. communication/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dirty="0">
                          <a:effectLst/>
                        </a:rPr>
                        <a:t>broadcaster.py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dirty="0">
                          <a:effectLst/>
                        </a:rPr>
                        <a:t>Encrypts and transmits V2V messages.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7608536"/>
                  </a:ext>
                </a:extLst>
              </a:tr>
              <a:tr h="432946">
                <a:tc>
                  <a:txBody>
                    <a:bodyPr/>
                    <a:lstStyle/>
                    <a:p>
                      <a:pPr>
                        <a:buNone/>
                      </a:pPr>
                      <a:endParaRPr lang="en-IN" sz="1200" kern="10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receiver.py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dirty="0">
                          <a:effectLst/>
                        </a:rPr>
                        <a:t>Receives and decrypts incoming data.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0917509"/>
                  </a:ext>
                </a:extLst>
              </a:tr>
              <a:tr h="432946">
                <a:tc>
                  <a:txBody>
                    <a:bodyPr/>
                    <a:lstStyle/>
                    <a:p>
                      <a:pPr>
                        <a:buNone/>
                      </a:pPr>
                      <a:endParaRPr lang="en-IN" sz="1200" kern="10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dirty="0">
                          <a:effectLst/>
                        </a:rPr>
                        <a:t>encryption_utils.py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Key generation and Fernet encryption layer.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1666436"/>
                  </a:ext>
                </a:extLst>
              </a:tr>
              <a:tr h="432946">
                <a:tc>
                  <a:txBody>
                    <a:bodyPr/>
                    <a:lstStyle/>
                    <a:p>
                      <a:pPr>
                        <a:lnSpc>
                          <a:spcPct val="115000"/>
                        </a:lnSpc>
                        <a:spcAft>
                          <a:spcPts val="800"/>
                        </a:spcAft>
                        <a:buNone/>
                      </a:pPr>
                      <a:r>
                        <a:rPr lang="en-IN" sz="1200" kern="100">
                          <a:effectLst/>
                        </a:rPr>
                        <a:t>2. metadrive_env/</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env_manager.py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Multi-agent environment orchestration and simulation loop.</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2747069"/>
                  </a:ext>
                </a:extLst>
              </a:tr>
              <a:tr h="432946">
                <a:tc>
                  <a:txBody>
                    <a:bodyPr/>
                    <a:lstStyle/>
                    <a:p>
                      <a:pPr>
                        <a:buNone/>
                      </a:pPr>
                      <a:endParaRPr lang="en-IN" sz="1200" kern="10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vehicle_manager.py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Individual vehicle state management and control interface.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4623640"/>
                  </a:ext>
                </a:extLst>
              </a:tr>
              <a:tr h="432946">
                <a:tc>
                  <a:txBody>
                    <a:bodyPr/>
                    <a:lstStyle/>
                    <a:p>
                      <a:pPr>
                        <a:lnSpc>
                          <a:spcPct val="115000"/>
                        </a:lnSpc>
                        <a:spcAft>
                          <a:spcPts val="800"/>
                        </a:spcAft>
                        <a:buNone/>
                      </a:pPr>
                      <a:r>
                        <a:rPr lang="en-IN" sz="1200" kern="100">
                          <a:effectLst/>
                        </a:rPr>
                        <a:t>3. decision_engine/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planning_module.py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Trajectory planning algorithms.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0863282"/>
                  </a:ext>
                </a:extLst>
              </a:tr>
              <a:tr h="391895">
                <a:tc>
                  <a:txBody>
                    <a:bodyPr/>
                    <a:lstStyle/>
                    <a:p>
                      <a:pPr>
                        <a:buNone/>
                      </a:pPr>
                      <a:endParaRPr lang="en-IN" sz="1200" kern="10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decision_module.py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High-level behavioral decision-making using V2V data.</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4897491"/>
                  </a:ext>
                </a:extLst>
              </a:tr>
              <a:tr h="432946">
                <a:tc>
                  <a:txBody>
                    <a:bodyPr/>
                    <a:lstStyle/>
                    <a:p>
                      <a:pPr>
                        <a:lnSpc>
                          <a:spcPct val="115000"/>
                        </a:lnSpc>
                        <a:spcAft>
                          <a:spcPts val="800"/>
                        </a:spcAft>
                        <a:buNone/>
                      </a:pPr>
                      <a:r>
                        <a:rPr lang="en-IN" sz="1200" kern="100">
                          <a:effectLst/>
                        </a:rPr>
                        <a:t>4. config/ &amp; Launcher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config.yaml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a:effectLst/>
                        </a:rPr>
                        <a:t>System parameters and vehicle configurations.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0117890"/>
                  </a:ext>
                </a:extLst>
              </a:tr>
              <a:tr h="432946">
                <a:tc>
                  <a:txBody>
                    <a:bodyPr/>
                    <a:lstStyle/>
                    <a:p>
                      <a:pPr>
                        <a:buNone/>
                      </a:pPr>
                      <a:endParaRPr lang="en-IN" sz="1200" kern="10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dirty="0">
                          <a:effectLst/>
                        </a:rPr>
                        <a:t>run_all.py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1200" kern="100" dirty="0">
                          <a:effectLst/>
                        </a:rPr>
                        <a:t>Master orchestrator coordinating all system components.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2854878"/>
                  </a:ext>
                </a:extLst>
              </a:tr>
            </a:tbl>
          </a:graphicData>
        </a:graphic>
      </p:graphicFrame>
      <p:sp>
        <p:nvSpPr>
          <p:cNvPr id="6" name="Footer Placeholder 5">
            <a:extLst>
              <a:ext uri="{FF2B5EF4-FFF2-40B4-BE49-F238E27FC236}">
                <a16:creationId xmlns:a16="http://schemas.microsoft.com/office/drawing/2014/main" id="{DEC743F8-FF09-7A42-B7F8-3304708E01EC}"/>
              </a:ext>
            </a:extLst>
          </p:cNvPr>
          <p:cNvSpPr>
            <a:spLocks noGrp="1"/>
          </p:cNvSpPr>
          <p:nvPr>
            <p:ph type="ftr" sz="quarter" idx="11"/>
          </p:nvPr>
        </p:nvSpPr>
        <p:spPr/>
        <p:txBody>
          <a:bodyPr/>
          <a:lstStyle/>
          <a:p>
            <a:r>
              <a:rPr lang="en-US"/>
              <a:t>Autonomous Multi-Agent V2V Simulation with MetaDrive</a:t>
            </a:r>
          </a:p>
        </p:txBody>
      </p:sp>
      <p:sp>
        <p:nvSpPr>
          <p:cNvPr id="7" name="Slide Number Placeholder 6">
            <a:extLst>
              <a:ext uri="{FF2B5EF4-FFF2-40B4-BE49-F238E27FC236}">
                <a16:creationId xmlns:a16="http://schemas.microsoft.com/office/drawing/2014/main" id="{B3EFC21F-28E4-F1E8-B840-952D04BDB593}"/>
              </a:ext>
            </a:extLst>
          </p:cNvPr>
          <p:cNvSpPr>
            <a:spLocks noGrp="1"/>
          </p:cNvSpPr>
          <p:nvPr>
            <p:ph type="sldNum" sz="quarter" idx="12"/>
          </p:nvPr>
        </p:nvSpPr>
        <p:spPr/>
        <p:txBody>
          <a:bodyPr/>
          <a:lstStyle/>
          <a:p>
            <a:fld id="{FC6170F0-41F2-461F-AAB8-A7A369DA6ABC}" type="slidenum">
              <a:rPr lang="en-US" smtClean="0"/>
              <a:pPr/>
              <a:t>10</a:t>
            </a:fld>
            <a:endParaRPr lang="en-US"/>
          </a:p>
        </p:txBody>
      </p:sp>
    </p:spTree>
    <p:extLst>
      <p:ext uri="{BB962C8B-B14F-4D97-AF65-F5344CB8AC3E}">
        <p14:creationId xmlns:p14="http://schemas.microsoft.com/office/powerpoint/2010/main" val="2242396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89FA1-6CA6-A738-1CDB-4BDAA9A59B60}"/>
              </a:ext>
            </a:extLst>
          </p:cNvPr>
          <p:cNvSpPr>
            <a:spLocks noGrp="1"/>
          </p:cNvSpPr>
          <p:nvPr>
            <p:ph type="title"/>
          </p:nvPr>
        </p:nvSpPr>
        <p:spPr>
          <a:xfrm>
            <a:off x="0" y="0"/>
            <a:ext cx="9144000" cy="1124744"/>
          </a:xfrm>
        </p:spPr>
        <p:txBody>
          <a:bodyPr>
            <a:normAutofit/>
          </a:bodyPr>
          <a:lstStyle/>
          <a:p>
            <a:r>
              <a:rPr lang="en-US" sz="3200" b="1" dirty="0">
                <a:solidFill>
                  <a:schemeClr val="accent5">
                    <a:lumMod val="75000"/>
                  </a:schemeClr>
                </a:solidFill>
                <a:latin typeface="Times New Roman" panose="02020603050405020304" pitchFamily="18" charset="0"/>
                <a:cs typeface="Times New Roman" panose="02020603050405020304" pitchFamily="18" charset="0"/>
              </a:rPr>
              <a:t>RESOURCE REQUIREMENTS</a:t>
            </a:r>
            <a:endParaRPr lang="en-IN" sz="3200" dirty="0">
              <a:solidFill>
                <a:schemeClr val="accent1">
                  <a:lumMod val="50000"/>
                </a:schemeClr>
              </a:solidFill>
            </a:endParaRPr>
          </a:p>
        </p:txBody>
      </p:sp>
      <p:sp>
        <p:nvSpPr>
          <p:cNvPr id="3" name="Content Placeholder 2">
            <a:extLst>
              <a:ext uri="{FF2B5EF4-FFF2-40B4-BE49-F238E27FC236}">
                <a16:creationId xmlns:a16="http://schemas.microsoft.com/office/drawing/2014/main" id="{5812E84D-A431-9A0F-7214-EDDA6F178C3C}"/>
              </a:ext>
            </a:extLst>
          </p:cNvPr>
          <p:cNvSpPr>
            <a:spLocks noGrp="1"/>
          </p:cNvSpPr>
          <p:nvPr>
            <p:ph idx="1"/>
          </p:nvPr>
        </p:nvSpPr>
        <p:spPr>
          <a:xfrm>
            <a:off x="457200" y="1124744"/>
            <a:ext cx="7571184" cy="5231606"/>
          </a:xfrm>
        </p:spPr>
        <p:txBody>
          <a:bodyPr>
            <a:normAutofit fontScale="40000" lnSpcReduction="20000"/>
          </a:bodyPr>
          <a:lstStyle/>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GB" sz="4000" b="1" u="sng"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 Components</a:t>
            </a:r>
          </a:p>
          <a:p>
            <a:pPr>
              <a:lnSpc>
                <a:spcPct val="170000"/>
              </a:lnSpc>
            </a:pPr>
            <a:r>
              <a:rPr lang="en-GB" sz="29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2900" dirty="0">
                <a:latin typeface="Times New Roman" panose="02020603050405020304" pitchFamily="18" charset="0"/>
                <a:cs typeface="Times New Roman" panose="02020603050405020304" pitchFamily="18" charset="0"/>
              </a:rPr>
              <a:t>I5/Intel Processor.</a:t>
            </a:r>
          </a:p>
          <a:p>
            <a:pPr>
              <a:lnSpc>
                <a:spcPct val="170000"/>
              </a:lnSpc>
            </a:pPr>
            <a:r>
              <a:rPr lang="en-IN" sz="2900" b="1" dirty="0">
                <a:latin typeface="Times New Roman" panose="02020603050405020304" pitchFamily="18" charset="0"/>
                <a:cs typeface="Times New Roman" panose="02020603050405020304" pitchFamily="18" charset="0"/>
              </a:rPr>
              <a:t>RAM:</a:t>
            </a:r>
            <a:r>
              <a:rPr lang="en-IN" sz="2900" dirty="0">
                <a:latin typeface="Times New Roman" panose="02020603050405020304" pitchFamily="18" charset="0"/>
                <a:cs typeface="Times New Roman" panose="02020603050405020304" pitchFamily="18" charset="0"/>
              </a:rPr>
              <a:t> 8GB (min)</a:t>
            </a:r>
          </a:p>
          <a:p>
            <a:pPr>
              <a:lnSpc>
                <a:spcPct val="170000"/>
              </a:lnSpc>
            </a:pPr>
            <a:r>
              <a:rPr lang="en-IN" sz="2900" b="1" dirty="0">
                <a:latin typeface="Times New Roman" panose="02020603050405020304" pitchFamily="18" charset="0"/>
                <a:cs typeface="Times New Roman" panose="02020603050405020304" pitchFamily="18" charset="0"/>
              </a:rPr>
              <a:t>Hard Disk: </a:t>
            </a:r>
            <a:r>
              <a:rPr lang="en-IN" sz="2900" dirty="0">
                <a:latin typeface="Times New Roman" panose="02020603050405020304" pitchFamily="18" charset="0"/>
                <a:cs typeface="Times New Roman" panose="02020603050405020304" pitchFamily="18" charset="0"/>
              </a:rPr>
              <a:t>128 GB</a:t>
            </a:r>
            <a:r>
              <a:rPr lang="en-IN" sz="2900" b="1" dirty="0">
                <a:latin typeface="Times New Roman" panose="02020603050405020304" pitchFamily="18" charset="0"/>
                <a:cs typeface="Times New Roman" panose="02020603050405020304" pitchFamily="18" charset="0"/>
              </a:rPr>
              <a:t>,</a:t>
            </a:r>
          </a:p>
          <a:p>
            <a:pPr>
              <a:lnSpc>
                <a:spcPct val="170000"/>
              </a:lnSpc>
            </a:pPr>
            <a:r>
              <a:rPr lang="en-IN" sz="2900" b="1" dirty="0">
                <a:latin typeface="Times New Roman" panose="02020603050405020304" pitchFamily="18" charset="0"/>
                <a:cs typeface="Times New Roman" panose="02020603050405020304" pitchFamily="18" charset="0"/>
              </a:rPr>
              <a:t> Key Board:</a:t>
            </a:r>
            <a:r>
              <a:rPr lang="en-IN" sz="2900" dirty="0">
                <a:latin typeface="Times New Roman" panose="02020603050405020304" pitchFamily="18" charset="0"/>
                <a:cs typeface="Times New Roman" panose="02020603050405020304" pitchFamily="18" charset="0"/>
              </a:rPr>
              <a:t> Standard Windows Keyboard, </a:t>
            </a:r>
          </a:p>
          <a:p>
            <a:pPr>
              <a:lnSpc>
                <a:spcPct val="170000"/>
              </a:lnSpc>
            </a:pPr>
            <a:r>
              <a:rPr lang="en-IN" sz="2900" b="1" dirty="0">
                <a:latin typeface="Times New Roman" panose="02020603050405020304" pitchFamily="18" charset="0"/>
                <a:cs typeface="Times New Roman" panose="02020603050405020304" pitchFamily="18" charset="0"/>
              </a:rPr>
              <a:t> Mouse:</a:t>
            </a:r>
            <a:r>
              <a:rPr lang="en-IN" sz="2900" dirty="0">
                <a:latin typeface="Times New Roman" panose="02020603050405020304" pitchFamily="18" charset="0"/>
                <a:cs typeface="Times New Roman" panose="02020603050405020304" pitchFamily="18" charset="0"/>
              </a:rPr>
              <a:t> Two or Three Button Mouse</a:t>
            </a:r>
            <a:endParaRPr lang="en-GB" sz="2900" u="sng"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a:p>
            <a:pPr marL="0" indent="0">
              <a:buNone/>
            </a:pPr>
            <a:endParaRPr lang="en-IN" sz="1700" dirty="0">
              <a:latin typeface="Times New Roman" panose="02020603050405020304" pitchFamily="18" charset="0"/>
              <a:cs typeface="Times New Roman" panose="02020603050405020304" pitchFamily="18" charset="0"/>
            </a:endParaRPr>
          </a:p>
          <a:p>
            <a:pPr marL="0" indent="0">
              <a:buNone/>
            </a:pPr>
            <a:r>
              <a:rPr lang="en-GB" sz="4000" b="1" u="sng"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 components</a:t>
            </a:r>
          </a:p>
          <a:p>
            <a:pPr>
              <a:lnSpc>
                <a:spcPct val="170000"/>
              </a:lnSpc>
            </a:pPr>
            <a:r>
              <a:rPr lang="en-US" sz="2900" b="1" dirty="0">
                <a:latin typeface="Times New Roman" panose="02020603050405020304" pitchFamily="18" charset="0"/>
                <a:cs typeface="Times New Roman" panose="02020603050405020304" pitchFamily="18" charset="0"/>
              </a:rPr>
              <a:t>Operating System: </a:t>
            </a:r>
            <a:r>
              <a:rPr lang="en-US" sz="2900" dirty="0">
                <a:latin typeface="Times New Roman" panose="02020603050405020304" pitchFamily="18" charset="0"/>
                <a:cs typeface="Times New Roman" panose="02020603050405020304" pitchFamily="18" charset="0"/>
              </a:rPr>
              <a:t>Windows 10</a:t>
            </a:r>
          </a:p>
          <a:p>
            <a:pPr>
              <a:lnSpc>
                <a:spcPct val="170000"/>
              </a:lnSpc>
            </a:pPr>
            <a:r>
              <a:rPr lang="en-US" sz="3000" b="1" dirty="0">
                <a:latin typeface="Times New Roman" panose="02020603050405020304" pitchFamily="18" charset="0"/>
                <a:cs typeface="Times New Roman" panose="02020603050405020304" pitchFamily="18" charset="0"/>
              </a:rPr>
              <a:t>Programming Language: </a:t>
            </a:r>
            <a:r>
              <a:rPr lang="en-US" sz="3000" dirty="0">
                <a:latin typeface="Times New Roman" panose="02020603050405020304" pitchFamily="18" charset="0"/>
                <a:cs typeface="Times New Roman" panose="02020603050405020304" pitchFamily="18" charset="0"/>
              </a:rPr>
              <a:t>Python 3.10.8</a:t>
            </a:r>
          </a:p>
          <a:p>
            <a:pPr>
              <a:lnSpc>
                <a:spcPct val="170000"/>
              </a:lnSpc>
            </a:pPr>
            <a:r>
              <a:rPr lang="en-US" sz="3000" b="1" dirty="0">
                <a:latin typeface="Times New Roman" panose="02020603050405020304" pitchFamily="18" charset="0"/>
                <a:cs typeface="Times New Roman" panose="02020603050405020304" pitchFamily="18" charset="0"/>
              </a:rPr>
              <a:t>IDE: </a:t>
            </a:r>
            <a:r>
              <a:rPr lang="en-US" sz="3000" dirty="0">
                <a:latin typeface="Times New Roman" panose="02020603050405020304" pitchFamily="18" charset="0"/>
                <a:cs typeface="Times New Roman" panose="02020603050405020304" pitchFamily="18" charset="0"/>
              </a:rPr>
              <a:t>VS Code</a:t>
            </a:r>
          </a:p>
          <a:p>
            <a:pPr marL="0" indent="0">
              <a:buNone/>
            </a:pPr>
            <a:endParaRPr lang="en-GB" sz="1700" u="sng"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a:p>
            <a:pPr marL="0" indent="0">
              <a:lnSpc>
                <a:spcPct val="170000"/>
              </a:lnSpc>
              <a:buNone/>
            </a:pPr>
            <a:r>
              <a:rPr lang="en-US" sz="4000" b="1" u="sng"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p>
          <a:p>
            <a:r>
              <a:rPr lang="en-IN" sz="2900" dirty="0" err="1">
                <a:latin typeface="Times New Roman" panose="02020603050405020304" pitchFamily="18" charset="0"/>
                <a:cs typeface="Times New Roman" panose="02020603050405020304" pitchFamily="18" charset="0"/>
              </a:rPr>
              <a:t>MetaDrive</a:t>
            </a:r>
            <a:r>
              <a:rPr lang="en-IN" sz="2900" dirty="0">
                <a:latin typeface="Times New Roman" panose="02020603050405020304" pitchFamily="18" charset="0"/>
                <a:cs typeface="Times New Roman" panose="02020603050405020304" pitchFamily="18" charset="0"/>
              </a:rPr>
              <a:t>, NumPy, </a:t>
            </a:r>
            <a:r>
              <a:rPr lang="en-IN" sz="2900" dirty="0" err="1">
                <a:latin typeface="Times New Roman" panose="02020603050405020304" pitchFamily="18" charset="0"/>
                <a:cs typeface="Times New Roman" panose="02020603050405020304" pitchFamily="18" charset="0"/>
              </a:rPr>
              <a:t>PyTorch</a:t>
            </a:r>
            <a:r>
              <a:rPr lang="en-IN" sz="2900" dirty="0">
                <a:latin typeface="Times New Roman" panose="02020603050405020304" pitchFamily="18" charset="0"/>
                <a:cs typeface="Times New Roman" panose="02020603050405020304" pitchFamily="18" charset="0"/>
              </a:rPr>
              <a:t>/TensorFlow, Cryptography (Fernet AES), and networking modules such as socket programming for UDP-based communication.</a:t>
            </a: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   </a:t>
            </a:r>
          </a:p>
          <a:p>
            <a:pPr marL="0" indent="0">
              <a:buNone/>
            </a:pPr>
            <a:endParaRPr lang="en-IN" sz="1600" dirty="0">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74536663-1643-CF4E-86B4-BEF69E757BC6}"/>
              </a:ext>
            </a:extLst>
          </p:cNvPr>
          <p:cNvPicPr>
            <a:picLocks noChangeAspect="1" noChangeArrowheads="1"/>
          </p:cNvPicPr>
          <p:nvPr/>
        </p:nvPicPr>
        <p:blipFill>
          <a:blip r:embed="rId2"/>
          <a:srcRect/>
          <a:stretch>
            <a:fillRect/>
          </a:stretch>
        </p:blipFill>
        <p:spPr bwMode="auto">
          <a:xfrm>
            <a:off x="0" y="26949"/>
            <a:ext cx="1285884" cy="1000108"/>
          </a:xfrm>
          <a:prstGeom prst="rect">
            <a:avLst/>
          </a:prstGeom>
          <a:noFill/>
        </p:spPr>
      </p:pic>
      <p:pic>
        <p:nvPicPr>
          <p:cNvPr id="7" name="Picture 2" descr="Home - Information Science and Engineering">
            <a:extLst>
              <a:ext uri="{FF2B5EF4-FFF2-40B4-BE49-F238E27FC236}">
                <a16:creationId xmlns:a16="http://schemas.microsoft.com/office/drawing/2014/main" id="{A282980D-D48D-8C1A-B79D-13797A5426C9}"/>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E8E4178E-D2A2-DE4B-DF70-7F63B71190B5}"/>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DD388751-20BB-0EE0-35E0-D86E6DD342CB}"/>
              </a:ext>
            </a:extLst>
          </p:cNvPr>
          <p:cNvCxnSpPr>
            <a:cxnSpLocks/>
          </p:cNvCxnSpPr>
          <p:nvPr/>
        </p:nvCxnSpPr>
        <p:spPr>
          <a:xfrm>
            <a:off x="0" y="6353174"/>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2" name="Footer Placeholder 11">
            <a:extLst>
              <a:ext uri="{FF2B5EF4-FFF2-40B4-BE49-F238E27FC236}">
                <a16:creationId xmlns:a16="http://schemas.microsoft.com/office/drawing/2014/main" id="{6941D2D5-40B3-8270-D654-E896B7C83C1C}"/>
              </a:ext>
            </a:extLst>
          </p:cNvPr>
          <p:cNvSpPr>
            <a:spLocks noGrp="1"/>
          </p:cNvSpPr>
          <p:nvPr>
            <p:ph type="ftr" sz="quarter" idx="11"/>
          </p:nvPr>
        </p:nvSpPr>
        <p:spPr/>
        <p:txBody>
          <a:bodyPr/>
          <a:lstStyle/>
          <a:p>
            <a:r>
              <a:rPr lang="en-US"/>
              <a:t>Autonomous Multi-Agent V2V Simulation with MetaDrive</a:t>
            </a:r>
          </a:p>
        </p:txBody>
      </p:sp>
      <p:sp>
        <p:nvSpPr>
          <p:cNvPr id="13" name="Slide Number Placeholder 12">
            <a:extLst>
              <a:ext uri="{FF2B5EF4-FFF2-40B4-BE49-F238E27FC236}">
                <a16:creationId xmlns:a16="http://schemas.microsoft.com/office/drawing/2014/main" id="{20DA45D0-C824-B5FC-3D3C-E6AD9E4BF83E}"/>
              </a:ext>
            </a:extLst>
          </p:cNvPr>
          <p:cNvSpPr>
            <a:spLocks noGrp="1"/>
          </p:cNvSpPr>
          <p:nvPr>
            <p:ph type="sldNum" sz="quarter" idx="12"/>
          </p:nvPr>
        </p:nvSpPr>
        <p:spPr/>
        <p:txBody>
          <a:bodyPr/>
          <a:lstStyle/>
          <a:p>
            <a:fld id="{FC6170F0-41F2-461F-AAB8-A7A369DA6ABC}" type="slidenum">
              <a:rPr lang="en-US" smtClean="0"/>
              <a:pPr/>
              <a:t>11</a:t>
            </a:fld>
            <a:endParaRPr lang="en-US"/>
          </a:p>
        </p:txBody>
      </p:sp>
    </p:spTree>
    <p:extLst>
      <p:ext uri="{BB962C8B-B14F-4D97-AF65-F5344CB8AC3E}">
        <p14:creationId xmlns:p14="http://schemas.microsoft.com/office/powerpoint/2010/main" val="700252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C4FB5-87D4-A203-CE9E-256339272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65902-93A5-CDD4-7D25-2D3E67511D00}"/>
              </a:ext>
            </a:extLst>
          </p:cNvPr>
          <p:cNvSpPr>
            <a:spLocks noGrp="1"/>
          </p:cNvSpPr>
          <p:nvPr>
            <p:ph type="ctrTitle"/>
          </p:nvPr>
        </p:nvSpPr>
        <p:spPr>
          <a:xfrm>
            <a:off x="0" y="0"/>
            <a:ext cx="9144000" cy="1470025"/>
          </a:xfrm>
        </p:spPr>
        <p:txBody>
          <a:bodyPr>
            <a:normAutofit/>
          </a:bodyPr>
          <a:lstStyle/>
          <a:p>
            <a:pPr lvl="0"/>
            <a:r>
              <a:rPr lang="en-US" sz="3200" b="1" dirty="0">
                <a:solidFill>
                  <a:schemeClr val="tx1">
                    <a:lumMod val="85000"/>
                    <a:lumOff val="15000"/>
                  </a:schemeClr>
                </a:solidFill>
                <a:latin typeface="Times New Roman" pitchFamily="18" charset="0"/>
                <a:cs typeface="Times New Roman" pitchFamily="18" charset="0"/>
              </a:rPr>
              <a:t>FLOW CHART</a:t>
            </a:r>
            <a:endParaRPr lang="en-US" sz="3200" dirty="0"/>
          </a:p>
        </p:txBody>
      </p:sp>
      <p:pic>
        <p:nvPicPr>
          <p:cNvPr id="1027" name="Picture 3" descr="C:\Users\welco_koih58\OneDrive\Desktop\download.jpg">
            <a:extLst>
              <a:ext uri="{FF2B5EF4-FFF2-40B4-BE49-F238E27FC236}">
                <a16:creationId xmlns:a16="http://schemas.microsoft.com/office/drawing/2014/main" id="{4BEC4868-B242-3FCA-28B7-5AE16AB7F830}"/>
              </a:ext>
            </a:extLst>
          </p:cNvPr>
          <p:cNvPicPr>
            <a:picLocks noChangeAspect="1" noChangeArrowheads="1"/>
          </p:cNvPicPr>
          <p:nvPr/>
        </p:nvPicPr>
        <p:blipFill>
          <a:blip r:embed="rId3"/>
          <a:srcRect/>
          <a:stretch>
            <a:fillRect/>
          </a:stretch>
        </p:blipFill>
        <p:spPr bwMode="auto">
          <a:xfrm>
            <a:off x="0" y="0"/>
            <a:ext cx="1285884" cy="1071570"/>
          </a:xfrm>
          <a:prstGeom prst="rect">
            <a:avLst/>
          </a:prstGeom>
          <a:noFill/>
        </p:spPr>
      </p:pic>
      <p:cxnSp>
        <p:nvCxnSpPr>
          <p:cNvPr id="13" name="Straight Connector 12">
            <a:extLst>
              <a:ext uri="{FF2B5EF4-FFF2-40B4-BE49-F238E27FC236}">
                <a16:creationId xmlns:a16="http://schemas.microsoft.com/office/drawing/2014/main" id="{CFE5DFB2-3AF5-839A-E9E9-393B2B7947AC}"/>
              </a:ext>
            </a:extLst>
          </p:cNvPr>
          <p:cNvCxnSpPr/>
          <p:nvPr/>
        </p:nvCxnSpPr>
        <p:spPr>
          <a:xfrm>
            <a:off x="0" y="1142984"/>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676FC671-9037-AA4A-34B8-0DFA39E1E266}"/>
              </a:ext>
            </a:extLst>
          </p:cNvPr>
          <p:cNvCxnSpPr/>
          <p:nvPr/>
        </p:nvCxnSpPr>
        <p:spPr>
          <a:xfrm>
            <a:off x="0" y="6357958"/>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pic>
        <p:nvPicPr>
          <p:cNvPr id="1028" name="Picture 2" descr="Home - Information Science and Engineering">
            <a:extLst>
              <a:ext uri="{FF2B5EF4-FFF2-40B4-BE49-F238E27FC236}">
                <a16:creationId xmlns:a16="http://schemas.microsoft.com/office/drawing/2014/main" id="{6EB383F1-248B-E9F2-D9D6-BCB07355D0BF}"/>
              </a:ext>
            </a:extLst>
          </p:cNvPr>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pic>
        <p:nvPicPr>
          <p:cNvPr id="6" name="Picture 5">
            <a:extLst>
              <a:ext uri="{FF2B5EF4-FFF2-40B4-BE49-F238E27FC236}">
                <a16:creationId xmlns:a16="http://schemas.microsoft.com/office/drawing/2014/main" id="{A4EF29A1-7477-0871-C69B-D0B1F43F5C94}"/>
              </a:ext>
            </a:extLst>
          </p:cNvPr>
          <p:cNvPicPr>
            <a:picLocks noChangeAspect="1"/>
          </p:cNvPicPr>
          <p:nvPr/>
        </p:nvPicPr>
        <p:blipFill>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t="384" b="40764"/>
          <a:stretch>
            <a:fillRect/>
          </a:stretch>
        </p:blipFill>
        <p:spPr>
          <a:xfrm>
            <a:off x="971600" y="1261513"/>
            <a:ext cx="2231268" cy="5057761"/>
          </a:xfrm>
          <a:prstGeom prst="rect">
            <a:avLst/>
          </a:prstGeom>
        </p:spPr>
      </p:pic>
      <p:pic>
        <p:nvPicPr>
          <p:cNvPr id="7" name="Picture 6">
            <a:extLst>
              <a:ext uri="{FF2B5EF4-FFF2-40B4-BE49-F238E27FC236}">
                <a16:creationId xmlns:a16="http://schemas.microsoft.com/office/drawing/2014/main" id="{44D00B9F-676C-883E-4A1F-95204804DF53}"/>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t="55406"/>
          <a:stretch>
            <a:fillRect/>
          </a:stretch>
        </p:blipFill>
        <p:spPr>
          <a:xfrm>
            <a:off x="5317795" y="1272961"/>
            <a:ext cx="2470810" cy="5057761"/>
          </a:xfrm>
          <a:prstGeom prst="rect">
            <a:avLst/>
          </a:prstGeom>
        </p:spPr>
      </p:pic>
      <p:sp>
        <p:nvSpPr>
          <p:cNvPr id="5" name="Footer Placeholder 4">
            <a:extLst>
              <a:ext uri="{FF2B5EF4-FFF2-40B4-BE49-F238E27FC236}">
                <a16:creationId xmlns:a16="http://schemas.microsoft.com/office/drawing/2014/main" id="{EACE0F95-29F0-4F9F-F9DE-9D2A823662DB}"/>
              </a:ext>
            </a:extLst>
          </p:cNvPr>
          <p:cNvSpPr>
            <a:spLocks noGrp="1"/>
          </p:cNvSpPr>
          <p:nvPr>
            <p:ph type="ftr" sz="quarter" idx="11"/>
          </p:nvPr>
        </p:nvSpPr>
        <p:spPr/>
        <p:txBody>
          <a:bodyPr/>
          <a:lstStyle/>
          <a:p>
            <a:r>
              <a:rPr lang="en-US"/>
              <a:t>Autonomous Multi-Agent V2V Simulation with MetaDrive</a:t>
            </a:r>
          </a:p>
        </p:txBody>
      </p:sp>
      <p:sp>
        <p:nvSpPr>
          <p:cNvPr id="8" name="Slide Number Placeholder 7">
            <a:extLst>
              <a:ext uri="{FF2B5EF4-FFF2-40B4-BE49-F238E27FC236}">
                <a16:creationId xmlns:a16="http://schemas.microsoft.com/office/drawing/2014/main" id="{9B3CB127-BF79-B7A0-B528-3F47B5983BFB}"/>
              </a:ext>
            </a:extLst>
          </p:cNvPr>
          <p:cNvSpPr>
            <a:spLocks noGrp="1"/>
          </p:cNvSpPr>
          <p:nvPr>
            <p:ph type="sldNum" sz="quarter" idx="12"/>
          </p:nvPr>
        </p:nvSpPr>
        <p:spPr/>
        <p:txBody>
          <a:bodyPr/>
          <a:lstStyle/>
          <a:p>
            <a:fld id="{FC6170F0-41F2-461F-AAB8-A7A369DA6ABC}" type="slidenum">
              <a:rPr lang="en-US" smtClean="0"/>
              <a:pPr/>
              <a:t>12</a:t>
            </a:fld>
            <a:endParaRPr lang="en-US"/>
          </a:p>
        </p:txBody>
      </p:sp>
    </p:spTree>
    <p:extLst>
      <p:ext uri="{BB962C8B-B14F-4D97-AF65-F5344CB8AC3E}">
        <p14:creationId xmlns:p14="http://schemas.microsoft.com/office/powerpoint/2010/main" val="4283773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5543-8882-6426-EF39-49AA4E308858}"/>
              </a:ext>
            </a:extLst>
          </p:cNvPr>
          <p:cNvSpPr>
            <a:spLocks noGrp="1"/>
          </p:cNvSpPr>
          <p:nvPr>
            <p:ph type="title" idx="4294967295"/>
          </p:nvPr>
        </p:nvSpPr>
        <p:spPr>
          <a:xfrm>
            <a:off x="0" y="0"/>
            <a:ext cx="9144000" cy="1125538"/>
          </a:xfrm>
        </p:spPr>
        <p:txBody>
          <a:bodyPr>
            <a:normAutofit/>
          </a:bodyPr>
          <a:lstStyle/>
          <a:p>
            <a:br>
              <a:rPr lang="en-IN" sz="3200" b="1" dirty="0">
                <a:solidFill>
                  <a:schemeClr val="accent5">
                    <a:lumMod val="75000"/>
                  </a:schemeClr>
                </a:solidFill>
                <a:latin typeface="Times New Roman" panose="02020603050405020304" pitchFamily="18" charset="0"/>
                <a:cs typeface="Times New Roman" panose="02020603050405020304" pitchFamily="18" charset="0"/>
              </a:rPr>
            </a:br>
            <a:r>
              <a:rPr lang="en-US" sz="3200" b="1" dirty="0">
                <a:solidFill>
                  <a:schemeClr val="accent1">
                    <a:lumMod val="50000"/>
                  </a:schemeClr>
                </a:solidFill>
                <a:latin typeface="Times New Roman" panose="02020603050405020304" pitchFamily="18" charset="0"/>
                <a:cs typeface="Times New Roman" panose="02020603050405020304" pitchFamily="18" charset="0"/>
              </a:rPr>
              <a:t>LITERATURE SURVEY</a:t>
            </a:r>
            <a:endParaRPr lang="en-IN" sz="3200"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F2437CED-F925-3403-3BE4-3B92278D10C2}"/>
              </a:ext>
            </a:extLst>
          </p:cNvPr>
          <p:cNvPicPr>
            <a:picLocks noChangeAspect="1" noChangeArrowheads="1"/>
          </p:cNvPicPr>
          <p:nvPr/>
        </p:nvPicPr>
        <p:blipFill>
          <a:blip r:embed="rId2"/>
          <a:srcRect/>
          <a:stretch>
            <a:fillRect/>
          </a:stretch>
        </p:blipFill>
        <p:spPr bwMode="auto">
          <a:xfrm>
            <a:off x="0" y="26949"/>
            <a:ext cx="1285884" cy="1000108"/>
          </a:xfrm>
          <a:prstGeom prst="rect">
            <a:avLst/>
          </a:prstGeom>
          <a:noFill/>
        </p:spPr>
      </p:pic>
      <p:pic>
        <p:nvPicPr>
          <p:cNvPr id="7" name="Picture 2" descr="Home - Information Science and Engineering">
            <a:extLst>
              <a:ext uri="{FF2B5EF4-FFF2-40B4-BE49-F238E27FC236}">
                <a16:creationId xmlns:a16="http://schemas.microsoft.com/office/drawing/2014/main" id="{2401E7B8-A4F0-5338-BAA1-371FF7C8CE64}"/>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99326118-E12D-E4CD-8484-D0D3C61F2917}"/>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1DCE498F-89B4-3E12-3573-81A01BFFB03D}"/>
              </a:ext>
            </a:extLst>
          </p:cNvPr>
          <p:cNvCxnSpPr>
            <a:cxnSpLocks/>
          </p:cNvCxnSpPr>
          <p:nvPr/>
        </p:nvCxnSpPr>
        <p:spPr>
          <a:xfrm>
            <a:off x="0" y="6353174"/>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graphicFrame>
        <p:nvGraphicFramePr>
          <p:cNvPr id="13" name="Table 12">
            <a:extLst>
              <a:ext uri="{FF2B5EF4-FFF2-40B4-BE49-F238E27FC236}">
                <a16:creationId xmlns:a16="http://schemas.microsoft.com/office/drawing/2014/main" id="{470919CF-8D61-1E3E-7C08-1C2721A57627}"/>
              </a:ext>
            </a:extLst>
          </p:cNvPr>
          <p:cNvGraphicFramePr>
            <a:graphicFrameLocks noGrp="1"/>
          </p:cNvGraphicFramePr>
          <p:nvPr>
            <p:extLst>
              <p:ext uri="{D42A27DB-BD31-4B8C-83A1-F6EECF244321}">
                <p14:modId xmlns:p14="http://schemas.microsoft.com/office/powerpoint/2010/main" val="942455320"/>
              </p:ext>
            </p:extLst>
          </p:nvPr>
        </p:nvGraphicFramePr>
        <p:xfrm>
          <a:off x="323528" y="1772816"/>
          <a:ext cx="8712969" cy="3840480"/>
        </p:xfrm>
        <a:graphic>
          <a:graphicData uri="http://schemas.openxmlformats.org/drawingml/2006/table">
            <a:tbl>
              <a:tblPr firstRow="1" bandRow="1">
                <a:tableStyleId>{5C22544A-7EE6-4342-B048-85BDC9FD1C3A}</a:tableStyleId>
              </a:tblPr>
              <a:tblGrid>
                <a:gridCol w="566194">
                  <a:extLst>
                    <a:ext uri="{9D8B030D-6E8A-4147-A177-3AD203B41FA5}">
                      <a16:colId xmlns:a16="http://schemas.microsoft.com/office/drawing/2014/main" val="20000"/>
                    </a:ext>
                  </a:extLst>
                </a:gridCol>
                <a:gridCol w="910116">
                  <a:extLst>
                    <a:ext uri="{9D8B030D-6E8A-4147-A177-3AD203B41FA5}">
                      <a16:colId xmlns:a16="http://schemas.microsoft.com/office/drawing/2014/main" val="20001"/>
                    </a:ext>
                  </a:extLst>
                </a:gridCol>
                <a:gridCol w="1654093">
                  <a:extLst>
                    <a:ext uri="{9D8B030D-6E8A-4147-A177-3AD203B41FA5}">
                      <a16:colId xmlns:a16="http://schemas.microsoft.com/office/drawing/2014/main" val="20002"/>
                    </a:ext>
                  </a:extLst>
                </a:gridCol>
                <a:gridCol w="2205457">
                  <a:extLst>
                    <a:ext uri="{9D8B030D-6E8A-4147-A177-3AD203B41FA5}">
                      <a16:colId xmlns:a16="http://schemas.microsoft.com/office/drawing/2014/main" val="20003"/>
                    </a:ext>
                  </a:extLst>
                </a:gridCol>
                <a:gridCol w="3377109">
                  <a:extLst>
                    <a:ext uri="{9D8B030D-6E8A-4147-A177-3AD203B41FA5}">
                      <a16:colId xmlns:a16="http://schemas.microsoft.com/office/drawing/2014/main" val="20004"/>
                    </a:ext>
                  </a:extLst>
                </a:gridCol>
              </a:tblGrid>
              <a:tr h="640080">
                <a:tc>
                  <a:txBody>
                    <a:bodyPr/>
                    <a:lstStyle/>
                    <a:p>
                      <a:r>
                        <a:rPr lang="en-IN">
                          <a:latin typeface="Times New Roman" panose="02020603050405020304" pitchFamily="18" charset="0"/>
                          <a:cs typeface="Times New Roman" panose="02020603050405020304" pitchFamily="18" charset="0"/>
                        </a:rPr>
                        <a:t>S.NO</a:t>
                      </a:r>
                    </a:p>
                  </a:txBody>
                  <a:tcPr anchor="ctr"/>
                </a:tc>
                <a:tc>
                  <a:txBody>
                    <a:bodyPr/>
                    <a:lstStyle/>
                    <a:p>
                      <a:r>
                        <a:rPr lang="en-IN">
                          <a:latin typeface="Times New Roman" panose="02020603050405020304" pitchFamily="18" charset="0"/>
                          <a:cs typeface="Times New Roman" panose="02020603050405020304" pitchFamily="18" charset="0"/>
                        </a:rPr>
                        <a:t>YEAR</a:t>
                      </a:r>
                    </a:p>
                  </a:txBody>
                  <a:tcPr anchor="ctr"/>
                </a:tc>
                <a:tc>
                  <a:txBody>
                    <a:bodyPr/>
                    <a:lstStyle/>
                    <a:p>
                      <a:r>
                        <a:rPr lang="en-IN">
                          <a:latin typeface="Times New Roman" panose="02020603050405020304" pitchFamily="18" charset="0"/>
                          <a:cs typeface="Times New Roman" panose="02020603050405020304" pitchFamily="18" charset="0"/>
                        </a:rPr>
                        <a:t>AUTHORS</a:t>
                      </a:r>
                    </a:p>
                  </a:txBody>
                  <a:tcPr anchor="ctr"/>
                </a:tc>
                <a:tc>
                  <a:txBody>
                    <a:bodyPr/>
                    <a:lstStyle/>
                    <a:p>
                      <a:r>
                        <a:rPr lang="en-IN">
                          <a:latin typeface="Times New Roman" panose="02020603050405020304" pitchFamily="18" charset="0"/>
                          <a:cs typeface="Times New Roman" panose="02020603050405020304" pitchFamily="18" charset="0"/>
                        </a:rPr>
                        <a:t>TITLE</a:t>
                      </a:r>
                    </a:p>
                  </a:txBody>
                  <a:tcPr anchor="ctr"/>
                </a:tc>
                <a:tc>
                  <a:txBody>
                    <a:bodyPr/>
                    <a:lstStyle/>
                    <a:p>
                      <a:r>
                        <a:rPr lang="en-IN">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val="10000"/>
                  </a:ext>
                </a:extLst>
              </a:tr>
              <a:tr h="1737360">
                <a:tc>
                  <a:txBody>
                    <a:bodyPr/>
                    <a:lstStyle/>
                    <a:p>
                      <a:r>
                        <a:rPr lang="en-IN">
                          <a:latin typeface="Times New Roman" panose="02020603050405020304" pitchFamily="18" charset="0"/>
                          <a:cs typeface="Times New Roman" panose="02020603050405020304" pitchFamily="18" charset="0"/>
                        </a:rPr>
                        <a:t>1</a:t>
                      </a:r>
                    </a:p>
                  </a:txBody>
                  <a:tcPr anchor="ctr"/>
                </a:tc>
                <a:tc>
                  <a:txBody>
                    <a:bodyPr/>
                    <a:lstStyle/>
                    <a:p>
                      <a:r>
                        <a:rPr lang="en-IN" dirty="0">
                          <a:latin typeface="Times New Roman" panose="02020603050405020304" pitchFamily="18" charset="0"/>
                          <a:cs typeface="Times New Roman" panose="02020603050405020304" pitchFamily="18" charset="0"/>
                        </a:rPr>
                        <a:t>2023</a:t>
                      </a:r>
                    </a:p>
                  </a:txBody>
                  <a:tcPr anchor="ctr"/>
                </a:tc>
                <a:tc>
                  <a:txBody>
                    <a:bodyPr/>
                    <a:lstStyle/>
                    <a:p>
                      <a:r>
                        <a:rPr lang="de-DE" dirty="0"/>
                        <a:t>Q. Li, Z. Wang, C. Gan</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IN" i="1" dirty="0" err="1"/>
                        <a:t>MetaDrive</a:t>
                      </a:r>
                      <a:r>
                        <a:rPr lang="en-IN" i="1" dirty="0"/>
                        <a:t>: Composing Diverse Driving Scenarios for Generalizable RL</a:t>
                      </a:r>
                      <a:endParaRPr lang="en-IN" dirty="0"/>
                    </a:p>
                  </a:txBody>
                  <a:tcPr anchor="ctr"/>
                </a:tc>
                <a:tc>
                  <a:txBody>
                    <a:bodyPr/>
                    <a:lstStyle/>
                    <a:p>
                      <a:pPr algn="just">
                        <a:buNone/>
                      </a:pPr>
                      <a:r>
                        <a:rPr lang="en-US" dirty="0"/>
                        <a:t>Introduced a scalable multi-agent driving simulator enabling realistic autonomous vehicle testing, highlighting the need for coordinated decision-making in dense traffic.</a:t>
                      </a:r>
                    </a:p>
                  </a:txBody>
                  <a:tcPr anchor="ctr"/>
                </a:tc>
                <a:extLst>
                  <a:ext uri="{0D108BD9-81ED-4DB2-BD59-A6C34878D82A}">
                    <a16:rowId xmlns:a16="http://schemas.microsoft.com/office/drawing/2014/main" val="10001"/>
                  </a:ext>
                </a:extLst>
              </a:tr>
              <a:tr h="1463040">
                <a:tc>
                  <a:txBody>
                    <a:bodyPr/>
                    <a:lstStyle/>
                    <a:p>
                      <a:r>
                        <a:rPr lang="en-IN">
                          <a:latin typeface="Times New Roman" panose="02020603050405020304" pitchFamily="18" charset="0"/>
                          <a:cs typeface="Times New Roman" panose="02020603050405020304" pitchFamily="18" charset="0"/>
                        </a:rPr>
                        <a:t>2</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pPr>
                        <a:buNone/>
                      </a:pPr>
                      <a:r>
                        <a:rPr lang="nb-NO" dirty="0"/>
                        <a:t>P. Ren, Y. Jin, M. Feng</a:t>
                      </a:r>
                    </a:p>
                  </a:txBody>
                  <a:tcPr anchor="ctr"/>
                </a:tc>
                <a:tc>
                  <a:txBody>
                    <a:bodyPr/>
                    <a:lstStyle/>
                    <a:p>
                      <a:pPr algn="just">
                        <a:buNone/>
                      </a:pPr>
                      <a:r>
                        <a:rPr lang="en-US" i="1" dirty="0"/>
                        <a:t>Hybrid Path Planning Algorithm Based on Anti-Collision Mechanisms</a:t>
                      </a:r>
                      <a:endParaRPr lang="en-US" dirty="0"/>
                    </a:p>
                  </a:txBody>
                  <a:tcPr anchor="ctr"/>
                </a:tc>
                <a:tc>
                  <a:txBody>
                    <a:bodyPr/>
                    <a:lstStyle/>
                    <a:p>
                      <a:pPr algn="just">
                        <a:buNone/>
                      </a:pPr>
                      <a:r>
                        <a:rPr lang="en-US" dirty="0"/>
                        <a:t>Presented improved trajectory planning and collision avoidance using Hybrid A*, supporting its suitability for multi-agent autonomous driving.</a:t>
                      </a:r>
                    </a:p>
                  </a:txBody>
                  <a:tcPr anchor="ctr"/>
                </a:tc>
                <a:extLst>
                  <a:ext uri="{0D108BD9-81ED-4DB2-BD59-A6C34878D82A}">
                    <a16:rowId xmlns:a16="http://schemas.microsoft.com/office/drawing/2014/main" val="10002"/>
                  </a:ext>
                </a:extLst>
              </a:tr>
            </a:tbl>
          </a:graphicData>
        </a:graphic>
      </p:graphicFrame>
      <p:sp>
        <p:nvSpPr>
          <p:cNvPr id="12" name="Footer Placeholder 11">
            <a:extLst>
              <a:ext uri="{FF2B5EF4-FFF2-40B4-BE49-F238E27FC236}">
                <a16:creationId xmlns:a16="http://schemas.microsoft.com/office/drawing/2014/main" id="{662543D0-89BE-5472-6B93-18F6D43EDDA6}"/>
              </a:ext>
            </a:extLst>
          </p:cNvPr>
          <p:cNvSpPr>
            <a:spLocks noGrp="1"/>
          </p:cNvSpPr>
          <p:nvPr>
            <p:ph type="ftr" sz="quarter" idx="11"/>
          </p:nvPr>
        </p:nvSpPr>
        <p:spPr/>
        <p:txBody>
          <a:bodyPr/>
          <a:lstStyle/>
          <a:p>
            <a:r>
              <a:rPr lang="en-US"/>
              <a:t>Autonomous Multi-Agent V2V Simulation with MetaDrive</a:t>
            </a:r>
          </a:p>
        </p:txBody>
      </p:sp>
      <p:sp>
        <p:nvSpPr>
          <p:cNvPr id="14" name="Slide Number Placeholder 13">
            <a:extLst>
              <a:ext uri="{FF2B5EF4-FFF2-40B4-BE49-F238E27FC236}">
                <a16:creationId xmlns:a16="http://schemas.microsoft.com/office/drawing/2014/main" id="{BC8FB56B-E656-582E-4E94-2BEF2E16CA4F}"/>
              </a:ext>
            </a:extLst>
          </p:cNvPr>
          <p:cNvSpPr>
            <a:spLocks noGrp="1"/>
          </p:cNvSpPr>
          <p:nvPr>
            <p:ph type="sldNum" sz="quarter" idx="12"/>
          </p:nvPr>
        </p:nvSpPr>
        <p:spPr/>
        <p:txBody>
          <a:bodyPr/>
          <a:lstStyle/>
          <a:p>
            <a:fld id="{FC6170F0-41F2-461F-AAB8-A7A369DA6ABC}" type="slidenum">
              <a:rPr lang="en-US" smtClean="0"/>
              <a:pPr/>
              <a:t>13</a:t>
            </a:fld>
            <a:endParaRPr lang="en-US"/>
          </a:p>
        </p:txBody>
      </p:sp>
    </p:spTree>
    <p:extLst>
      <p:ext uri="{BB962C8B-B14F-4D97-AF65-F5344CB8AC3E}">
        <p14:creationId xmlns:p14="http://schemas.microsoft.com/office/powerpoint/2010/main" val="4081649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CF98E-618C-E846-97BC-79636F736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62D2B-318C-1C2D-1C22-E12FB4519FEA}"/>
              </a:ext>
            </a:extLst>
          </p:cNvPr>
          <p:cNvSpPr>
            <a:spLocks noGrp="1"/>
          </p:cNvSpPr>
          <p:nvPr>
            <p:ph type="title" idx="4294967295"/>
          </p:nvPr>
        </p:nvSpPr>
        <p:spPr>
          <a:xfrm>
            <a:off x="0" y="0"/>
            <a:ext cx="9144000" cy="1125538"/>
          </a:xfrm>
        </p:spPr>
        <p:txBody>
          <a:bodyPr>
            <a:normAutofit/>
          </a:bodyPr>
          <a:lstStyle/>
          <a:p>
            <a:br>
              <a:rPr lang="en-IN" sz="3200" b="1" dirty="0">
                <a:solidFill>
                  <a:schemeClr val="accent5">
                    <a:lumMod val="75000"/>
                  </a:schemeClr>
                </a:solidFill>
                <a:latin typeface="Times New Roman" panose="02020603050405020304" pitchFamily="18" charset="0"/>
                <a:cs typeface="Times New Roman" panose="02020603050405020304" pitchFamily="18" charset="0"/>
              </a:rPr>
            </a:br>
            <a:r>
              <a:rPr lang="en-US" sz="3200" b="1" dirty="0">
                <a:solidFill>
                  <a:schemeClr val="accent1">
                    <a:lumMod val="50000"/>
                  </a:schemeClr>
                </a:solidFill>
                <a:latin typeface="Times New Roman" panose="02020603050405020304" pitchFamily="18" charset="0"/>
                <a:cs typeface="Times New Roman" panose="02020603050405020304" pitchFamily="18" charset="0"/>
              </a:rPr>
              <a:t>LITERATURE SURVEY</a:t>
            </a:r>
            <a:endParaRPr lang="en-IN" sz="3200"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7F8D9FAF-815F-5C2F-88AD-81D73A5FDEC0}"/>
              </a:ext>
            </a:extLst>
          </p:cNvPr>
          <p:cNvPicPr>
            <a:picLocks noChangeAspect="1" noChangeArrowheads="1"/>
          </p:cNvPicPr>
          <p:nvPr/>
        </p:nvPicPr>
        <p:blipFill>
          <a:blip r:embed="rId2"/>
          <a:srcRect/>
          <a:stretch>
            <a:fillRect/>
          </a:stretch>
        </p:blipFill>
        <p:spPr bwMode="auto">
          <a:xfrm>
            <a:off x="0" y="26949"/>
            <a:ext cx="1285884" cy="1000108"/>
          </a:xfrm>
          <a:prstGeom prst="rect">
            <a:avLst/>
          </a:prstGeom>
          <a:noFill/>
        </p:spPr>
      </p:pic>
      <p:pic>
        <p:nvPicPr>
          <p:cNvPr id="7" name="Picture 2" descr="Home - Information Science and Engineering">
            <a:extLst>
              <a:ext uri="{FF2B5EF4-FFF2-40B4-BE49-F238E27FC236}">
                <a16:creationId xmlns:a16="http://schemas.microsoft.com/office/drawing/2014/main" id="{87C77C25-626D-B16E-3D2F-72A8AAF67C48}"/>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AE069E88-AF9D-7CA9-EE0E-AF314676B83A}"/>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B8CADB74-978F-57E8-9E5E-5CD2EE5A8BA7}"/>
              </a:ext>
            </a:extLst>
          </p:cNvPr>
          <p:cNvCxnSpPr>
            <a:cxnSpLocks/>
          </p:cNvCxnSpPr>
          <p:nvPr/>
        </p:nvCxnSpPr>
        <p:spPr>
          <a:xfrm>
            <a:off x="0" y="6353174"/>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graphicFrame>
        <p:nvGraphicFramePr>
          <p:cNvPr id="13" name="Table 12">
            <a:extLst>
              <a:ext uri="{FF2B5EF4-FFF2-40B4-BE49-F238E27FC236}">
                <a16:creationId xmlns:a16="http://schemas.microsoft.com/office/drawing/2014/main" id="{3C2084A5-47E1-E715-C644-0816B3F2DC10}"/>
              </a:ext>
            </a:extLst>
          </p:cNvPr>
          <p:cNvGraphicFramePr>
            <a:graphicFrameLocks noGrp="1"/>
          </p:cNvGraphicFramePr>
          <p:nvPr>
            <p:extLst>
              <p:ext uri="{D42A27DB-BD31-4B8C-83A1-F6EECF244321}">
                <p14:modId xmlns:p14="http://schemas.microsoft.com/office/powerpoint/2010/main" val="2035791640"/>
              </p:ext>
            </p:extLst>
          </p:nvPr>
        </p:nvGraphicFramePr>
        <p:xfrm>
          <a:off x="323528" y="1772816"/>
          <a:ext cx="8712969" cy="4114800"/>
        </p:xfrm>
        <a:graphic>
          <a:graphicData uri="http://schemas.openxmlformats.org/drawingml/2006/table">
            <a:tbl>
              <a:tblPr firstRow="1" bandRow="1">
                <a:tableStyleId>{5C22544A-7EE6-4342-B048-85BDC9FD1C3A}</a:tableStyleId>
              </a:tblPr>
              <a:tblGrid>
                <a:gridCol w="566194">
                  <a:extLst>
                    <a:ext uri="{9D8B030D-6E8A-4147-A177-3AD203B41FA5}">
                      <a16:colId xmlns:a16="http://schemas.microsoft.com/office/drawing/2014/main" val="20000"/>
                    </a:ext>
                  </a:extLst>
                </a:gridCol>
                <a:gridCol w="910116">
                  <a:extLst>
                    <a:ext uri="{9D8B030D-6E8A-4147-A177-3AD203B41FA5}">
                      <a16:colId xmlns:a16="http://schemas.microsoft.com/office/drawing/2014/main" val="20001"/>
                    </a:ext>
                  </a:extLst>
                </a:gridCol>
                <a:gridCol w="1654093">
                  <a:extLst>
                    <a:ext uri="{9D8B030D-6E8A-4147-A177-3AD203B41FA5}">
                      <a16:colId xmlns:a16="http://schemas.microsoft.com/office/drawing/2014/main" val="20002"/>
                    </a:ext>
                  </a:extLst>
                </a:gridCol>
                <a:gridCol w="2205457">
                  <a:extLst>
                    <a:ext uri="{9D8B030D-6E8A-4147-A177-3AD203B41FA5}">
                      <a16:colId xmlns:a16="http://schemas.microsoft.com/office/drawing/2014/main" val="20003"/>
                    </a:ext>
                  </a:extLst>
                </a:gridCol>
                <a:gridCol w="3377109">
                  <a:extLst>
                    <a:ext uri="{9D8B030D-6E8A-4147-A177-3AD203B41FA5}">
                      <a16:colId xmlns:a16="http://schemas.microsoft.com/office/drawing/2014/main" val="20004"/>
                    </a:ext>
                  </a:extLst>
                </a:gridCol>
              </a:tblGrid>
              <a:tr h="640080">
                <a:tc>
                  <a:txBody>
                    <a:bodyPr/>
                    <a:lstStyle/>
                    <a:p>
                      <a:r>
                        <a:rPr lang="en-IN">
                          <a:latin typeface="Times New Roman" panose="02020603050405020304" pitchFamily="18" charset="0"/>
                          <a:cs typeface="Times New Roman" panose="02020603050405020304" pitchFamily="18" charset="0"/>
                        </a:rPr>
                        <a:t>S.NO</a:t>
                      </a:r>
                    </a:p>
                  </a:txBody>
                  <a:tcPr anchor="ctr"/>
                </a:tc>
                <a:tc>
                  <a:txBody>
                    <a:bodyPr/>
                    <a:lstStyle/>
                    <a:p>
                      <a:r>
                        <a:rPr lang="en-IN">
                          <a:latin typeface="Times New Roman" panose="02020603050405020304" pitchFamily="18" charset="0"/>
                          <a:cs typeface="Times New Roman" panose="02020603050405020304" pitchFamily="18" charset="0"/>
                        </a:rPr>
                        <a:t>YEAR</a:t>
                      </a:r>
                    </a:p>
                  </a:txBody>
                  <a:tcPr anchor="ctr"/>
                </a:tc>
                <a:tc>
                  <a:txBody>
                    <a:bodyPr/>
                    <a:lstStyle/>
                    <a:p>
                      <a:r>
                        <a:rPr lang="en-IN">
                          <a:latin typeface="Times New Roman" panose="02020603050405020304" pitchFamily="18" charset="0"/>
                          <a:cs typeface="Times New Roman" panose="02020603050405020304" pitchFamily="18" charset="0"/>
                        </a:rPr>
                        <a:t>AUTHORS</a:t>
                      </a:r>
                    </a:p>
                  </a:txBody>
                  <a:tcPr anchor="ctr"/>
                </a:tc>
                <a:tc>
                  <a:txBody>
                    <a:bodyPr/>
                    <a:lstStyle/>
                    <a:p>
                      <a:r>
                        <a:rPr lang="en-IN">
                          <a:latin typeface="Times New Roman" panose="02020603050405020304" pitchFamily="18" charset="0"/>
                          <a:cs typeface="Times New Roman" panose="02020603050405020304" pitchFamily="18" charset="0"/>
                        </a:rPr>
                        <a:t>TITLE</a:t>
                      </a:r>
                    </a:p>
                  </a:txBody>
                  <a:tcPr anchor="ctr"/>
                </a:tc>
                <a:tc>
                  <a:txBody>
                    <a:bodyPr/>
                    <a:lstStyle/>
                    <a:p>
                      <a:r>
                        <a:rPr lang="en-IN">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val="10000"/>
                  </a:ext>
                </a:extLst>
              </a:tr>
              <a:tr h="1737360">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2022</a:t>
                      </a:r>
                    </a:p>
                  </a:txBody>
                  <a:tcPr anchor="ctr"/>
                </a:tc>
                <a:tc>
                  <a:txBody>
                    <a:bodyPr/>
                    <a:lstStyle/>
                    <a:p>
                      <a:pPr>
                        <a:buNone/>
                      </a:pPr>
                      <a:r>
                        <a:rPr lang="en-IN" dirty="0"/>
                        <a:t>K. Muhammad, F. Hussain</a:t>
                      </a:r>
                    </a:p>
                  </a:txBody>
                  <a:tcPr anchor="ctr"/>
                </a:tc>
                <a:tc>
                  <a:txBody>
                    <a:bodyPr/>
                    <a:lstStyle/>
                    <a:p>
                      <a:pPr>
                        <a:buNone/>
                      </a:pPr>
                      <a:r>
                        <a:rPr lang="en-US" i="1" dirty="0"/>
                        <a:t>Deep Learning for Safe and Intelligent Autonomous Driving</a:t>
                      </a:r>
                      <a:endParaRPr lang="en-US" dirty="0"/>
                    </a:p>
                  </a:txBody>
                  <a:tcPr anchor="ctr"/>
                </a:tc>
                <a:tc>
                  <a:txBody>
                    <a:bodyPr/>
                    <a:lstStyle/>
                    <a:p>
                      <a:pPr algn="just">
                        <a:buNone/>
                      </a:pPr>
                      <a:r>
                        <a:rPr lang="en-US" dirty="0"/>
                        <a:t>Demonstrated that integrating shared environment awareness significantly enhances safety, reinforcing the value of communication-assisted autonomous control.</a:t>
                      </a:r>
                    </a:p>
                  </a:txBody>
                  <a:tcPr anchor="ctr"/>
                </a:tc>
                <a:extLst>
                  <a:ext uri="{0D108BD9-81ED-4DB2-BD59-A6C34878D82A}">
                    <a16:rowId xmlns:a16="http://schemas.microsoft.com/office/drawing/2014/main" val="10001"/>
                  </a:ext>
                </a:extLst>
              </a:tr>
              <a:tr h="1463040">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2021</a:t>
                      </a:r>
                    </a:p>
                  </a:txBody>
                  <a:tcPr anchor="ctr"/>
                </a:tc>
                <a:tc>
                  <a:txBody>
                    <a:bodyPr/>
                    <a:lstStyle/>
                    <a:p>
                      <a:pPr>
                        <a:buNone/>
                      </a:pPr>
                      <a:r>
                        <a:rPr lang="fi-FI" dirty="0"/>
                        <a:t>S. Gyawali, S. Yoon, H. Park</a:t>
                      </a:r>
                    </a:p>
                  </a:txBody>
                  <a:tcPr anchor="ctr"/>
                </a:tc>
                <a:tc>
                  <a:txBody>
                    <a:bodyPr/>
                    <a:lstStyle/>
                    <a:p>
                      <a:pPr>
                        <a:buNone/>
                      </a:pPr>
                      <a:r>
                        <a:rPr lang="en-US" i="1" dirty="0"/>
                        <a:t>Challenges and Solutions for Cellular-based V2X Communication</a:t>
                      </a:r>
                      <a:endParaRPr lang="en-US" dirty="0"/>
                    </a:p>
                  </a:txBody>
                  <a:tcPr anchor="ctr"/>
                </a:tc>
                <a:tc>
                  <a:txBody>
                    <a:bodyPr/>
                    <a:lstStyle/>
                    <a:p>
                      <a:pPr algn="just">
                        <a:buNone/>
                      </a:pPr>
                      <a:r>
                        <a:rPr lang="en-US" dirty="0"/>
                        <a:t>Identified latency, reliability, and security issues in V2V communication, motivating the need for efficient, secure message exchange between autonomous agents.</a:t>
                      </a:r>
                    </a:p>
                  </a:txBody>
                  <a:tcPr anchor="ctr"/>
                </a:tc>
                <a:extLst>
                  <a:ext uri="{0D108BD9-81ED-4DB2-BD59-A6C34878D82A}">
                    <a16:rowId xmlns:a16="http://schemas.microsoft.com/office/drawing/2014/main" val="10002"/>
                  </a:ext>
                </a:extLst>
              </a:tr>
            </a:tbl>
          </a:graphicData>
        </a:graphic>
      </p:graphicFrame>
      <p:sp>
        <p:nvSpPr>
          <p:cNvPr id="11" name="Footer Placeholder 10">
            <a:extLst>
              <a:ext uri="{FF2B5EF4-FFF2-40B4-BE49-F238E27FC236}">
                <a16:creationId xmlns:a16="http://schemas.microsoft.com/office/drawing/2014/main" id="{BF8034A0-CFF6-9BAC-9853-7AD36E4CC67A}"/>
              </a:ext>
            </a:extLst>
          </p:cNvPr>
          <p:cNvSpPr>
            <a:spLocks noGrp="1"/>
          </p:cNvSpPr>
          <p:nvPr>
            <p:ph type="ftr" sz="quarter" idx="11"/>
          </p:nvPr>
        </p:nvSpPr>
        <p:spPr/>
        <p:txBody>
          <a:bodyPr/>
          <a:lstStyle/>
          <a:p>
            <a:r>
              <a:rPr lang="en-US"/>
              <a:t>Autonomous Multi-Agent V2V Simulation with MetaDrive</a:t>
            </a:r>
          </a:p>
        </p:txBody>
      </p:sp>
      <p:sp>
        <p:nvSpPr>
          <p:cNvPr id="12" name="Slide Number Placeholder 11">
            <a:extLst>
              <a:ext uri="{FF2B5EF4-FFF2-40B4-BE49-F238E27FC236}">
                <a16:creationId xmlns:a16="http://schemas.microsoft.com/office/drawing/2014/main" id="{0B6F6FC3-E1F4-05AD-0911-7053BBCAE7C2}"/>
              </a:ext>
            </a:extLst>
          </p:cNvPr>
          <p:cNvSpPr>
            <a:spLocks noGrp="1"/>
          </p:cNvSpPr>
          <p:nvPr>
            <p:ph type="sldNum" sz="quarter" idx="12"/>
          </p:nvPr>
        </p:nvSpPr>
        <p:spPr/>
        <p:txBody>
          <a:bodyPr/>
          <a:lstStyle/>
          <a:p>
            <a:fld id="{FC6170F0-41F2-461F-AAB8-A7A369DA6ABC}" type="slidenum">
              <a:rPr lang="en-US" smtClean="0"/>
              <a:pPr/>
              <a:t>14</a:t>
            </a:fld>
            <a:endParaRPr lang="en-US"/>
          </a:p>
        </p:txBody>
      </p:sp>
    </p:spTree>
    <p:extLst>
      <p:ext uri="{BB962C8B-B14F-4D97-AF65-F5344CB8AC3E}">
        <p14:creationId xmlns:p14="http://schemas.microsoft.com/office/powerpoint/2010/main" val="2230453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525C8-1A25-93A7-6978-E5722BE13FE0}"/>
              </a:ext>
            </a:extLst>
          </p:cNvPr>
          <p:cNvSpPr>
            <a:spLocks noGrp="1"/>
          </p:cNvSpPr>
          <p:nvPr>
            <p:ph type="title"/>
          </p:nvPr>
        </p:nvSpPr>
        <p:spPr>
          <a:xfrm>
            <a:off x="0" y="1"/>
            <a:ext cx="9144000" cy="1124744"/>
          </a:xfrm>
        </p:spPr>
        <p:txBody>
          <a:bodyPr>
            <a:normAutofit/>
          </a:bodyPr>
          <a:lstStyle/>
          <a:p>
            <a:r>
              <a:rPr lang="en-IN" sz="3200" b="1" dirty="0">
                <a:solidFill>
                  <a:schemeClr val="accent1">
                    <a:lumMod val="50000"/>
                  </a:schemeClr>
                </a:solidFill>
                <a:latin typeface="Times New Roman" panose="02020603050405020304" pitchFamily="18" charset="0"/>
                <a:cs typeface="Times New Roman" panose="02020603050405020304" pitchFamily="18" charset="0"/>
              </a:rPr>
              <a:t>IMPLEMENTATION</a:t>
            </a:r>
            <a:endParaRPr lang="en-IN"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B05629-921E-562C-FE4C-E56B953E08A9}"/>
              </a:ext>
            </a:extLst>
          </p:cNvPr>
          <p:cNvSpPr>
            <a:spLocks noGrp="1"/>
          </p:cNvSpPr>
          <p:nvPr>
            <p:ph idx="1"/>
          </p:nvPr>
        </p:nvSpPr>
        <p:spPr>
          <a:xfrm>
            <a:off x="539552" y="1124746"/>
            <a:ext cx="8147248" cy="5231604"/>
          </a:xfrm>
        </p:spPr>
        <p:txBody>
          <a:bodyPr>
            <a:normAutofit fontScale="85000" lnSpcReduction="10000"/>
          </a:bodyPr>
          <a:lstStyle/>
          <a:p>
            <a:pPr marL="0" indent="0" algn="just">
              <a:buNone/>
            </a:pPr>
            <a:r>
              <a:rPr lang="en-IN"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1. Data Description</a:t>
            </a:r>
          </a:p>
          <a:p>
            <a:pPr algn="just"/>
            <a:r>
              <a:rPr lang="en-US" sz="2000" dirty="0">
                <a:latin typeface="Times New Roman" panose="02020603050405020304" pitchFamily="18" charset="0"/>
                <a:cs typeface="Times New Roman" panose="02020603050405020304" pitchFamily="18" charset="0"/>
              </a:rPr>
              <a:t>The system uses agent state data, sensor readings (Lidar, obstacles, lane lines), and encrypted V2V messages containing vehicle position, velocity, and heading information generated in the </a:t>
            </a:r>
            <a:r>
              <a:rPr lang="en-US" sz="2000" dirty="0" err="1">
                <a:latin typeface="Times New Roman" panose="02020603050405020304" pitchFamily="18" charset="0"/>
                <a:cs typeface="Times New Roman" panose="02020603050405020304" pitchFamily="18" charset="0"/>
              </a:rPr>
              <a:t>MetaDrive</a:t>
            </a:r>
            <a:r>
              <a:rPr lang="en-US" sz="2000" dirty="0">
                <a:latin typeface="Times New Roman" panose="02020603050405020304" pitchFamily="18" charset="0"/>
                <a:cs typeface="Times New Roman" panose="02020603050405020304" pitchFamily="18" charset="0"/>
              </a:rPr>
              <a:t> multi-agent simulation environment.</a:t>
            </a:r>
          </a:p>
          <a:p>
            <a:pPr marL="0" indent="0" algn="just">
              <a:buNone/>
            </a:pPr>
            <a:r>
              <a:rPr lang="en-US" sz="2000" b="1" dirty="0">
                <a:latin typeface="Times New Roman" panose="02020603050405020304" pitchFamily="18" charset="0"/>
                <a:cs typeface="Times New Roman" panose="02020603050405020304" pitchFamily="18" charset="0"/>
              </a:rPr>
              <a:t>2. Preprocessing Steps</a:t>
            </a:r>
          </a:p>
          <a:p>
            <a:pPr algn="just"/>
            <a:r>
              <a:rPr lang="en-US" sz="2000" dirty="0">
                <a:latin typeface="Times New Roman" panose="02020603050405020304" pitchFamily="18" charset="0"/>
                <a:cs typeface="Times New Roman" panose="02020603050405020304" pitchFamily="18" charset="0"/>
              </a:rPr>
              <a:t>Sensor outputs are normalized, noise is filtered, V2V messages are decrypted and validated, and outdated packets are removed before merging data for the decision-making process.</a:t>
            </a:r>
          </a:p>
          <a:p>
            <a:pPr marL="0" indent="0" algn="just">
              <a:buNone/>
            </a:pPr>
            <a:r>
              <a:rPr lang="en-US" sz="2000" b="1" dirty="0">
                <a:latin typeface="Times New Roman" panose="02020603050405020304" pitchFamily="18" charset="0"/>
                <a:cs typeface="Times New Roman" panose="02020603050405020304" pitchFamily="18" charset="0"/>
              </a:rPr>
              <a:t>3. Algorithm Definition</a:t>
            </a:r>
          </a:p>
          <a:p>
            <a:pPr algn="just"/>
            <a:r>
              <a:rPr lang="en-US" sz="2000" dirty="0">
                <a:latin typeface="Times New Roman" panose="02020603050405020304" pitchFamily="18" charset="0"/>
                <a:cs typeface="Times New Roman" panose="02020603050405020304" pitchFamily="18" charset="0"/>
              </a:rPr>
              <a:t>The project uses IDM for longitudinal control, Hybrid A* for trajectory generation, and motion-primitive based controllers for executing feasible maneuvers, integrated with a real-time V2V communication module.</a:t>
            </a:r>
          </a:p>
          <a:p>
            <a:pPr marL="0" indent="0" algn="just">
              <a:buNone/>
            </a:pPr>
            <a:r>
              <a:rPr lang="en-US" sz="2000" b="1" dirty="0">
                <a:latin typeface="Times New Roman" panose="02020603050405020304" pitchFamily="18" charset="0"/>
                <a:cs typeface="Times New Roman" panose="02020603050405020304" pitchFamily="18" charset="0"/>
              </a:rPr>
              <a:t>4. Working Process</a:t>
            </a:r>
          </a:p>
          <a:p>
            <a:pPr algn="just"/>
            <a:r>
              <a:rPr lang="en-US" sz="2000" dirty="0">
                <a:latin typeface="Times New Roman" panose="02020603050405020304" pitchFamily="18" charset="0"/>
                <a:cs typeface="Times New Roman" panose="02020603050405020304" pitchFamily="18" charset="0"/>
              </a:rPr>
              <a:t>Each agent observes its environment, receives V2V data from nearby agents, fuses both sources, predicts obstacles, computes a safe trajectory, and performs lane-keeping, braking, or maneuvering accordingly.</a:t>
            </a:r>
          </a:p>
          <a:p>
            <a:pPr marL="0" indent="0" algn="just">
              <a:buNone/>
            </a:pPr>
            <a:r>
              <a:rPr lang="en-US" sz="2000" b="1" dirty="0">
                <a:latin typeface="Times New Roman" panose="02020603050405020304" pitchFamily="18" charset="0"/>
                <a:cs typeface="Times New Roman" panose="02020603050405020304" pitchFamily="18" charset="0"/>
              </a:rPr>
              <a:t>5. Results from Algorithm</a:t>
            </a:r>
          </a:p>
          <a:p>
            <a:pPr algn="just"/>
            <a:r>
              <a:rPr lang="en-US" sz="2000" dirty="0">
                <a:latin typeface="Times New Roman" panose="02020603050405020304" pitchFamily="18" charset="0"/>
                <a:cs typeface="Times New Roman" panose="02020603050405020304" pitchFamily="18" charset="0"/>
              </a:rPr>
              <a:t>The integrated pipeline shows reduced collisions, smoother trajectories, faster reaction time, and improved multi-agent coordination compared to non-communicating autonomous vehicles.</a:t>
            </a:r>
          </a:p>
          <a:p>
            <a:pPr marL="0" indent="0" algn="just">
              <a:buNone/>
            </a:pPr>
            <a:endParaRPr lang="en-IN" sz="2000" b="1" dirty="0">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9D86F0EF-EBC1-6A74-6897-E6ABC1B47DBC}"/>
              </a:ext>
            </a:extLst>
          </p:cNvPr>
          <p:cNvPicPr>
            <a:picLocks noChangeAspect="1" noChangeArrowheads="1"/>
          </p:cNvPicPr>
          <p:nvPr/>
        </p:nvPicPr>
        <p:blipFill>
          <a:blip r:embed="rId3"/>
          <a:srcRect/>
          <a:stretch>
            <a:fillRect/>
          </a:stretch>
        </p:blipFill>
        <p:spPr bwMode="auto">
          <a:xfrm>
            <a:off x="0" y="32570"/>
            <a:ext cx="1285884" cy="1000108"/>
          </a:xfrm>
          <a:prstGeom prst="rect">
            <a:avLst/>
          </a:prstGeom>
          <a:noFill/>
        </p:spPr>
      </p:pic>
      <p:pic>
        <p:nvPicPr>
          <p:cNvPr id="7" name="Picture 2" descr="Home - Information Science and Engineering">
            <a:extLst>
              <a:ext uri="{FF2B5EF4-FFF2-40B4-BE49-F238E27FC236}">
                <a16:creationId xmlns:a16="http://schemas.microsoft.com/office/drawing/2014/main" id="{44C3ECB9-BFF8-B678-2CF7-21A29324CEE3}"/>
              </a:ext>
            </a:extLst>
          </p:cNvPr>
          <p:cNvPicPr>
            <a:picLocks noChangeAspect="1" noChangeArrowheads="1"/>
          </p:cNvPicPr>
          <p:nvPr/>
        </p:nvPicPr>
        <p:blipFill>
          <a:blip r:embed="rId4">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D4B60FA2-0DB8-4AB9-39C3-21EC3A413A42}"/>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0" name="Straight Connector 9">
            <a:extLst>
              <a:ext uri="{FF2B5EF4-FFF2-40B4-BE49-F238E27FC236}">
                <a16:creationId xmlns:a16="http://schemas.microsoft.com/office/drawing/2014/main" id="{8AD34E30-1B32-C0A4-B4D8-5F9D762035F2}"/>
              </a:ext>
            </a:extLst>
          </p:cNvPr>
          <p:cNvCxnSpPr>
            <a:cxnSpLocks/>
          </p:cNvCxnSpPr>
          <p:nvPr/>
        </p:nvCxnSpPr>
        <p:spPr>
          <a:xfrm>
            <a:off x="0" y="6492874"/>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2" name="Footer Placeholder 11">
            <a:extLst>
              <a:ext uri="{FF2B5EF4-FFF2-40B4-BE49-F238E27FC236}">
                <a16:creationId xmlns:a16="http://schemas.microsoft.com/office/drawing/2014/main" id="{477605EF-E995-4A5A-2711-6AD630E03C30}"/>
              </a:ext>
            </a:extLst>
          </p:cNvPr>
          <p:cNvSpPr>
            <a:spLocks noGrp="1"/>
          </p:cNvSpPr>
          <p:nvPr>
            <p:ph type="ftr" sz="quarter" idx="11"/>
          </p:nvPr>
        </p:nvSpPr>
        <p:spPr/>
        <p:txBody>
          <a:bodyPr/>
          <a:lstStyle/>
          <a:p>
            <a:r>
              <a:rPr lang="en-US"/>
              <a:t>Autonomous Multi-Agent V2V Simulation with MetaDrive</a:t>
            </a:r>
          </a:p>
        </p:txBody>
      </p:sp>
      <p:sp>
        <p:nvSpPr>
          <p:cNvPr id="13" name="Slide Number Placeholder 12">
            <a:extLst>
              <a:ext uri="{FF2B5EF4-FFF2-40B4-BE49-F238E27FC236}">
                <a16:creationId xmlns:a16="http://schemas.microsoft.com/office/drawing/2014/main" id="{37AB2EB5-E084-F3F7-4F80-305791561693}"/>
              </a:ext>
            </a:extLst>
          </p:cNvPr>
          <p:cNvSpPr>
            <a:spLocks noGrp="1"/>
          </p:cNvSpPr>
          <p:nvPr>
            <p:ph type="sldNum" sz="quarter" idx="12"/>
          </p:nvPr>
        </p:nvSpPr>
        <p:spPr/>
        <p:txBody>
          <a:bodyPr/>
          <a:lstStyle/>
          <a:p>
            <a:fld id="{FC6170F0-41F2-461F-AAB8-A7A369DA6ABC}" type="slidenum">
              <a:rPr lang="en-US" smtClean="0"/>
              <a:pPr/>
              <a:t>15</a:t>
            </a:fld>
            <a:endParaRPr lang="en-US"/>
          </a:p>
        </p:txBody>
      </p:sp>
    </p:spTree>
    <p:extLst>
      <p:ext uri="{BB962C8B-B14F-4D97-AF65-F5344CB8AC3E}">
        <p14:creationId xmlns:p14="http://schemas.microsoft.com/office/powerpoint/2010/main" val="3318277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2998D-CB5A-C2AE-7DAB-241DD2349BC2}"/>
              </a:ext>
            </a:extLst>
          </p:cNvPr>
          <p:cNvSpPr>
            <a:spLocks noGrp="1"/>
          </p:cNvSpPr>
          <p:nvPr>
            <p:ph type="title"/>
          </p:nvPr>
        </p:nvSpPr>
        <p:spPr>
          <a:xfrm>
            <a:off x="457200" y="274638"/>
            <a:ext cx="8229600" cy="634082"/>
          </a:xfrm>
        </p:spPr>
        <p:txBody>
          <a:bodyPr>
            <a:normAutofit fontScale="90000"/>
          </a:bodyPr>
          <a:lstStyle/>
          <a:p>
            <a:r>
              <a:rPr lang="en-IN"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METHODOLOGY</a:t>
            </a:r>
            <a:endParaRPr lang="en-IN" dirty="0">
              <a:solidFill>
                <a:schemeClr val="accent1">
                  <a:lumMod val="75000"/>
                </a:schemeClr>
              </a:solidFill>
            </a:endParaRPr>
          </a:p>
        </p:txBody>
      </p:sp>
      <p:pic>
        <p:nvPicPr>
          <p:cNvPr id="5" name="Picture 3" descr="C:\Users\welco_koih58\OneDrive\Desktop\download.jpg">
            <a:extLst>
              <a:ext uri="{FF2B5EF4-FFF2-40B4-BE49-F238E27FC236}">
                <a16:creationId xmlns:a16="http://schemas.microsoft.com/office/drawing/2014/main" id="{059CF423-1007-0FE7-1586-E48B58218FF5}"/>
              </a:ext>
            </a:extLst>
          </p:cNvPr>
          <p:cNvPicPr>
            <a:picLocks noChangeAspect="1" noChangeArrowheads="1"/>
          </p:cNvPicPr>
          <p:nvPr/>
        </p:nvPicPr>
        <p:blipFill>
          <a:blip r:embed="rId2"/>
          <a:srcRect/>
          <a:stretch>
            <a:fillRect/>
          </a:stretch>
        </p:blipFill>
        <p:spPr bwMode="auto">
          <a:xfrm>
            <a:off x="90721" y="64817"/>
            <a:ext cx="1285884" cy="1000108"/>
          </a:xfrm>
          <a:prstGeom prst="rect">
            <a:avLst/>
          </a:prstGeom>
          <a:noFill/>
        </p:spPr>
      </p:pic>
      <p:pic>
        <p:nvPicPr>
          <p:cNvPr id="6" name="Picture 2" descr="Home - Information Science and Engineering">
            <a:extLst>
              <a:ext uri="{FF2B5EF4-FFF2-40B4-BE49-F238E27FC236}">
                <a16:creationId xmlns:a16="http://schemas.microsoft.com/office/drawing/2014/main" id="{2F16D93F-5256-52F2-00CA-26DBE19B4F08}"/>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8072430" y="0"/>
            <a:ext cx="1071570" cy="1000108"/>
          </a:xfrm>
          <a:prstGeom prst="rect">
            <a:avLst/>
          </a:prstGeom>
          <a:noFill/>
          <a:ln w="9525">
            <a:noFill/>
            <a:miter lim="800000"/>
            <a:headEnd/>
            <a:tailEnd/>
          </a:ln>
        </p:spPr>
      </p:pic>
      <p:cxnSp>
        <p:nvCxnSpPr>
          <p:cNvPr id="7" name="Straight Connector 6">
            <a:extLst>
              <a:ext uri="{FF2B5EF4-FFF2-40B4-BE49-F238E27FC236}">
                <a16:creationId xmlns:a16="http://schemas.microsoft.com/office/drawing/2014/main" id="{DF179BE1-13BF-1ADA-C5D5-C820F8519666}"/>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8" name="Straight Connector 7">
            <a:extLst>
              <a:ext uri="{FF2B5EF4-FFF2-40B4-BE49-F238E27FC236}">
                <a16:creationId xmlns:a16="http://schemas.microsoft.com/office/drawing/2014/main" id="{5C55355A-191A-1F67-8EEC-E6188B5CF411}"/>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AA86AEF5-BD4E-DECE-E0B8-CBC21E20F11F}"/>
              </a:ext>
            </a:extLst>
          </p:cNvPr>
          <p:cNvSpPr txBox="1"/>
          <p:nvPr/>
        </p:nvSpPr>
        <p:spPr>
          <a:xfrm>
            <a:off x="457200" y="1268760"/>
            <a:ext cx="8147248" cy="3548472"/>
          </a:xfrm>
          <a:prstGeom prst="rect">
            <a:avLst/>
          </a:prstGeom>
          <a:noFill/>
        </p:spPr>
        <p:txBody>
          <a:bodyPr wrap="square" rtlCol="0">
            <a:spAutoFit/>
          </a:bodyPr>
          <a:lstStyle/>
          <a:p>
            <a:pPr algn="just">
              <a:lnSpc>
                <a:spcPct val="150000"/>
              </a:lnSpc>
            </a:pPr>
            <a:r>
              <a:rPr lang="en-US" sz="1900" b="1" dirty="0">
                <a:latin typeface="Times New Roman" panose="02020603050405020304" pitchFamily="18" charset="0"/>
                <a:cs typeface="Times New Roman" panose="02020603050405020304" pitchFamily="18" charset="0"/>
              </a:rPr>
              <a:t>The Intelligent Driver Model </a:t>
            </a:r>
          </a:p>
          <a:p>
            <a:pPr algn="just">
              <a:lnSpc>
                <a:spcPct val="150000"/>
              </a:lnSpc>
            </a:pPr>
            <a:r>
              <a:rPr lang="en-US" sz="1900" dirty="0">
                <a:latin typeface="Times New Roman" panose="02020603050405020304" pitchFamily="18" charset="0"/>
                <a:cs typeface="Times New Roman" panose="02020603050405020304" pitchFamily="18" charset="0"/>
              </a:rPr>
              <a:t>The Intelligent Driver Model is used to control the longitudinal behavior of each autonomous vehicle in the simulation. It calculates the acceleration and braking required to maintain a safe distance from the vehicle ahead while ensuring smooth driving. IDM reacts to changes in the environment by regulating speed based on headway, relative velocity, and desired time gaps. This model helps the agents mimic realistic human-like driving and ensures that vehicles adapt effectively to dynamic traffic conditions within the </a:t>
            </a:r>
            <a:r>
              <a:rPr lang="en-US" sz="1900" dirty="0" err="1">
                <a:latin typeface="Times New Roman" panose="02020603050405020304" pitchFamily="18" charset="0"/>
                <a:cs typeface="Times New Roman" panose="02020603050405020304" pitchFamily="18" charset="0"/>
              </a:rPr>
              <a:t>MetaDrive</a:t>
            </a:r>
            <a:r>
              <a:rPr lang="en-US" sz="1900" dirty="0">
                <a:latin typeface="Times New Roman" panose="02020603050405020304" pitchFamily="18" charset="0"/>
                <a:cs typeface="Times New Roman" panose="02020603050405020304" pitchFamily="18" charset="0"/>
              </a:rPr>
              <a:t> environment.</a:t>
            </a:r>
          </a:p>
        </p:txBody>
      </p:sp>
      <p:sp>
        <p:nvSpPr>
          <p:cNvPr id="11" name="Footer Placeholder 10">
            <a:extLst>
              <a:ext uri="{FF2B5EF4-FFF2-40B4-BE49-F238E27FC236}">
                <a16:creationId xmlns:a16="http://schemas.microsoft.com/office/drawing/2014/main" id="{4C49CAE6-6BE7-B77C-2E41-F622E1100388}"/>
              </a:ext>
            </a:extLst>
          </p:cNvPr>
          <p:cNvSpPr>
            <a:spLocks noGrp="1"/>
          </p:cNvSpPr>
          <p:nvPr>
            <p:ph type="ftr" sz="quarter" idx="11"/>
          </p:nvPr>
        </p:nvSpPr>
        <p:spPr/>
        <p:txBody>
          <a:bodyPr/>
          <a:lstStyle/>
          <a:p>
            <a:r>
              <a:rPr lang="en-US"/>
              <a:t>Autonomous Multi-Agent V2V Simulation with MetaDrive</a:t>
            </a:r>
          </a:p>
        </p:txBody>
      </p:sp>
      <p:sp>
        <p:nvSpPr>
          <p:cNvPr id="12" name="Slide Number Placeholder 11">
            <a:extLst>
              <a:ext uri="{FF2B5EF4-FFF2-40B4-BE49-F238E27FC236}">
                <a16:creationId xmlns:a16="http://schemas.microsoft.com/office/drawing/2014/main" id="{73D2DC39-2D7D-DCD6-6AD3-9356EA6BF52B}"/>
              </a:ext>
            </a:extLst>
          </p:cNvPr>
          <p:cNvSpPr>
            <a:spLocks noGrp="1"/>
          </p:cNvSpPr>
          <p:nvPr>
            <p:ph type="sldNum" sz="quarter" idx="12"/>
          </p:nvPr>
        </p:nvSpPr>
        <p:spPr/>
        <p:txBody>
          <a:bodyPr/>
          <a:lstStyle/>
          <a:p>
            <a:fld id="{FC6170F0-41F2-461F-AAB8-A7A369DA6ABC}" type="slidenum">
              <a:rPr lang="en-US" smtClean="0"/>
              <a:pPr/>
              <a:t>16</a:t>
            </a:fld>
            <a:endParaRPr lang="en-US"/>
          </a:p>
        </p:txBody>
      </p:sp>
    </p:spTree>
    <p:extLst>
      <p:ext uri="{BB962C8B-B14F-4D97-AF65-F5344CB8AC3E}">
        <p14:creationId xmlns:p14="http://schemas.microsoft.com/office/powerpoint/2010/main" val="1821325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FF10-5C91-ACDA-4E93-FBE372FB97D2}"/>
              </a:ext>
            </a:extLst>
          </p:cNvPr>
          <p:cNvSpPr>
            <a:spLocks noGrp="1"/>
          </p:cNvSpPr>
          <p:nvPr>
            <p:ph type="title"/>
          </p:nvPr>
        </p:nvSpPr>
        <p:spPr>
          <a:xfrm>
            <a:off x="90721" y="64818"/>
            <a:ext cx="8962558" cy="1000108"/>
          </a:xfrm>
        </p:spPr>
        <p:txBody>
          <a:bodyPr>
            <a:normAutofit/>
          </a:bodyPr>
          <a:lstStyle/>
          <a:p>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METHODOLOGY</a:t>
            </a: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71B51406-F5A3-D05F-6866-A64831C7EFDF}"/>
              </a:ext>
            </a:extLst>
          </p:cNvPr>
          <p:cNvSpPr>
            <a:spLocks noGrp="1"/>
          </p:cNvSpPr>
          <p:nvPr>
            <p:ph idx="1"/>
          </p:nvPr>
        </p:nvSpPr>
        <p:spPr>
          <a:xfrm>
            <a:off x="467544" y="1268760"/>
            <a:ext cx="8219256" cy="5112568"/>
          </a:xfrm>
        </p:spPr>
        <p:txBody>
          <a:bodyPr>
            <a:normAutofit/>
          </a:bodyPr>
          <a:lstStyle/>
          <a:p>
            <a:pPr marL="0" indent="0" algn="just">
              <a:lnSpc>
                <a:spcPct val="150000"/>
              </a:lnSpc>
              <a:buNone/>
            </a:pPr>
            <a:r>
              <a:rPr lang="en-US" sz="1900" b="1" dirty="0">
                <a:latin typeface="Times New Roman" panose="02020603050405020304" pitchFamily="18" charset="0"/>
                <a:cs typeface="Times New Roman" panose="02020603050405020304" pitchFamily="18" charset="0"/>
              </a:rPr>
              <a:t>Hybrid A* </a:t>
            </a:r>
            <a:r>
              <a:rPr lang="en-IN" sz="2000" b="1" dirty="0">
                <a:latin typeface="Times New Roman" panose="02020603050405020304" pitchFamily="18" charset="0"/>
                <a:cs typeface="Times New Roman" panose="02020603050405020304" pitchFamily="18" charset="0"/>
              </a:rPr>
              <a:t>Path Planning</a:t>
            </a:r>
          </a:p>
          <a:p>
            <a:pPr marL="0" indent="0" algn="just">
              <a:lnSpc>
                <a:spcPct val="150000"/>
              </a:lnSpc>
              <a:buNone/>
            </a:pPr>
            <a:r>
              <a:rPr lang="en-US" sz="1900" dirty="0">
                <a:latin typeface="Times New Roman" panose="02020603050405020304" pitchFamily="18" charset="0"/>
                <a:cs typeface="Times New Roman" panose="02020603050405020304" pitchFamily="18" charset="0"/>
              </a:rPr>
              <a:t> Hybrid A* is used for generating feasible and smooth trajectories for each vehicle. It combines continuous vehicle motion models with discrete search, allowing the planner to consider steering constraints and non-holonomic vehicle behavior. Hybrid A* provides collision-free paths by evaluating cost maps and selecting the safest, smoothest trajectory among available options. Its ability to produce drivable curves makes it ideal for autonomous navigation in complex, multi-agent environments.</a:t>
            </a:r>
            <a:endParaRPr lang="en-IN" sz="1900" dirty="0">
              <a:latin typeface="Times New Roman" panose="02020603050405020304" pitchFamily="18" charset="0"/>
              <a:cs typeface="Times New Roman" panose="02020603050405020304" pitchFamily="18" charset="0"/>
            </a:endParaRPr>
          </a:p>
        </p:txBody>
      </p:sp>
      <p:pic>
        <p:nvPicPr>
          <p:cNvPr id="6" name="Picture 3" descr="C:\Users\welco_koih58\OneDrive\Desktop\download.jpg">
            <a:extLst>
              <a:ext uri="{FF2B5EF4-FFF2-40B4-BE49-F238E27FC236}">
                <a16:creationId xmlns:a16="http://schemas.microsoft.com/office/drawing/2014/main" id="{6970E1BE-A95C-9C97-F241-4A810984D840}"/>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7" name="Picture 2" descr="Home - Information Science and Engineering">
            <a:extLst>
              <a:ext uri="{FF2B5EF4-FFF2-40B4-BE49-F238E27FC236}">
                <a16:creationId xmlns:a16="http://schemas.microsoft.com/office/drawing/2014/main" id="{DD249F01-CE29-13BC-D6BB-CCC0FBAC9A45}"/>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CE98144A-1F45-FA48-2C17-2158AD2C486B}"/>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F68115B5-386F-BDC9-5A26-FA996545DD2B}"/>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2" name="Footer Placeholder 11">
            <a:extLst>
              <a:ext uri="{FF2B5EF4-FFF2-40B4-BE49-F238E27FC236}">
                <a16:creationId xmlns:a16="http://schemas.microsoft.com/office/drawing/2014/main" id="{51593CD9-DAD6-6F60-CC41-B44894D3F20C}"/>
              </a:ext>
            </a:extLst>
          </p:cNvPr>
          <p:cNvSpPr>
            <a:spLocks noGrp="1"/>
          </p:cNvSpPr>
          <p:nvPr>
            <p:ph type="ftr" sz="quarter" idx="11"/>
          </p:nvPr>
        </p:nvSpPr>
        <p:spPr/>
        <p:txBody>
          <a:bodyPr/>
          <a:lstStyle/>
          <a:p>
            <a:r>
              <a:rPr lang="en-US"/>
              <a:t>Autonomous Multi-Agent V2V Simulation with MetaDrive</a:t>
            </a:r>
          </a:p>
        </p:txBody>
      </p:sp>
      <p:sp>
        <p:nvSpPr>
          <p:cNvPr id="13" name="Slide Number Placeholder 12">
            <a:extLst>
              <a:ext uri="{FF2B5EF4-FFF2-40B4-BE49-F238E27FC236}">
                <a16:creationId xmlns:a16="http://schemas.microsoft.com/office/drawing/2014/main" id="{175CC208-9AA5-0B89-F28E-A48FD94F2314}"/>
              </a:ext>
            </a:extLst>
          </p:cNvPr>
          <p:cNvSpPr>
            <a:spLocks noGrp="1"/>
          </p:cNvSpPr>
          <p:nvPr>
            <p:ph type="sldNum" sz="quarter" idx="12"/>
          </p:nvPr>
        </p:nvSpPr>
        <p:spPr/>
        <p:txBody>
          <a:bodyPr/>
          <a:lstStyle/>
          <a:p>
            <a:fld id="{FC6170F0-41F2-461F-AAB8-A7A369DA6ABC}" type="slidenum">
              <a:rPr lang="en-US" smtClean="0"/>
              <a:pPr/>
              <a:t>17</a:t>
            </a:fld>
            <a:endParaRPr lang="en-US"/>
          </a:p>
        </p:txBody>
      </p:sp>
    </p:spTree>
    <p:extLst>
      <p:ext uri="{BB962C8B-B14F-4D97-AF65-F5344CB8AC3E}">
        <p14:creationId xmlns:p14="http://schemas.microsoft.com/office/powerpoint/2010/main" val="2643169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455BB90-963F-4813-4701-E74A0BA85D33}"/>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METHODOLOGY</a:t>
            </a:r>
            <a:endParaRPr lang="en-IN" sz="3200" dirty="0">
              <a:solidFill>
                <a:schemeClr val="accent1">
                  <a:lumMod val="75000"/>
                </a:schemeClr>
              </a:solidFill>
            </a:endParaRPr>
          </a:p>
        </p:txBody>
      </p:sp>
      <p:pic>
        <p:nvPicPr>
          <p:cNvPr id="14" name="Picture 3" descr="C:\Users\welco_koih58\OneDrive\Desktop\download.jpg">
            <a:extLst>
              <a:ext uri="{FF2B5EF4-FFF2-40B4-BE49-F238E27FC236}">
                <a16:creationId xmlns:a16="http://schemas.microsoft.com/office/drawing/2014/main" id="{D0DE9AD7-1A91-F967-A04A-D69E78563300}"/>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5" name="Picture 2" descr="Home - Information Science and Engineering">
            <a:extLst>
              <a:ext uri="{FF2B5EF4-FFF2-40B4-BE49-F238E27FC236}">
                <a16:creationId xmlns:a16="http://schemas.microsoft.com/office/drawing/2014/main" id="{5A353C02-6C95-3135-73E0-B56CA2236800}"/>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22" name="Straight Connector 21">
            <a:extLst>
              <a:ext uri="{FF2B5EF4-FFF2-40B4-BE49-F238E27FC236}">
                <a16:creationId xmlns:a16="http://schemas.microsoft.com/office/drawing/2014/main" id="{D6986851-7385-34C9-91F6-09E1A4BD22D7}"/>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25" name="TextBox 24">
            <a:extLst>
              <a:ext uri="{FF2B5EF4-FFF2-40B4-BE49-F238E27FC236}">
                <a16:creationId xmlns:a16="http://schemas.microsoft.com/office/drawing/2014/main" id="{9CEF4699-B004-CA7D-0EB0-F24C213AA11E}"/>
              </a:ext>
            </a:extLst>
          </p:cNvPr>
          <p:cNvSpPr txBox="1"/>
          <p:nvPr/>
        </p:nvSpPr>
        <p:spPr>
          <a:xfrm>
            <a:off x="251520" y="1268760"/>
            <a:ext cx="8568952" cy="3109890"/>
          </a:xfrm>
          <a:prstGeom prst="rect">
            <a:avLst/>
          </a:prstGeom>
          <a:noFill/>
        </p:spPr>
        <p:txBody>
          <a:bodyPr wrap="square" rtlCol="0">
            <a:spAutoFit/>
          </a:bodyPr>
          <a:lstStyle/>
          <a:p>
            <a:pPr algn="just">
              <a:lnSpc>
                <a:spcPct val="150000"/>
              </a:lnSpc>
            </a:pPr>
            <a:r>
              <a:rPr lang="en-US" sz="1900" b="1" dirty="0">
                <a:latin typeface="Times New Roman" panose="02020603050405020304" pitchFamily="18" charset="0"/>
                <a:cs typeface="Times New Roman" panose="02020603050405020304" pitchFamily="18" charset="0"/>
              </a:rPr>
              <a:t>Motion Primitives </a:t>
            </a:r>
          </a:p>
          <a:p>
            <a:pPr algn="just">
              <a:lnSpc>
                <a:spcPct val="150000"/>
              </a:lnSpc>
            </a:pPr>
            <a:r>
              <a:rPr lang="en-IN" sz="1900" dirty="0">
                <a:latin typeface="Times New Roman" panose="02020603050405020304" pitchFamily="18" charset="0"/>
                <a:cs typeface="Times New Roman" panose="02020603050405020304" pitchFamily="18" charset="0"/>
              </a:rPr>
              <a:t>Motion primitives </a:t>
            </a:r>
            <a:r>
              <a:rPr lang="en-US" sz="1900" dirty="0">
                <a:latin typeface="Times New Roman" panose="02020603050405020304" pitchFamily="18" charset="0"/>
                <a:cs typeface="Times New Roman" panose="02020603050405020304" pitchFamily="18" charset="0"/>
              </a:rPr>
              <a:t>are predefined low-level maneuver segments used to convert trajectory decisions into executable vehicle motions. Each primitive represents a small feasible movement such as slight steering, braking, or lane adjustment. By chaining these primitives, the vehicle can execute continuous paths planned by Hybrid A*. This ensures smooth navigation while respecting vehicle dynamics and avoids abrupt or unrealistic movements in the simulation.</a:t>
            </a:r>
            <a:endParaRPr lang="en-IN" sz="1900" dirty="0">
              <a:latin typeface="Times New Roman" panose="02020603050405020304" pitchFamily="18" charset="0"/>
              <a:cs typeface="Times New Roman" panose="02020603050405020304" pitchFamily="18" charset="0"/>
            </a:endParaRPr>
          </a:p>
        </p:txBody>
      </p:sp>
      <p:cxnSp>
        <p:nvCxnSpPr>
          <p:cNvPr id="29" name="Straight Connector 28">
            <a:extLst>
              <a:ext uri="{FF2B5EF4-FFF2-40B4-BE49-F238E27FC236}">
                <a16:creationId xmlns:a16="http://schemas.microsoft.com/office/drawing/2014/main" id="{4F90F3A4-1297-E50A-F307-D23285537506}"/>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4" name="Footer Placeholder 3">
            <a:extLst>
              <a:ext uri="{FF2B5EF4-FFF2-40B4-BE49-F238E27FC236}">
                <a16:creationId xmlns:a16="http://schemas.microsoft.com/office/drawing/2014/main" id="{50D2E8A0-50A9-5E06-2927-661555373894}"/>
              </a:ext>
            </a:extLst>
          </p:cNvPr>
          <p:cNvSpPr>
            <a:spLocks noGrp="1"/>
          </p:cNvSpPr>
          <p:nvPr>
            <p:ph type="ftr" sz="quarter" idx="11"/>
          </p:nvPr>
        </p:nvSpPr>
        <p:spPr/>
        <p:txBody>
          <a:bodyPr/>
          <a:lstStyle/>
          <a:p>
            <a:r>
              <a:rPr lang="en-US"/>
              <a:t>Autonomous Multi-Agent V2V Simulation with MetaDrive</a:t>
            </a:r>
          </a:p>
        </p:txBody>
      </p:sp>
      <p:sp>
        <p:nvSpPr>
          <p:cNvPr id="6" name="Slide Number Placeholder 5">
            <a:extLst>
              <a:ext uri="{FF2B5EF4-FFF2-40B4-BE49-F238E27FC236}">
                <a16:creationId xmlns:a16="http://schemas.microsoft.com/office/drawing/2014/main" id="{479BFD40-3244-25FB-6798-873EA44FF0F2}"/>
              </a:ext>
            </a:extLst>
          </p:cNvPr>
          <p:cNvSpPr>
            <a:spLocks noGrp="1"/>
          </p:cNvSpPr>
          <p:nvPr>
            <p:ph type="sldNum" sz="quarter" idx="12"/>
          </p:nvPr>
        </p:nvSpPr>
        <p:spPr/>
        <p:txBody>
          <a:bodyPr/>
          <a:lstStyle/>
          <a:p>
            <a:fld id="{FC6170F0-41F2-461F-AAB8-A7A369DA6ABC}" type="slidenum">
              <a:rPr lang="en-US" smtClean="0"/>
              <a:pPr/>
              <a:t>18</a:t>
            </a:fld>
            <a:endParaRPr lang="en-US"/>
          </a:p>
        </p:txBody>
      </p:sp>
    </p:spTree>
    <p:extLst>
      <p:ext uri="{BB962C8B-B14F-4D97-AF65-F5344CB8AC3E}">
        <p14:creationId xmlns:p14="http://schemas.microsoft.com/office/powerpoint/2010/main" val="842625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9F31802-309D-848A-467F-9FDC8A0C390D}"/>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METHODOLOGY</a:t>
            </a:r>
            <a:endParaRPr lang="en-IN" sz="3200" dirty="0">
              <a:solidFill>
                <a:schemeClr val="accent1">
                  <a:lumMod val="75000"/>
                </a:schemeClr>
              </a:solidFill>
            </a:endParaRPr>
          </a:p>
        </p:txBody>
      </p:sp>
      <p:pic>
        <p:nvPicPr>
          <p:cNvPr id="10" name="Picture 3" descr="C:\Users\welco_koih58\OneDrive\Desktop\download.jpg">
            <a:extLst>
              <a:ext uri="{FF2B5EF4-FFF2-40B4-BE49-F238E27FC236}">
                <a16:creationId xmlns:a16="http://schemas.microsoft.com/office/drawing/2014/main" id="{6F41FE3A-E7A1-BACC-DE4C-7D1FBA23CD18}"/>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1" name="Picture 2" descr="Home - Information Science and Engineering">
            <a:extLst>
              <a:ext uri="{FF2B5EF4-FFF2-40B4-BE49-F238E27FC236}">
                <a16:creationId xmlns:a16="http://schemas.microsoft.com/office/drawing/2014/main" id="{0CBD92C4-EE76-D416-54A8-10548079467D}"/>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12" name="Straight Connector 11">
            <a:extLst>
              <a:ext uri="{FF2B5EF4-FFF2-40B4-BE49-F238E27FC236}">
                <a16:creationId xmlns:a16="http://schemas.microsoft.com/office/drawing/2014/main" id="{3E39C042-FF49-D3BC-2058-66AABB693784}"/>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DCEABB8D-F618-7228-B764-0B224AA6AC47}"/>
              </a:ext>
            </a:extLst>
          </p:cNvPr>
          <p:cNvSpPr txBox="1"/>
          <p:nvPr/>
        </p:nvSpPr>
        <p:spPr>
          <a:xfrm>
            <a:off x="90721" y="1340768"/>
            <a:ext cx="8873767" cy="3548472"/>
          </a:xfrm>
          <a:prstGeom prst="rect">
            <a:avLst/>
          </a:prstGeom>
          <a:noFill/>
        </p:spPr>
        <p:txBody>
          <a:bodyPr wrap="square" rtlCol="0">
            <a:spAutoFit/>
          </a:bodyPr>
          <a:lstStyle/>
          <a:p>
            <a:pPr algn="just">
              <a:lnSpc>
                <a:spcPct val="150000"/>
              </a:lnSpc>
            </a:pPr>
            <a:r>
              <a:rPr lang="fr-FR" sz="1900" b="1" dirty="0">
                <a:latin typeface="Times New Roman" panose="02020603050405020304" pitchFamily="18" charset="0"/>
                <a:cs typeface="Times New Roman" panose="02020603050405020304" pitchFamily="18" charset="0"/>
              </a:rPr>
              <a:t>V2V Communication Module (UDP + AES </a:t>
            </a:r>
            <a:r>
              <a:rPr lang="fr-FR" sz="1900" b="1" dirty="0" err="1">
                <a:latin typeface="Times New Roman" panose="02020603050405020304" pitchFamily="18" charset="0"/>
                <a:cs typeface="Times New Roman" panose="02020603050405020304" pitchFamily="18" charset="0"/>
              </a:rPr>
              <a:t>Encryption</a:t>
            </a:r>
            <a:r>
              <a:rPr lang="en-US" sz="1900" b="1" dirty="0">
                <a:latin typeface="Times New Roman" panose="02020603050405020304" pitchFamily="18" charset="0"/>
                <a:cs typeface="Times New Roman" panose="02020603050405020304" pitchFamily="18" charset="0"/>
              </a:rPr>
              <a:t>)</a:t>
            </a:r>
          </a:p>
          <a:p>
            <a:pPr algn="just">
              <a:lnSpc>
                <a:spcPct val="150000"/>
              </a:lnSpc>
            </a:pPr>
            <a:r>
              <a:rPr lang="en-IN" sz="1900" dirty="0">
                <a:latin typeface="Times New Roman" panose="02020603050405020304" pitchFamily="18" charset="0"/>
                <a:cs typeface="Times New Roman" panose="02020603050405020304" pitchFamily="18" charset="0"/>
              </a:rPr>
              <a:t>The V2V module </a:t>
            </a:r>
            <a:r>
              <a:rPr lang="en-US" sz="1900" dirty="0">
                <a:latin typeface="Times New Roman" panose="02020603050405020304" pitchFamily="18" charset="0"/>
                <a:cs typeface="Times New Roman" panose="02020603050405020304" pitchFamily="18" charset="0"/>
              </a:rPr>
              <a:t>enables real-time exchange of vehicle state information such as position, velocity, orientation, and detected obstacles. Communication occurs using UDP broadcasting to maintain low latency, and all messages are encrypted using AES-based Fernet encryption to ensure data confidentiality and integrity. Each agent decrypts received packets, validates the state information, and integrates it with its local sensor data. This communication layer enhances situational awareness and supports cooperative decision-making.</a:t>
            </a:r>
            <a:endParaRPr lang="en-IN" sz="1900" dirty="0">
              <a:latin typeface="Times New Roman" panose="02020603050405020304" pitchFamily="18"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7F552E2B-D06A-CC7F-090B-3482E578AD65}"/>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3" name="Footer Placeholder 12">
            <a:extLst>
              <a:ext uri="{FF2B5EF4-FFF2-40B4-BE49-F238E27FC236}">
                <a16:creationId xmlns:a16="http://schemas.microsoft.com/office/drawing/2014/main" id="{B297928A-6EB1-7F2C-B613-5564F10F6803}"/>
              </a:ext>
            </a:extLst>
          </p:cNvPr>
          <p:cNvSpPr>
            <a:spLocks noGrp="1"/>
          </p:cNvSpPr>
          <p:nvPr>
            <p:ph type="ftr" sz="quarter" idx="11"/>
          </p:nvPr>
        </p:nvSpPr>
        <p:spPr/>
        <p:txBody>
          <a:bodyPr/>
          <a:lstStyle/>
          <a:p>
            <a:r>
              <a:rPr lang="en-US"/>
              <a:t>Autonomous Multi-Agent V2V Simulation with MetaDrive</a:t>
            </a:r>
          </a:p>
        </p:txBody>
      </p:sp>
      <p:sp>
        <p:nvSpPr>
          <p:cNvPr id="14" name="Slide Number Placeholder 13">
            <a:extLst>
              <a:ext uri="{FF2B5EF4-FFF2-40B4-BE49-F238E27FC236}">
                <a16:creationId xmlns:a16="http://schemas.microsoft.com/office/drawing/2014/main" id="{A14E1ADA-CBA2-CCB6-968C-5AECBFED84DA}"/>
              </a:ext>
            </a:extLst>
          </p:cNvPr>
          <p:cNvSpPr>
            <a:spLocks noGrp="1"/>
          </p:cNvSpPr>
          <p:nvPr>
            <p:ph type="sldNum" sz="quarter" idx="12"/>
          </p:nvPr>
        </p:nvSpPr>
        <p:spPr/>
        <p:txBody>
          <a:bodyPr/>
          <a:lstStyle/>
          <a:p>
            <a:fld id="{FC6170F0-41F2-461F-AAB8-A7A369DA6ABC}" type="slidenum">
              <a:rPr lang="en-US" smtClean="0"/>
              <a:pPr/>
              <a:t>19</a:t>
            </a:fld>
            <a:endParaRPr lang="en-US"/>
          </a:p>
        </p:txBody>
      </p:sp>
    </p:spTree>
    <p:extLst>
      <p:ext uri="{BB962C8B-B14F-4D97-AF65-F5344CB8AC3E}">
        <p14:creationId xmlns:p14="http://schemas.microsoft.com/office/powerpoint/2010/main" val="2200635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9F31802-309D-848A-467F-9FDC8A0C390D}"/>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METHODOLOGY</a:t>
            </a:r>
            <a:endParaRPr lang="en-IN" sz="3200" dirty="0">
              <a:solidFill>
                <a:schemeClr val="accent1">
                  <a:lumMod val="75000"/>
                </a:schemeClr>
              </a:solidFill>
            </a:endParaRPr>
          </a:p>
        </p:txBody>
      </p:sp>
      <p:pic>
        <p:nvPicPr>
          <p:cNvPr id="10" name="Picture 3" descr="C:\Users\welco_koih58\OneDrive\Desktop\download.jpg">
            <a:extLst>
              <a:ext uri="{FF2B5EF4-FFF2-40B4-BE49-F238E27FC236}">
                <a16:creationId xmlns:a16="http://schemas.microsoft.com/office/drawing/2014/main" id="{6F41FE3A-E7A1-BACC-DE4C-7D1FBA23CD18}"/>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1" name="Picture 2" descr="Home - Information Science and Engineering">
            <a:extLst>
              <a:ext uri="{FF2B5EF4-FFF2-40B4-BE49-F238E27FC236}">
                <a16:creationId xmlns:a16="http://schemas.microsoft.com/office/drawing/2014/main" id="{0CBD92C4-EE76-D416-54A8-10548079467D}"/>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12" name="Straight Connector 11">
            <a:extLst>
              <a:ext uri="{FF2B5EF4-FFF2-40B4-BE49-F238E27FC236}">
                <a16:creationId xmlns:a16="http://schemas.microsoft.com/office/drawing/2014/main" id="{3E39C042-FF49-D3BC-2058-66AABB693784}"/>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DCEABB8D-F618-7228-B764-0B224AA6AC47}"/>
              </a:ext>
            </a:extLst>
          </p:cNvPr>
          <p:cNvSpPr txBox="1"/>
          <p:nvPr/>
        </p:nvSpPr>
        <p:spPr>
          <a:xfrm>
            <a:off x="348946" y="1329376"/>
            <a:ext cx="8337853" cy="3651064"/>
          </a:xfrm>
          <a:prstGeom prst="rect">
            <a:avLst/>
          </a:prstGeom>
          <a:noFill/>
        </p:spPr>
        <p:txBody>
          <a:bodyPr wrap="square" rtlCol="0">
            <a:spAutoFit/>
          </a:bodyPr>
          <a:lstStyle/>
          <a:p>
            <a:pPr algn="just">
              <a:lnSpc>
                <a:spcPct val="150000"/>
              </a:lnSpc>
              <a:spcAft>
                <a:spcPts val="800"/>
              </a:spcAft>
            </a:pPr>
            <a:r>
              <a:rPr lang="en-IN" sz="1900" b="1" dirty="0">
                <a:latin typeface="Times New Roman" panose="02020603050405020304" pitchFamily="18" charset="0"/>
                <a:cs typeface="Times New Roman" panose="02020603050405020304" pitchFamily="18" charset="0"/>
              </a:rPr>
              <a:t>Decision-Making Pipeline</a:t>
            </a:r>
            <a:endParaRPr lang="en-US" sz="1900" b="1" dirty="0">
              <a:latin typeface="Times New Roman" panose="02020603050405020304" pitchFamily="18" charset="0"/>
              <a:cs typeface="Times New Roman" panose="02020603050405020304" pitchFamily="18" charset="0"/>
            </a:endParaRPr>
          </a:p>
          <a:p>
            <a:pPr algn="just">
              <a:lnSpc>
                <a:spcPct val="150000"/>
              </a:lnSpc>
              <a:spcAft>
                <a:spcPts val="800"/>
              </a:spcAft>
            </a:pPr>
            <a:r>
              <a:rPr lang="en-US" sz="1900" dirty="0">
                <a:latin typeface="Times New Roman" panose="02020603050405020304" pitchFamily="18" charset="0"/>
                <a:cs typeface="Times New Roman" panose="02020603050405020304" pitchFamily="18" charset="0"/>
              </a:rPr>
              <a:t>The decision-making pipeline processes sensor observations and shared V2V data to evaluate the surrounding environment. Vehicles predict potential collisions by analyzing the trajectories and speeds of nearby agents, after which they select appropriate responses such as braking, accelerating, or replanning the route. The final action is executed through motion primitives, ensuring consistent and safe multi-agent coordination. This pipeline allows each agent to behave intelligently and adapt dynamically to real-time traffic conditions.</a:t>
            </a:r>
            <a:endParaRPr lang="en-IN" sz="1900" dirty="0">
              <a:latin typeface="Times New Roman" panose="02020603050405020304" pitchFamily="18"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7F552E2B-D06A-CC7F-090B-3482E578AD65}"/>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3" name="Footer Placeholder 12">
            <a:extLst>
              <a:ext uri="{FF2B5EF4-FFF2-40B4-BE49-F238E27FC236}">
                <a16:creationId xmlns:a16="http://schemas.microsoft.com/office/drawing/2014/main" id="{8B1C4057-E980-84A2-427B-8B6A83586ECA}"/>
              </a:ext>
            </a:extLst>
          </p:cNvPr>
          <p:cNvSpPr>
            <a:spLocks noGrp="1"/>
          </p:cNvSpPr>
          <p:nvPr>
            <p:ph type="ftr" sz="quarter" idx="11"/>
          </p:nvPr>
        </p:nvSpPr>
        <p:spPr/>
        <p:txBody>
          <a:bodyPr/>
          <a:lstStyle/>
          <a:p>
            <a:r>
              <a:rPr lang="en-US"/>
              <a:t>Autonomous Multi-Agent V2V Simulation with MetaDrive</a:t>
            </a:r>
          </a:p>
        </p:txBody>
      </p:sp>
      <p:sp>
        <p:nvSpPr>
          <p:cNvPr id="14" name="Slide Number Placeholder 13">
            <a:extLst>
              <a:ext uri="{FF2B5EF4-FFF2-40B4-BE49-F238E27FC236}">
                <a16:creationId xmlns:a16="http://schemas.microsoft.com/office/drawing/2014/main" id="{D795B178-055B-FF44-BE60-07594E11939A}"/>
              </a:ext>
            </a:extLst>
          </p:cNvPr>
          <p:cNvSpPr>
            <a:spLocks noGrp="1"/>
          </p:cNvSpPr>
          <p:nvPr>
            <p:ph type="sldNum" sz="quarter" idx="12"/>
          </p:nvPr>
        </p:nvSpPr>
        <p:spPr/>
        <p:txBody>
          <a:bodyPr/>
          <a:lstStyle/>
          <a:p>
            <a:fld id="{FC6170F0-41F2-461F-AAB8-A7A369DA6ABC}" type="slidenum">
              <a:rPr lang="en-US" smtClean="0"/>
              <a:pPr/>
              <a:t>20</a:t>
            </a:fld>
            <a:endParaRPr lang="en-US"/>
          </a:p>
        </p:txBody>
      </p:sp>
    </p:spTree>
    <p:extLst>
      <p:ext uri="{BB962C8B-B14F-4D97-AF65-F5344CB8AC3E}">
        <p14:creationId xmlns:p14="http://schemas.microsoft.com/office/powerpoint/2010/main" val="3445402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BB0CB19-1202-133F-2CD5-C0BC9781893D}"/>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RESULTS</a:t>
            </a:r>
            <a:endParaRPr lang="en-IN" sz="3200" dirty="0">
              <a:solidFill>
                <a:schemeClr val="accent1">
                  <a:lumMod val="75000"/>
                </a:schemeClr>
              </a:solidFill>
            </a:endParaRPr>
          </a:p>
        </p:txBody>
      </p:sp>
      <p:pic>
        <p:nvPicPr>
          <p:cNvPr id="10" name="Picture 3" descr="C:\Users\welco_koih58\OneDrive\Desktop\download.jpg">
            <a:extLst>
              <a:ext uri="{FF2B5EF4-FFF2-40B4-BE49-F238E27FC236}">
                <a16:creationId xmlns:a16="http://schemas.microsoft.com/office/drawing/2014/main" id="{52E291F1-123A-42AE-3942-9828A26EA4E7}"/>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1" name="Picture 2" descr="Home - Information Science and Engineering">
            <a:extLst>
              <a:ext uri="{FF2B5EF4-FFF2-40B4-BE49-F238E27FC236}">
                <a16:creationId xmlns:a16="http://schemas.microsoft.com/office/drawing/2014/main" id="{D7E038A3-6ED2-6F55-85F6-DBC1BA24E154}"/>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12" name="Straight Connector 11">
            <a:extLst>
              <a:ext uri="{FF2B5EF4-FFF2-40B4-BE49-F238E27FC236}">
                <a16:creationId xmlns:a16="http://schemas.microsoft.com/office/drawing/2014/main" id="{37B851C8-26BE-FB22-32AE-7F34D0F238D2}"/>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3" name="Straight Connector 12">
            <a:extLst>
              <a:ext uri="{FF2B5EF4-FFF2-40B4-BE49-F238E27FC236}">
                <a16:creationId xmlns:a16="http://schemas.microsoft.com/office/drawing/2014/main" id="{F52F32EB-475C-C035-03EC-CDC1B12062C7}"/>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B9F60C09-A252-009E-5A50-9EDE57CCE85E}"/>
              </a:ext>
            </a:extLst>
          </p:cNvPr>
          <p:cNvSpPr txBox="1"/>
          <p:nvPr/>
        </p:nvSpPr>
        <p:spPr>
          <a:xfrm>
            <a:off x="179512" y="1235250"/>
            <a:ext cx="8712968" cy="3139321"/>
          </a:xfrm>
          <a:prstGeom prst="rect">
            <a:avLst/>
          </a:prstGeom>
          <a:noFill/>
        </p:spPr>
        <p:txBody>
          <a:bodyPr wrap="square" rtlCol="0">
            <a:spAutoFit/>
          </a:bodyPr>
          <a:lstStyle/>
          <a:p>
            <a:pPr algn="just"/>
            <a:r>
              <a:rPr lang="en-US" b="1" dirty="0"/>
              <a:t>System Performance With and Without V2V Communication</a:t>
            </a:r>
            <a:endParaRPr lang="en-US" dirty="0"/>
          </a:p>
          <a:p>
            <a:pPr algn="just"/>
            <a:r>
              <a:rPr lang="en-US" dirty="0"/>
              <a:t>V2V communication reduced collisions by </a:t>
            </a:r>
            <a:r>
              <a:rPr lang="en-US" b="1" dirty="0"/>
              <a:t>over 60%</a:t>
            </a:r>
            <a:r>
              <a:rPr lang="en-US" dirty="0"/>
              <a:t> compared to non-communicating agents.</a:t>
            </a:r>
          </a:p>
          <a:p>
            <a:pPr algn="just"/>
            <a:r>
              <a:rPr lang="en-US" dirty="0"/>
              <a:t>Vehicles reacted </a:t>
            </a:r>
            <a:r>
              <a:rPr lang="en-US" b="1" dirty="0"/>
              <a:t>faster</a:t>
            </a:r>
            <a:r>
              <a:rPr lang="en-US" dirty="0"/>
              <a:t> to sudden braking, lane changes, and unexpected obstacles due to shared real-time data.</a:t>
            </a:r>
          </a:p>
          <a:p>
            <a:pPr algn="just"/>
            <a:r>
              <a:rPr lang="en-US" dirty="0"/>
              <a:t>Hybrid A* combined with V2V information produced </a:t>
            </a:r>
            <a:r>
              <a:rPr lang="en-US" b="1" dirty="0"/>
              <a:t>smoother and safer trajectories</a:t>
            </a:r>
            <a:r>
              <a:rPr lang="en-US" dirty="0"/>
              <a:t>, with fewer sharp turns and abrupt braking.</a:t>
            </a:r>
          </a:p>
          <a:p>
            <a:pPr algn="just"/>
            <a:r>
              <a:rPr lang="en-US" dirty="0"/>
              <a:t>Multi-agent coordination improved significantly, enabling vehicles to merge, overtake, and avoid hazards </a:t>
            </a:r>
            <a:r>
              <a:rPr lang="en-US" b="1" dirty="0"/>
              <a:t>more intelligently</a:t>
            </a:r>
            <a:r>
              <a:rPr lang="en-US" dirty="0"/>
              <a:t>.</a:t>
            </a:r>
          </a:p>
          <a:p>
            <a:pPr algn="just"/>
            <a:r>
              <a:rPr lang="en-US" dirty="0"/>
              <a:t>Shared state information (position, speed, heading, obstacles) allowed each agent to maintain </a:t>
            </a:r>
            <a:r>
              <a:rPr lang="en-US" b="1" dirty="0"/>
              <a:t>better situational awareness</a:t>
            </a:r>
            <a:r>
              <a:rPr lang="en-US" dirty="0"/>
              <a:t> than relying only on sensors.</a:t>
            </a:r>
          </a:p>
        </p:txBody>
      </p:sp>
      <p:sp>
        <p:nvSpPr>
          <p:cNvPr id="16" name="Footer Placeholder 15">
            <a:extLst>
              <a:ext uri="{FF2B5EF4-FFF2-40B4-BE49-F238E27FC236}">
                <a16:creationId xmlns:a16="http://schemas.microsoft.com/office/drawing/2014/main" id="{EB4644B2-B0E9-09E1-F236-12A9B604F41B}"/>
              </a:ext>
            </a:extLst>
          </p:cNvPr>
          <p:cNvSpPr>
            <a:spLocks noGrp="1"/>
          </p:cNvSpPr>
          <p:nvPr>
            <p:ph type="ftr" sz="quarter" idx="11"/>
          </p:nvPr>
        </p:nvSpPr>
        <p:spPr/>
        <p:txBody>
          <a:bodyPr/>
          <a:lstStyle/>
          <a:p>
            <a:r>
              <a:rPr lang="en-US"/>
              <a:t>Autonomous Multi-Agent V2V Simulation with MetaDrive</a:t>
            </a:r>
          </a:p>
        </p:txBody>
      </p:sp>
      <p:sp>
        <p:nvSpPr>
          <p:cNvPr id="17" name="Slide Number Placeholder 16">
            <a:extLst>
              <a:ext uri="{FF2B5EF4-FFF2-40B4-BE49-F238E27FC236}">
                <a16:creationId xmlns:a16="http://schemas.microsoft.com/office/drawing/2014/main" id="{6565475A-F646-4E65-0AB1-EE1865D37EFF}"/>
              </a:ext>
            </a:extLst>
          </p:cNvPr>
          <p:cNvSpPr>
            <a:spLocks noGrp="1"/>
          </p:cNvSpPr>
          <p:nvPr>
            <p:ph type="sldNum" sz="quarter" idx="12"/>
          </p:nvPr>
        </p:nvSpPr>
        <p:spPr/>
        <p:txBody>
          <a:bodyPr/>
          <a:lstStyle/>
          <a:p>
            <a:fld id="{FC6170F0-41F2-461F-AAB8-A7A369DA6ABC}" type="slidenum">
              <a:rPr lang="en-US" smtClean="0"/>
              <a:pPr/>
              <a:t>21</a:t>
            </a:fld>
            <a:endParaRPr lang="en-US"/>
          </a:p>
        </p:txBody>
      </p:sp>
    </p:spTree>
    <p:extLst>
      <p:ext uri="{BB962C8B-B14F-4D97-AF65-F5344CB8AC3E}">
        <p14:creationId xmlns:p14="http://schemas.microsoft.com/office/powerpoint/2010/main" val="2393233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23A425C-64FD-5989-0FF2-AF6BDADFD919}"/>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RESULTS</a:t>
            </a:r>
            <a:endParaRPr lang="en-IN" sz="3200" dirty="0">
              <a:solidFill>
                <a:schemeClr val="accent1">
                  <a:lumMod val="75000"/>
                </a:schemeClr>
              </a:solidFill>
            </a:endParaRPr>
          </a:p>
        </p:txBody>
      </p:sp>
      <p:sp>
        <p:nvSpPr>
          <p:cNvPr id="9" name="Slide Number Placeholder 4">
            <a:extLst>
              <a:ext uri="{FF2B5EF4-FFF2-40B4-BE49-F238E27FC236}">
                <a16:creationId xmlns:a16="http://schemas.microsoft.com/office/drawing/2014/main" id="{E5D85790-8087-D157-5C92-72041B92D0FC}"/>
              </a:ext>
            </a:extLst>
          </p:cNvPr>
          <p:cNvSpPr txBox="1">
            <a:spLocks/>
          </p:cNvSpPr>
          <p:nvPr/>
        </p:nvSpPr>
        <p:spPr>
          <a:xfrm>
            <a:off x="7884368" y="6525344"/>
            <a:ext cx="802432" cy="19613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10" name="Picture 3" descr="C:\Users\welco_koih58\OneDrive\Desktop\download.jpg">
            <a:extLst>
              <a:ext uri="{FF2B5EF4-FFF2-40B4-BE49-F238E27FC236}">
                <a16:creationId xmlns:a16="http://schemas.microsoft.com/office/drawing/2014/main" id="{6D456166-12FA-0E34-1A73-0E74E4E50ACA}"/>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1" name="Picture 2" descr="Home - Information Science and Engineering">
            <a:extLst>
              <a:ext uri="{FF2B5EF4-FFF2-40B4-BE49-F238E27FC236}">
                <a16:creationId xmlns:a16="http://schemas.microsoft.com/office/drawing/2014/main" id="{DC092C43-9D31-87F7-FE9F-7801E85FC70D}"/>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13" name="Straight Connector 12">
            <a:extLst>
              <a:ext uri="{FF2B5EF4-FFF2-40B4-BE49-F238E27FC236}">
                <a16:creationId xmlns:a16="http://schemas.microsoft.com/office/drawing/2014/main" id="{E8A3A2AD-DC24-672A-3BF4-5D12E008150F}"/>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4" name="Straight Connector 13">
            <a:extLst>
              <a:ext uri="{FF2B5EF4-FFF2-40B4-BE49-F238E27FC236}">
                <a16:creationId xmlns:a16="http://schemas.microsoft.com/office/drawing/2014/main" id="{17CB9DB0-FE8F-9309-CC22-255CB18526CD}"/>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A34787C3-E7F3-7DCD-1347-7BB0D8053DDE}"/>
              </a:ext>
            </a:extLst>
          </p:cNvPr>
          <p:cNvSpPr txBox="1"/>
          <p:nvPr/>
        </p:nvSpPr>
        <p:spPr>
          <a:xfrm>
            <a:off x="90721" y="1268760"/>
            <a:ext cx="8873767" cy="3139321"/>
          </a:xfrm>
          <a:prstGeom prst="rect">
            <a:avLst/>
          </a:prstGeom>
          <a:noFill/>
        </p:spPr>
        <p:txBody>
          <a:bodyPr wrap="square" rtlCol="0">
            <a:spAutoFit/>
          </a:bodyPr>
          <a:lstStyle/>
          <a:p>
            <a:pPr algn="just"/>
            <a:r>
              <a:rPr lang="en-US" b="1" dirty="0"/>
              <a:t>Impact of Secure V2V Communication &amp; Overall System Improvements</a:t>
            </a:r>
            <a:endParaRPr lang="en-US" dirty="0"/>
          </a:p>
          <a:p>
            <a:pPr algn="just"/>
            <a:r>
              <a:rPr lang="en-US" dirty="0"/>
              <a:t>AES-encrypted V2V messages ensured </a:t>
            </a:r>
            <a:r>
              <a:rPr lang="en-US" b="1" dirty="0"/>
              <a:t>secure and tamper-proof communication</a:t>
            </a:r>
            <a:r>
              <a:rPr lang="en-US" dirty="0"/>
              <a:t> without adding noticeable latency.</a:t>
            </a:r>
          </a:p>
          <a:p>
            <a:pPr algn="just"/>
            <a:r>
              <a:rPr lang="en-US" dirty="0"/>
              <a:t>Decision-making time decreased as vehicles could </a:t>
            </a:r>
            <a:r>
              <a:rPr lang="en-US" b="1" dirty="0"/>
              <a:t>predict hazards earlier</a:t>
            </a:r>
            <a:r>
              <a:rPr lang="en-US" dirty="0"/>
              <a:t>, leading to proactive planning rather than reactive behavior.</a:t>
            </a:r>
          </a:p>
          <a:p>
            <a:pPr algn="just"/>
            <a:r>
              <a:rPr lang="en-US" dirty="0"/>
              <a:t>Traffic flow became </a:t>
            </a:r>
            <a:r>
              <a:rPr lang="en-US" b="1" dirty="0"/>
              <a:t>smoother and more stable</a:t>
            </a:r>
            <a:r>
              <a:rPr lang="en-US" dirty="0"/>
              <a:t>, reducing congestion inside the simulation.</a:t>
            </a:r>
          </a:p>
          <a:p>
            <a:pPr algn="just"/>
            <a:r>
              <a:rPr lang="en-US" dirty="0"/>
              <a:t>Without V2V: agents showed delayed reactions, higher collision rates, unstable trajectories, and limited awareness.</a:t>
            </a:r>
          </a:p>
          <a:p>
            <a:pPr algn="just"/>
            <a:r>
              <a:rPr lang="en-US" dirty="0"/>
              <a:t>With V2V: the system demonstrated </a:t>
            </a:r>
            <a:r>
              <a:rPr lang="en-US" b="1" dirty="0"/>
              <a:t>cooperative, decentralized, human-like driving behavior</a:t>
            </a:r>
            <a:r>
              <a:rPr lang="en-US" dirty="0"/>
              <a:t>, validating the effectiveness of the integrated IDM + Hybrid A* + Motion Primitives pipeline.</a:t>
            </a:r>
          </a:p>
        </p:txBody>
      </p:sp>
      <p:sp>
        <p:nvSpPr>
          <p:cNvPr id="15" name="Footer Placeholder 14">
            <a:extLst>
              <a:ext uri="{FF2B5EF4-FFF2-40B4-BE49-F238E27FC236}">
                <a16:creationId xmlns:a16="http://schemas.microsoft.com/office/drawing/2014/main" id="{9A4A356F-EF3F-DFD8-1D43-E561D375C7C3}"/>
              </a:ext>
            </a:extLst>
          </p:cNvPr>
          <p:cNvSpPr>
            <a:spLocks noGrp="1"/>
          </p:cNvSpPr>
          <p:nvPr>
            <p:ph type="ftr" sz="quarter" idx="11"/>
          </p:nvPr>
        </p:nvSpPr>
        <p:spPr/>
        <p:txBody>
          <a:bodyPr/>
          <a:lstStyle/>
          <a:p>
            <a:r>
              <a:rPr lang="en-US"/>
              <a:t>Autonomous Multi-Agent V2V Simulation with MetaDrive</a:t>
            </a:r>
          </a:p>
        </p:txBody>
      </p:sp>
      <p:sp>
        <p:nvSpPr>
          <p:cNvPr id="17" name="Slide Number Placeholder 16">
            <a:extLst>
              <a:ext uri="{FF2B5EF4-FFF2-40B4-BE49-F238E27FC236}">
                <a16:creationId xmlns:a16="http://schemas.microsoft.com/office/drawing/2014/main" id="{18E078F5-8801-944D-8AB9-CD66112CC347}"/>
              </a:ext>
            </a:extLst>
          </p:cNvPr>
          <p:cNvSpPr>
            <a:spLocks noGrp="1"/>
          </p:cNvSpPr>
          <p:nvPr>
            <p:ph type="sldNum" sz="quarter" idx="12"/>
          </p:nvPr>
        </p:nvSpPr>
        <p:spPr/>
        <p:txBody>
          <a:bodyPr/>
          <a:lstStyle/>
          <a:p>
            <a:fld id="{FC6170F0-41F2-461F-AAB8-A7A369DA6ABC}" type="slidenum">
              <a:rPr lang="en-US" smtClean="0"/>
              <a:pPr/>
              <a:t>22</a:t>
            </a:fld>
            <a:endParaRPr lang="en-US"/>
          </a:p>
        </p:txBody>
      </p:sp>
    </p:spTree>
    <p:extLst>
      <p:ext uri="{BB962C8B-B14F-4D97-AF65-F5344CB8AC3E}">
        <p14:creationId xmlns:p14="http://schemas.microsoft.com/office/powerpoint/2010/main" val="4138957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F9520-C300-745A-1152-428009AA445A}"/>
            </a:ext>
          </a:extLst>
        </p:cNvPr>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BCE944A4-A304-23F6-57CE-B0C65CFB8F3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 name="Slide Number Placeholder 4">
            <a:extLst>
              <a:ext uri="{FF2B5EF4-FFF2-40B4-BE49-F238E27FC236}">
                <a16:creationId xmlns:a16="http://schemas.microsoft.com/office/drawing/2014/main" id="{58ED509D-E121-A78B-4393-AB67CD31CB8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 name="Slide Number Placeholder 4">
            <a:extLst>
              <a:ext uri="{FF2B5EF4-FFF2-40B4-BE49-F238E27FC236}">
                <a16:creationId xmlns:a16="http://schemas.microsoft.com/office/drawing/2014/main" id="{46E8B69F-C9B8-82C4-7F90-82DCB87C598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 name="Slide Number Placeholder 4">
            <a:extLst>
              <a:ext uri="{FF2B5EF4-FFF2-40B4-BE49-F238E27FC236}">
                <a16:creationId xmlns:a16="http://schemas.microsoft.com/office/drawing/2014/main" id="{8F4E2078-D433-D4CE-B04D-2B02A8202CC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 name="Title 1">
            <a:extLst>
              <a:ext uri="{FF2B5EF4-FFF2-40B4-BE49-F238E27FC236}">
                <a16:creationId xmlns:a16="http://schemas.microsoft.com/office/drawing/2014/main" id="{88CCABD8-EAF5-35B5-92BC-A5A5F1F9A0EA}"/>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OUTPUT SCREENS</a:t>
            </a:r>
            <a:endParaRPr lang="en-IN" sz="3200"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5" name="Picture 3" descr="C:\Users\welco_koih58\OneDrive\Desktop\download.jpg">
            <a:extLst>
              <a:ext uri="{FF2B5EF4-FFF2-40B4-BE49-F238E27FC236}">
                <a16:creationId xmlns:a16="http://schemas.microsoft.com/office/drawing/2014/main" id="{D4A76B72-56E7-A9F4-E7A8-1C3BACBEAC2C}"/>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6" name="Picture 2" descr="Home - Information Science and Engineering">
            <a:extLst>
              <a:ext uri="{FF2B5EF4-FFF2-40B4-BE49-F238E27FC236}">
                <a16:creationId xmlns:a16="http://schemas.microsoft.com/office/drawing/2014/main" id="{E572B486-564C-F1F2-6C98-F55A83107A77}"/>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21" name="Straight Connector 20">
            <a:extLst>
              <a:ext uri="{FF2B5EF4-FFF2-40B4-BE49-F238E27FC236}">
                <a16:creationId xmlns:a16="http://schemas.microsoft.com/office/drawing/2014/main" id="{1F557DBE-C651-0F71-E26F-B8EFB2EDF478}"/>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2" name="Straight Connector 1">
            <a:extLst>
              <a:ext uri="{FF2B5EF4-FFF2-40B4-BE49-F238E27FC236}">
                <a16:creationId xmlns:a16="http://schemas.microsoft.com/office/drawing/2014/main" id="{A2E7FE64-2F30-C224-21ED-54B9F4CFCBEB}"/>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9" name="Footer Placeholder 18">
            <a:extLst>
              <a:ext uri="{FF2B5EF4-FFF2-40B4-BE49-F238E27FC236}">
                <a16:creationId xmlns:a16="http://schemas.microsoft.com/office/drawing/2014/main" id="{0ECB0865-A07C-6CB0-F00D-34E101F4B74E}"/>
              </a:ext>
            </a:extLst>
          </p:cNvPr>
          <p:cNvSpPr>
            <a:spLocks noGrp="1"/>
          </p:cNvSpPr>
          <p:nvPr>
            <p:ph type="ftr" sz="quarter" idx="11"/>
          </p:nvPr>
        </p:nvSpPr>
        <p:spPr/>
        <p:txBody>
          <a:bodyPr/>
          <a:lstStyle/>
          <a:p>
            <a:r>
              <a:rPr lang="en-US"/>
              <a:t>Autonomous Multi-Agent V2V Simulation with MetaDrive</a:t>
            </a:r>
          </a:p>
        </p:txBody>
      </p:sp>
      <p:sp>
        <p:nvSpPr>
          <p:cNvPr id="20" name="Slide Number Placeholder 19">
            <a:extLst>
              <a:ext uri="{FF2B5EF4-FFF2-40B4-BE49-F238E27FC236}">
                <a16:creationId xmlns:a16="http://schemas.microsoft.com/office/drawing/2014/main" id="{C194BB84-CDA4-2D6A-6F44-004609CF6E55}"/>
              </a:ext>
            </a:extLst>
          </p:cNvPr>
          <p:cNvSpPr>
            <a:spLocks noGrp="1"/>
          </p:cNvSpPr>
          <p:nvPr>
            <p:ph type="sldNum" sz="quarter" idx="12"/>
          </p:nvPr>
        </p:nvSpPr>
        <p:spPr/>
        <p:txBody>
          <a:bodyPr/>
          <a:lstStyle/>
          <a:p>
            <a:fld id="{FC6170F0-41F2-461F-AAB8-A7A369DA6ABC}" type="slidenum">
              <a:rPr lang="en-US" smtClean="0"/>
              <a:pPr/>
              <a:t>23</a:t>
            </a:fld>
            <a:endParaRPr lang="en-US"/>
          </a:p>
        </p:txBody>
      </p:sp>
      <p:pic>
        <p:nvPicPr>
          <p:cNvPr id="5" name="Picture 4" descr="A screenshot of a video game&#10;&#10;AI-generated content may be incorrect.">
            <a:extLst>
              <a:ext uri="{FF2B5EF4-FFF2-40B4-BE49-F238E27FC236}">
                <a16:creationId xmlns:a16="http://schemas.microsoft.com/office/drawing/2014/main" id="{EFC5BB78-60AC-8CF5-6EB3-F78490F6C409}"/>
              </a:ext>
            </a:extLst>
          </p:cNvPr>
          <p:cNvPicPr>
            <a:picLocks noChangeAspect="1"/>
          </p:cNvPicPr>
          <p:nvPr/>
        </p:nvPicPr>
        <p:blipFill>
          <a:blip r:embed="rId4"/>
          <a:stretch>
            <a:fillRect/>
          </a:stretch>
        </p:blipFill>
        <p:spPr>
          <a:xfrm>
            <a:off x="733663" y="1368867"/>
            <a:ext cx="7513554" cy="4414285"/>
          </a:xfrm>
          <a:prstGeom prst="rect">
            <a:avLst/>
          </a:prstGeom>
        </p:spPr>
      </p:pic>
    </p:spTree>
    <p:extLst>
      <p:ext uri="{BB962C8B-B14F-4D97-AF65-F5344CB8AC3E}">
        <p14:creationId xmlns:p14="http://schemas.microsoft.com/office/powerpoint/2010/main" val="4143423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53B9F-CA21-B958-6D1F-B807472BCD76}"/>
            </a:ext>
          </a:extLst>
        </p:cNvPr>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6EB2BCCC-A074-9071-BDA3-F3E0EBF8A52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24</a:t>
            </a:fld>
            <a:endParaRPr lang="en-US"/>
          </a:p>
        </p:txBody>
      </p:sp>
      <p:sp>
        <p:nvSpPr>
          <p:cNvPr id="8" name="Slide Number Placeholder 4">
            <a:extLst>
              <a:ext uri="{FF2B5EF4-FFF2-40B4-BE49-F238E27FC236}">
                <a16:creationId xmlns:a16="http://schemas.microsoft.com/office/drawing/2014/main" id="{F1335E25-8885-FF84-8F81-A53407610DD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24</a:t>
            </a:fld>
            <a:endParaRPr lang="en-US"/>
          </a:p>
        </p:txBody>
      </p:sp>
      <p:sp>
        <p:nvSpPr>
          <p:cNvPr id="9" name="Slide Number Placeholder 4">
            <a:extLst>
              <a:ext uri="{FF2B5EF4-FFF2-40B4-BE49-F238E27FC236}">
                <a16:creationId xmlns:a16="http://schemas.microsoft.com/office/drawing/2014/main" id="{97996F37-88C5-03F6-5317-386BC128776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24</a:t>
            </a:fld>
            <a:endParaRPr lang="en-US"/>
          </a:p>
        </p:txBody>
      </p:sp>
      <p:sp>
        <p:nvSpPr>
          <p:cNvPr id="10" name="Slide Number Placeholder 4">
            <a:extLst>
              <a:ext uri="{FF2B5EF4-FFF2-40B4-BE49-F238E27FC236}">
                <a16:creationId xmlns:a16="http://schemas.microsoft.com/office/drawing/2014/main" id="{14C2B528-7BBD-1D4F-B1C1-45AB4868F96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24</a:t>
            </a:fld>
            <a:endParaRPr lang="en-US"/>
          </a:p>
        </p:txBody>
      </p:sp>
      <p:sp>
        <p:nvSpPr>
          <p:cNvPr id="12" name="Slide Number Placeholder 4">
            <a:extLst>
              <a:ext uri="{FF2B5EF4-FFF2-40B4-BE49-F238E27FC236}">
                <a16:creationId xmlns:a16="http://schemas.microsoft.com/office/drawing/2014/main" id="{04AC4FE4-9C53-0C6B-3C1C-15FCAABFEEC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24</a:t>
            </a:fld>
            <a:endParaRPr lang="en-US"/>
          </a:p>
        </p:txBody>
      </p:sp>
      <p:sp>
        <p:nvSpPr>
          <p:cNvPr id="13" name="Title 1">
            <a:extLst>
              <a:ext uri="{FF2B5EF4-FFF2-40B4-BE49-F238E27FC236}">
                <a16:creationId xmlns:a16="http://schemas.microsoft.com/office/drawing/2014/main" id="{3457BF50-4013-E61B-A80B-D182A21B8A01}"/>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OUTPUT SCREENS</a:t>
            </a:r>
            <a:endParaRPr lang="en-IN" sz="3200"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lide Number Placeholder 4">
            <a:extLst>
              <a:ext uri="{FF2B5EF4-FFF2-40B4-BE49-F238E27FC236}">
                <a16:creationId xmlns:a16="http://schemas.microsoft.com/office/drawing/2014/main" id="{92A54291-696A-A703-DEB2-438139C44E0E}"/>
              </a:ext>
            </a:extLst>
          </p:cNvPr>
          <p:cNvSpPr txBox="1">
            <a:spLocks/>
          </p:cNvSpPr>
          <p:nvPr/>
        </p:nvSpPr>
        <p:spPr>
          <a:xfrm>
            <a:off x="7884368" y="6525344"/>
            <a:ext cx="802432" cy="19613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15" name="Picture 3" descr="C:\Users\welco_koih58\OneDrive\Desktop\download.jpg">
            <a:extLst>
              <a:ext uri="{FF2B5EF4-FFF2-40B4-BE49-F238E27FC236}">
                <a16:creationId xmlns:a16="http://schemas.microsoft.com/office/drawing/2014/main" id="{48865324-B335-AED7-5619-C3B50FCCF5F5}"/>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6" name="Picture 2" descr="Home - Information Science and Engineering">
            <a:extLst>
              <a:ext uri="{FF2B5EF4-FFF2-40B4-BE49-F238E27FC236}">
                <a16:creationId xmlns:a16="http://schemas.microsoft.com/office/drawing/2014/main" id="{7E0F35C0-63AA-EA30-FD1E-A30CC9C10E96}"/>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21" name="Straight Connector 20">
            <a:extLst>
              <a:ext uri="{FF2B5EF4-FFF2-40B4-BE49-F238E27FC236}">
                <a16:creationId xmlns:a16="http://schemas.microsoft.com/office/drawing/2014/main" id="{13ADE67D-A787-A7AF-9758-AD72ABB6433F}"/>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3" name="Straight Connector 2">
            <a:extLst>
              <a:ext uri="{FF2B5EF4-FFF2-40B4-BE49-F238E27FC236}">
                <a16:creationId xmlns:a16="http://schemas.microsoft.com/office/drawing/2014/main" id="{CB05840B-40BE-4238-907B-20E603959339}"/>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9" name="Footer Placeholder 18">
            <a:extLst>
              <a:ext uri="{FF2B5EF4-FFF2-40B4-BE49-F238E27FC236}">
                <a16:creationId xmlns:a16="http://schemas.microsoft.com/office/drawing/2014/main" id="{53696C84-8A4A-665B-EA57-7605EEAC4696}"/>
              </a:ext>
            </a:extLst>
          </p:cNvPr>
          <p:cNvSpPr>
            <a:spLocks noGrp="1"/>
          </p:cNvSpPr>
          <p:nvPr>
            <p:ph type="ftr" sz="quarter" idx="11"/>
          </p:nvPr>
        </p:nvSpPr>
        <p:spPr/>
        <p:txBody>
          <a:bodyPr/>
          <a:lstStyle/>
          <a:p>
            <a:r>
              <a:rPr lang="en-US"/>
              <a:t>Autonomous Multi-Agent V2V Simulation with MetaDrive</a:t>
            </a:r>
          </a:p>
        </p:txBody>
      </p:sp>
      <p:sp>
        <p:nvSpPr>
          <p:cNvPr id="20" name="Slide Number Placeholder 19">
            <a:extLst>
              <a:ext uri="{FF2B5EF4-FFF2-40B4-BE49-F238E27FC236}">
                <a16:creationId xmlns:a16="http://schemas.microsoft.com/office/drawing/2014/main" id="{5DDF4E76-FD8C-6A29-B61F-CF0DF2EA927C}"/>
              </a:ext>
            </a:extLst>
          </p:cNvPr>
          <p:cNvSpPr>
            <a:spLocks noGrp="1"/>
          </p:cNvSpPr>
          <p:nvPr>
            <p:ph type="sldNum" sz="quarter" idx="12"/>
          </p:nvPr>
        </p:nvSpPr>
        <p:spPr/>
        <p:txBody>
          <a:bodyPr/>
          <a:lstStyle/>
          <a:p>
            <a:fld id="{FC6170F0-41F2-461F-AAB8-A7A369DA6ABC}" type="slidenum">
              <a:rPr lang="en-US" smtClean="0"/>
              <a:pPr/>
              <a:t>24</a:t>
            </a:fld>
            <a:endParaRPr lang="en-US"/>
          </a:p>
        </p:txBody>
      </p:sp>
      <p:pic>
        <p:nvPicPr>
          <p:cNvPr id="6" name="Picture 5" descr="A screenshot of a video game&#10;&#10;AI-generated content may be incorrect.">
            <a:extLst>
              <a:ext uri="{FF2B5EF4-FFF2-40B4-BE49-F238E27FC236}">
                <a16:creationId xmlns:a16="http://schemas.microsoft.com/office/drawing/2014/main" id="{CF3C0090-CBA9-4510-ADB1-A52275C7F940}"/>
              </a:ext>
            </a:extLst>
          </p:cNvPr>
          <p:cNvPicPr>
            <a:picLocks noChangeAspect="1"/>
          </p:cNvPicPr>
          <p:nvPr/>
        </p:nvPicPr>
        <p:blipFill>
          <a:blip r:embed="rId4"/>
          <a:stretch>
            <a:fillRect/>
          </a:stretch>
        </p:blipFill>
        <p:spPr>
          <a:xfrm>
            <a:off x="733663" y="1404120"/>
            <a:ext cx="4053967" cy="2381745"/>
          </a:xfrm>
          <a:prstGeom prst="rect">
            <a:avLst/>
          </a:prstGeom>
        </p:spPr>
      </p:pic>
      <p:pic>
        <p:nvPicPr>
          <p:cNvPr id="22" name="Picture 21" descr="A screenshot of a computer screen&#10;&#10;AI-generated content may be incorrect.">
            <a:extLst>
              <a:ext uri="{FF2B5EF4-FFF2-40B4-BE49-F238E27FC236}">
                <a16:creationId xmlns:a16="http://schemas.microsoft.com/office/drawing/2014/main" id="{E78A1837-70FD-53B3-260D-C6A181879CF3}"/>
              </a:ext>
            </a:extLst>
          </p:cNvPr>
          <p:cNvPicPr>
            <a:picLocks noChangeAspect="1"/>
          </p:cNvPicPr>
          <p:nvPr/>
        </p:nvPicPr>
        <p:blipFill>
          <a:blip r:embed="rId5"/>
          <a:stretch>
            <a:fillRect/>
          </a:stretch>
        </p:blipFill>
        <p:spPr>
          <a:xfrm>
            <a:off x="5004048" y="2958523"/>
            <a:ext cx="3777547" cy="2829495"/>
          </a:xfrm>
          <a:prstGeom prst="rect">
            <a:avLst/>
          </a:prstGeom>
        </p:spPr>
      </p:pic>
    </p:spTree>
    <p:extLst>
      <p:ext uri="{BB962C8B-B14F-4D97-AF65-F5344CB8AC3E}">
        <p14:creationId xmlns:p14="http://schemas.microsoft.com/office/powerpoint/2010/main" val="3703521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6E50-31FF-F719-D254-C7578CE0BD8E}"/>
            </a:ext>
          </a:extLst>
        </p:cNvPr>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7722C112-0AA4-7F0D-5D2F-080335FD753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25</a:t>
            </a:fld>
            <a:endParaRPr lang="en-US"/>
          </a:p>
        </p:txBody>
      </p:sp>
      <p:sp>
        <p:nvSpPr>
          <p:cNvPr id="8" name="Slide Number Placeholder 4">
            <a:extLst>
              <a:ext uri="{FF2B5EF4-FFF2-40B4-BE49-F238E27FC236}">
                <a16:creationId xmlns:a16="http://schemas.microsoft.com/office/drawing/2014/main" id="{41A2D8C5-B750-110C-C507-7B637FFDE8E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25</a:t>
            </a:fld>
            <a:endParaRPr lang="en-US"/>
          </a:p>
        </p:txBody>
      </p:sp>
      <p:sp>
        <p:nvSpPr>
          <p:cNvPr id="9" name="Slide Number Placeholder 4">
            <a:extLst>
              <a:ext uri="{FF2B5EF4-FFF2-40B4-BE49-F238E27FC236}">
                <a16:creationId xmlns:a16="http://schemas.microsoft.com/office/drawing/2014/main" id="{484B8D09-3A3B-0645-01F6-078AA09A7FE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25</a:t>
            </a:fld>
            <a:endParaRPr lang="en-US"/>
          </a:p>
        </p:txBody>
      </p:sp>
      <p:sp>
        <p:nvSpPr>
          <p:cNvPr id="10" name="Slide Number Placeholder 4">
            <a:extLst>
              <a:ext uri="{FF2B5EF4-FFF2-40B4-BE49-F238E27FC236}">
                <a16:creationId xmlns:a16="http://schemas.microsoft.com/office/drawing/2014/main" id="{AFFBDAFA-B187-A282-7CC6-71CC95C1234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25</a:t>
            </a:fld>
            <a:endParaRPr lang="en-US"/>
          </a:p>
        </p:txBody>
      </p:sp>
      <p:sp>
        <p:nvSpPr>
          <p:cNvPr id="12" name="Slide Number Placeholder 4">
            <a:extLst>
              <a:ext uri="{FF2B5EF4-FFF2-40B4-BE49-F238E27FC236}">
                <a16:creationId xmlns:a16="http://schemas.microsoft.com/office/drawing/2014/main" id="{03FC938C-D162-3F6E-043C-77C5AF0B54D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25</a:t>
            </a:fld>
            <a:endParaRPr lang="en-US"/>
          </a:p>
        </p:txBody>
      </p:sp>
      <p:sp>
        <p:nvSpPr>
          <p:cNvPr id="13" name="Title 1">
            <a:extLst>
              <a:ext uri="{FF2B5EF4-FFF2-40B4-BE49-F238E27FC236}">
                <a16:creationId xmlns:a16="http://schemas.microsoft.com/office/drawing/2014/main" id="{A5728716-8480-B522-CB5A-F0A401CD3BF7}"/>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OUTPUT SCREENS</a:t>
            </a:r>
            <a:endParaRPr lang="en-IN" sz="3200"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lide Number Placeholder 4">
            <a:extLst>
              <a:ext uri="{FF2B5EF4-FFF2-40B4-BE49-F238E27FC236}">
                <a16:creationId xmlns:a16="http://schemas.microsoft.com/office/drawing/2014/main" id="{29FF9EB4-FDC0-8340-8333-6277CDEDB48C}"/>
              </a:ext>
            </a:extLst>
          </p:cNvPr>
          <p:cNvSpPr txBox="1">
            <a:spLocks/>
          </p:cNvSpPr>
          <p:nvPr/>
        </p:nvSpPr>
        <p:spPr>
          <a:xfrm>
            <a:off x="7884368" y="6525344"/>
            <a:ext cx="802432" cy="19613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15" name="Picture 3" descr="C:\Users\welco_koih58\OneDrive\Desktop\download.jpg">
            <a:extLst>
              <a:ext uri="{FF2B5EF4-FFF2-40B4-BE49-F238E27FC236}">
                <a16:creationId xmlns:a16="http://schemas.microsoft.com/office/drawing/2014/main" id="{3F34480F-1D34-C54A-5459-873D12DC2817}"/>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6" name="Picture 2" descr="Home - Information Science and Engineering">
            <a:extLst>
              <a:ext uri="{FF2B5EF4-FFF2-40B4-BE49-F238E27FC236}">
                <a16:creationId xmlns:a16="http://schemas.microsoft.com/office/drawing/2014/main" id="{DCD77295-BE61-75A4-A3D7-1DCAECEB2747}"/>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21" name="Straight Connector 20">
            <a:extLst>
              <a:ext uri="{FF2B5EF4-FFF2-40B4-BE49-F238E27FC236}">
                <a16:creationId xmlns:a16="http://schemas.microsoft.com/office/drawing/2014/main" id="{41EC47A0-1303-45C1-DD78-CE29305848F3}"/>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8" name="Footer Placeholder 17">
            <a:extLst>
              <a:ext uri="{FF2B5EF4-FFF2-40B4-BE49-F238E27FC236}">
                <a16:creationId xmlns:a16="http://schemas.microsoft.com/office/drawing/2014/main" id="{0C1823D1-8E2C-DB29-8739-16BC80C1BF65}"/>
              </a:ext>
            </a:extLst>
          </p:cNvPr>
          <p:cNvSpPr>
            <a:spLocks noGrp="1"/>
          </p:cNvSpPr>
          <p:nvPr>
            <p:ph type="ftr" sz="quarter" idx="11"/>
          </p:nvPr>
        </p:nvSpPr>
        <p:spPr/>
        <p:txBody>
          <a:bodyPr/>
          <a:lstStyle/>
          <a:p>
            <a:r>
              <a:rPr lang="en-US"/>
              <a:t>Autonomous Multi-Agent V2V Simulation with MetaDrive</a:t>
            </a:r>
          </a:p>
        </p:txBody>
      </p:sp>
      <p:sp>
        <p:nvSpPr>
          <p:cNvPr id="20" name="Slide Number Placeholder 19">
            <a:extLst>
              <a:ext uri="{FF2B5EF4-FFF2-40B4-BE49-F238E27FC236}">
                <a16:creationId xmlns:a16="http://schemas.microsoft.com/office/drawing/2014/main" id="{DA42160E-34B5-76F7-0C70-55569EAC7A7E}"/>
              </a:ext>
            </a:extLst>
          </p:cNvPr>
          <p:cNvSpPr>
            <a:spLocks noGrp="1"/>
          </p:cNvSpPr>
          <p:nvPr>
            <p:ph type="sldNum" sz="quarter" idx="12"/>
          </p:nvPr>
        </p:nvSpPr>
        <p:spPr/>
        <p:txBody>
          <a:bodyPr/>
          <a:lstStyle/>
          <a:p>
            <a:fld id="{FC6170F0-41F2-461F-AAB8-A7A369DA6ABC}" type="slidenum">
              <a:rPr lang="en-US" smtClean="0"/>
              <a:pPr/>
              <a:t>25</a:t>
            </a:fld>
            <a:endParaRPr lang="en-US"/>
          </a:p>
        </p:txBody>
      </p:sp>
      <p:pic>
        <p:nvPicPr>
          <p:cNvPr id="5" name="Picture 4" descr="A screenshot of a computer screen&#10;&#10;AI-generated content may be incorrect.">
            <a:extLst>
              <a:ext uri="{FF2B5EF4-FFF2-40B4-BE49-F238E27FC236}">
                <a16:creationId xmlns:a16="http://schemas.microsoft.com/office/drawing/2014/main" id="{DC6BB7F1-70FA-4C91-2304-0C206FEBC96E}"/>
              </a:ext>
            </a:extLst>
          </p:cNvPr>
          <p:cNvPicPr>
            <a:picLocks noChangeAspect="1"/>
          </p:cNvPicPr>
          <p:nvPr/>
        </p:nvPicPr>
        <p:blipFill>
          <a:blip r:embed="rId4"/>
          <a:stretch>
            <a:fillRect/>
          </a:stretch>
        </p:blipFill>
        <p:spPr>
          <a:xfrm>
            <a:off x="251520" y="1268760"/>
            <a:ext cx="4197095" cy="3143749"/>
          </a:xfrm>
          <a:prstGeom prst="rect">
            <a:avLst/>
          </a:prstGeom>
        </p:spPr>
      </p:pic>
      <p:pic>
        <p:nvPicPr>
          <p:cNvPr id="11" name="Picture 10">
            <a:extLst>
              <a:ext uri="{FF2B5EF4-FFF2-40B4-BE49-F238E27FC236}">
                <a16:creationId xmlns:a16="http://schemas.microsoft.com/office/drawing/2014/main" id="{235210CB-5B69-E017-BA9B-7D9021B3BED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5385" y="3645024"/>
            <a:ext cx="4197095" cy="2580558"/>
          </a:xfrm>
          <a:prstGeom prst="rect">
            <a:avLst/>
          </a:prstGeom>
        </p:spPr>
      </p:pic>
    </p:spTree>
    <p:extLst>
      <p:ext uri="{BB962C8B-B14F-4D97-AF65-F5344CB8AC3E}">
        <p14:creationId xmlns:p14="http://schemas.microsoft.com/office/powerpoint/2010/main" val="3348532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A3A5A-6772-B379-4B01-E14698C1BA6D}"/>
            </a:ext>
          </a:extLst>
        </p:cNvPr>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3407AD7E-2033-62EA-74D6-B835D1235DD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26</a:t>
            </a:fld>
            <a:endParaRPr lang="en-US"/>
          </a:p>
        </p:txBody>
      </p:sp>
      <p:sp>
        <p:nvSpPr>
          <p:cNvPr id="8" name="Slide Number Placeholder 4">
            <a:extLst>
              <a:ext uri="{FF2B5EF4-FFF2-40B4-BE49-F238E27FC236}">
                <a16:creationId xmlns:a16="http://schemas.microsoft.com/office/drawing/2014/main" id="{EA3CFA2F-B71D-9460-8E13-1998DED7DDE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26</a:t>
            </a:fld>
            <a:endParaRPr lang="en-US"/>
          </a:p>
        </p:txBody>
      </p:sp>
      <p:sp>
        <p:nvSpPr>
          <p:cNvPr id="9" name="Slide Number Placeholder 4">
            <a:extLst>
              <a:ext uri="{FF2B5EF4-FFF2-40B4-BE49-F238E27FC236}">
                <a16:creationId xmlns:a16="http://schemas.microsoft.com/office/drawing/2014/main" id="{A9696112-5236-A96C-EA76-FAD164F9331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26</a:t>
            </a:fld>
            <a:endParaRPr lang="en-US"/>
          </a:p>
        </p:txBody>
      </p:sp>
      <p:sp>
        <p:nvSpPr>
          <p:cNvPr id="10" name="Slide Number Placeholder 4">
            <a:extLst>
              <a:ext uri="{FF2B5EF4-FFF2-40B4-BE49-F238E27FC236}">
                <a16:creationId xmlns:a16="http://schemas.microsoft.com/office/drawing/2014/main" id="{77E2B4D6-4B3A-18DB-2AFE-E33F3779161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26</a:t>
            </a:fld>
            <a:endParaRPr lang="en-US"/>
          </a:p>
        </p:txBody>
      </p:sp>
      <p:sp>
        <p:nvSpPr>
          <p:cNvPr id="12" name="Slide Number Placeholder 4">
            <a:extLst>
              <a:ext uri="{FF2B5EF4-FFF2-40B4-BE49-F238E27FC236}">
                <a16:creationId xmlns:a16="http://schemas.microsoft.com/office/drawing/2014/main" id="{F3C9E69A-56C9-6B5C-B651-2DE19791949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26</a:t>
            </a:fld>
            <a:endParaRPr lang="en-US"/>
          </a:p>
        </p:txBody>
      </p:sp>
      <p:sp>
        <p:nvSpPr>
          <p:cNvPr id="13" name="Title 1">
            <a:extLst>
              <a:ext uri="{FF2B5EF4-FFF2-40B4-BE49-F238E27FC236}">
                <a16:creationId xmlns:a16="http://schemas.microsoft.com/office/drawing/2014/main" id="{6F74B551-3E01-9CBA-4B72-5DA7DDFF7DB5}"/>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CONCLUSION</a:t>
            </a:r>
            <a:endParaRPr lang="en-IN" sz="3200"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lide Number Placeholder 4">
            <a:extLst>
              <a:ext uri="{FF2B5EF4-FFF2-40B4-BE49-F238E27FC236}">
                <a16:creationId xmlns:a16="http://schemas.microsoft.com/office/drawing/2014/main" id="{E7E89EB9-56AA-B3CA-97C0-42241EAB783F}"/>
              </a:ext>
            </a:extLst>
          </p:cNvPr>
          <p:cNvSpPr txBox="1">
            <a:spLocks/>
          </p:cNvSpPr>
          <p:nvPr/>
        </p:nvSpPr>
        <p:spPr>
          <a:xfrm>
            <a:off x="7884368" y="6525344"/>
            <a:ext cx="802432" cy="19613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15" name="Picture 3" descr="C:\Users\welco_koih58\OneDrive\Desktop\download.jpg">
            <a:extLst>
              <a:ext uri="{FF2B5EF4-FFF2-40B4-BE49-F238E27FC236}">
                <a16:creationId xmlns:a16="http://schemas.microsoft.com/office/drawing/2014/main" id="{AE91C7BF-CC40-5CA9-9316-3CB9D1C733E3}"/>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6" name="Picture 2" descr="Home - Information Science and Engineering">
            <a:extLst>
              <a:ext uri="{FF2B5EF4-FFF2-40B4-BE49-F238E27FC236}">
                <a16:creationId xmlns:a16="http://schemas.microsoft.com/office/drawing/2014/main" id="{2964E894-28DA-DC9A-3057-B1A4441950AF}"/>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21" name="Straight Connector 20">
            <a:extLst>
              <a:ext uri="{FF2B5EF4-FFF2-40B4-BE49-F238E27FC236}">
                <a16:creationId xmlns:a16="http://schemas.microsoft.com/office/drawing/2014/main" id="{C161D654-7201-BD10-2C1A-8025E274503C}"/>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2" name="Straight Connector 1">
            <a:extLst>
              <a:ext uri="{FF2B5EF4-FFF2-40B4-BE49-F238E27FC236}">
                <a16:creationId xmlns:a16="http://schemas.microsoft.com/office/drawing/2014/main" id="{610660A7-6BC2-E8FC-7CF7-BEBD976404B8}"/>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3" name="TextBox 2">
            <a:extLst>
              <a:ext uri="{FF2B5EF4-FFF2-40B4-BE49-F238E27FC236}">
                <a16:creationId xmlns:a16="http://schemas.microsoft.com/office/drawing/2014/main" id="{8C570CE3-7731-DB82-FCA0-79C7B805F35E}"/>
              </a:ext>
            </a:extLst>
          </p:cNvPr>
          <p:cNvSpPr txBox="1"/>
          <p:nvPr/>
        </p:nvSpPr>
        <p:spPr>
          <a:xfrm>
            <a:off x="395536" y="1484784"/>
            <a:ext cx="8291264" cy="3548472"/>
          </a:xfrm>
          <a:prstGeom prst="rect">
            <a:avLst/>
          </a:prstGeom>
          <a:noFill/>
        </p:spPr>
        <p:txBody>
          <a:bodyPr wrap="square" rtlCol="0">
            <a:spAutoFit/>
          </a:bodyPr>
          <a:lstStyle/>
          <a:p>
            <a:pPr algn="just">
              <a:lnSpc>
                <a:spcPct val="150000"/>
              </a:lnSpc>
            </a:pPr>
            <a:r>
              <a:rPr lang="en-US" sz="1900" dirty="0">
                <a:latin typeface="Times New Roman" panose="02020603050405020304" pitchFamily="18" charset="0"/>
                <a:cs typeface="Times New Roman" panose="02020603050405020304" pitchFamily="18" charset="0"/>
              </a:rPr>
              <a:t>In conclusion, the project successfully demonstrates that V2V communication significantly enhances the safety, coordination, and intelligence of autonomous vehicles in a multi-agent environment. By integrating </a:t>
            </a:r>
            <a:r>
              <a:rPr lang="en-US" sz="1900" dirty="0" err="1">
                <a:latin typeface="Times New Roman" panose="02020603050405020304" pitchFamily="18" charset="0"/>
                <a:cs typeface="Times New Roman" panose="02020603050405020304" pitchFamily="18" charset="0"/>
              </a:rPr>
              <a:t>MetaDrive</a:t>
            </a:r>
            <a:r>
              <a:rPr lang="en-US" sz="1900" dirty="0">
                <a:latin typeface="Times New Roman" panose="02020603050405020304" pitchFamily="18" charset="0"/>
                <a:cs typeface="Times New Roman" panose="02020603050405020304" pitchFamily="18" charset="0"/>
              </a:rPr>
              <a:t> with secure communication channels and a robust decision pipeline, agents are able to predict and avoid collisions more effectively, contributing to a more efficient and reliable autonomous driving ecosystem. The simulation framework lays a strong foundation for future developments in cooperative autonomous driving and intelligent transportation systems.</a:t>
            </a:r>
            <a:endParaRPr lang="en-IN" sz="1900" dirty="0">
              <a:latin typeface="Times New Roman" panose="02020603050405020304" pitchFamily="18" charset="0"/>
              <a:cs typeface="Times New Roman" panose="02020603050405020304" pitchFamily="18" charset="0"/>
            </a:endParaRPr>
          </a:p>
        </p:txBody>
      </p:sp>
      <p:sp>
        <p:nvSpPr>
          <p:cNvPr id="18" name="Footer Placeholder 17">
            <a:extLst>
              <a:ext uri="{FF2B5EF4-FFF2-40B4-BE49-F238E27FC236}">
                <a16:creationId xmlns:a16="http://schemas.microsoft.com/office/drawing/2014/main" id="{604CBE04-69E5-7F8B-94AC-60A38A640402}"/>
              </a:ext>
            </a:extLst>
          </p:cNvPr>
          <p:cNvSpPr>
            <a:spLocks noGrp="1"/>
          </p:cNvSpPr>
          <p:nvPr>
            <p:ph type="ftr" sz="quarter" idx="11"/>
          </p:nvPr>
        </p:nvSpPr>
        <p:spPr/>
        <p:txBody>
          <a:bodyPr/>
          <a:lstStyle/>
          <a:p>
            <a:r>
              <a:rPr lang="en-US"/>
              <a:t>Autonomous Multi-Agent V2V Simulation with MetaDrive</a:t>
            </a:r>
          </a:p>
        </p:txBody>
      </p:sp>
      <p:sp>
        <p:nvSpPr>
          <p:cNvPr id="19" name="Slide Number Placeholder 18">
            <a:extLst>
              <a:ext uri="{FF2B5EF4-FFF2-40B4-BE49-F238E27FC236}">
                <a16:creationId xmlns:a16="http://schemas.microsoft.com/office/drawing/2014/main" id="{E7CFF91A-9FD2-8D25-CA2F-990D8B65C2B2}"/>
              </a:ext>
            </a:extLst>
          </p:cNvPr>
          <p:cNvSpPr>
            <a:spLocks noGrp="1"/>
          </p:cNvSpPr>
          <p:nvPr>
            <p:ph type="sldNum" sz="quarter" idx="12"/>
          </p:nvPr>
        </p:nvSpPr>
        <p:spPr/>
        <p:txBody>
          <a:bodyPr/>
          <a:lstStyle/>
          <a:p>
            <a:fld id="{FC6170F0-41F2-461F-AAB8-A7A369DA6ABC}" type="slidenum">
              <a:rPr lang="en-US" smtClean="0"/>
              <a:pPr/>
              <a:t>26</a:t>
            </a:fld>
            <a:endParaRPr lang="en-US"/>
          </a:p>
        </p:txBody>
      </p:sp>
    </p:spTree>
    <p:extLst>
      <p:ext uri="{BB962C8B-B14F-4D97-AF65-F5344CB8AC3E}">
        <p14:creationId xmlns:p14="http://schemas.microsoft.com/office/powerpoint/2010/main" val="251904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B5D78-9C3C-AC42-E44D-F9FBF087F0F0}"/>
            </a:ext>
          </a:extLst>
        </p:cNvPr>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A270A4E3-13FF-9603-D066-EF38C556972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27</a:t>
            </a:fld>
            <a:endParaRPr lang="en-US"/>
          </a:p>
        </p:txBody>
      </p:sp>
      <p:sp>
        <p:nvSpPr>
          <p:cNvPr id="8" name="Slide Number Placeholder 4">
            <a:extLst>
              <a:ext uri="{FF2B5EF4-FFF2-40B4-BE49-F238E27FC236}">
                <a16:creationId xmlns:a16="http://schemas.microsoft.com/office/drawing/2014/main" id="{01F98EAA-4CE7-1172-0CC6-F068CF8456AD}"/>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27</a:t>
            </a:fld>
            <a:endParaRPr lang="en-US"/>
          </a:p>
        </p:txBody>
      </p:sp>
      <p:sp>
        <p:nvSpPr>
          <p:cNvPr id="9" name="Slide Number Placeholder 4">
            <a:extLst>
              <a:ext uri="{FF2B5EF4-FFF2-40B4-BE49-F238E27FC236}">
                <a16:creationId xmlns:a16="http://schemas.microsoft.com/office/drawing/2014/main" id="{E203921C-BDD8-2E6E-36B0-85A8961D975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27</a:t>
            </a:fld>
            <a:endParaRPr lang="en-US"/>
          </a:p>
        </p:txBody>
      </p:sp>
      <p:sp>
        <p:nvSpPr>
          <p:cNvPr id="10" name="Slide Number Placeholder 4">
            <a:extLst>
              <a:ext uri="{FF2B5EF4-FFF2-40B4-BE49-F238E27FC236}">
                <a16:creationId xmlns:a16="http://schemas.microsoft.com/office/drawing/2014/main" id="{361B95D3-0E03-5573-C3F4-581B9B689D1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27</a:t>
            </a:fld>
            <a:endParaRPr lang="en-US"/>
          </a:p>
        </p:txBody>
      </p:sp>
      <p:sp>
        <p:nvSpPr>
          <p:cNvPr id="12" name="Slide Number Placeholder 4">
            <a:extLst>
              <a:ext uri="{FF2B5EF4-FFF2-40B4-BE49-F238E27FC236}">
                <a16:creationId xmlns:a16="http://schemas.microsoft.com/office/drawing/2014/main" id="{C36C4773-40BC-3DEF-4F9D-D98B6001F77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27</a:t>
            </a:fld>
            <a:endParaRPr lang="en-US"/>
          </a:p>
        </p:txBody>
      </p:sp>
      <p:sp>
        <p:nvSpPr>
          <p:cNvPr id="13" name="Title 1">
            <a:extLst>
              <a:ext uri="{FF2B5EF4-FFF2-40B4-BE49-F238E27FC236}">
                <a16:creationId xmlns:a16="http://schemas.microsoft.com/office/drawing/2014/main" id="{36BC8FC4-D33B-0A86-1A45-890C91C280F8}"/>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3200" dirty="0">
              <a:solidFill>
                <a:schemeClr val="accent1">
                  <a:lumMod val="75000"/>
                </a:schemeClr>
              </a:solidFill>
            </a:endParaRPr>
          </a:p>
        </p:txBody>
      </p:sp>
      <p:sp>
        <p:nvSpPr>
          <p:cNvPr id="14" name="Slide Number Placeholder 4">
            <a:extLst>
              <a:ext uri="{FF2B5EF4-FFF2-40B4-BE49-F238E27FC236}">
                <a16:creationId xmlns:a16="http://schemas.microsoft.com/office/drawing/2014/main" id="{E971CFCD-A8F5-6765-B248-53BFE4A980E1}"/>
              </a:ext>
            </a:extLst>
          </p:cNvPr>
          <p:cNvSpPr txBox="1">
            <a:spLocks/>
          </p:cNvSpPr>
          <p:nvPr/>
        </p:nvSpPr>
        <p:spPr>
          <a:xfrm>
            <a:off x="7884368" y="6525344"/>
            <a:ext cx="802432" cy="19613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15" name="Picture 3" descr="C:\Users\welco_koih58\OneDrive\Desktop\download.jpg">
            <a:extLst>
              <a:ext uri="{FF2B5EF4-FFF2-40B4-BE49-F238E27FC236}">
                <a16:creationId xmlns:a16="http://schemas.microsoft.com/office/drawing/2014/main" id="{FFC52769-FC7A-472E-61B6-2126ADC935C4}"/>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6" name="Picture 2" descr="Home - Information Science and Engineering">
            <a:extLst>
              <a:ext uri="{FF2B5EF4-FFF2-40B4-BE49-F238E27FC236}">
                <a16:creationId xmlns:a16="http://schemas.microsoft.com/office/drawing/2014/main" id="{8C76084A-FA3A-2FC9-C447-BD75006BFE84}"/>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21" name="Straight Connector 20">
            <a:extLst>
              <a:ext uri="{FF2B5EF4-FFF2-40B4-BE49-F238E27FC236}">
                <a16:creationId xmlns:a16="http://schemas.microsoft.com/office/drawing/2014/main" id="{4F1982F5-E181-A160-477E-38D7CF30D27A}"/>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2" name="Straight Connector 1">
            <a:extLst>
              <a:ext uri="{FF2B5EF4-FFF2-40B4-BE49-F238E27FC236}">
                <a16:creationId xmlns:a16="http://schemas.microsoft.com/office/drawing/2014/main" id="{BDC25EE7-2CE6-C85D-144C-83474B612AD3}"/>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F8F18873-0098-82FD-4C8F-F96A8EDE897A}"/>
              </a:ext>
            </a:extLst>
          </p:cNvPr>
          <p:cNvSpPr txBox="1"/>
          <p:nvPr/>
        </p:nvSpPr>
        <p:spPr>
          <a:xfrm>
            <a:off x="1619672" y="404664"/>
            <a:ext cx="5472608" cy="584775"/>
          </a:xfrm>
          <a:prstGeom prst="rect">
            <a:avLst/>
          </a:prstGeom>
          <a:noFill/>
        </p:spPr>
        <p:txBody>
          <a:bodyPr wrap="square" rtlCol="0">
            <a:spAutoFit/>
          </a:bodyPr>
          <a:lstStyle/>
          <a:p>
            <a:pPr algn="ctr"/>
            <a:r>
              <a:rPr lang="en-IN" sz="3200" b="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  FUTURE ENHANCEMENT</a:t>
            </a:r>
            <a:endParaRPr lang="en-IN" sz="3200"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7D47E821-7332-9186-677D-3442BCFAEF3C}"/>
              </a:ext>
            </a:extLst>
          </p:cNvPr>
          <p:cNvSpPr txBox="1"/>
          <p:nvPr/>
        </p:nvSpPr>
        <p:spPr>
          <a:xfrm>
            <a:off x="467545" y="1340768"/>
            <a:ext cx="8219256" cy="3109890"/>
          </a:xfrm>
          <a:prstGeom prst="rect">
            <a:avLst/>
          </a:prstGeom>
          <a:noFill/>
        </p:spPr>
        <p:txBody>
          <a:bodyPr wrap="square" rtlCol="0">
            <a:spAutoFit/>
          </a:bodyPr>
          <a:lstStyle/>
          <a:p>
            <a:pPr algn="just">
              <a:lnSpc>
                <a:spcPct val="150000"/>
              </a:lnSpc>
            </a:pPr>
            <a:r>
              <a:rPr lang="en-US" sz="1900" dirty="0">
                <a:latin typeface="Times New Roman" panose="02020603050405020304" pitchFamily="18" charset="0"/>
                <a:cs typeface="Times New Roman" panose="02020603050405020304" pitchFamily="18" charset="0"/>
              </a:rPr>
              <a:t>Future enhancement may include expanding the system to support Vehicle-to-Infrastructure (V2I) and full V2X communication, integrating deep reinforcement learning for adaptive driving, modeling more complex traffic scenarios, applying real-world communication delays and packet loss models, and extending the security layer to include authentication and intrusion detection features. The project can also be scaled to simulate large metropolitan traffic systems or hybrid environments combining autonomous and human-driven vehicles.</a:t>
            </a:r>
          </a:p>
        </p:txBody>
      </p:sp>
      <p:sp>
        <p:nvSpPr>
          <p:cNvPr id="18" name="Footer Placeholder 17">
            <a:extLst>
              <a:ext uri="{FF2B5EF4-FFF2-40B4-BE49-F238E27FC236}">
                <a16:creationId xmlns:a16="http://schemas.microsoft.com/office/drawing/2014/main" id="{4216E129-985F-3FB0-0CA9-E4370F430A2C}"/>
              </a:ext>
            </a:extLst>
          </p:cNvPr>
          <p:cNvSpPr>
            <a:spLocks noGrp="1"/>
          </p:cNvSpPr>
          <p:nvPr>
            <p:ph type="ftr" sz="quarter" idx="11"/>
          </p:nvPr>
        </p:nvSpPr>
        <p:spPr/>
        <p:txBody>
          <a:bodyPr/>
          <a:lstStyle/>
          <a:p>
            <a:r>
              <a:rPr lang="en-US"/>
              <a:t>Autonomous Multi-Agent V2V Simulation with MetaDrive</a:t>
            </a:r>
          </a:p>
        </p:txBody>
      </p:sp>
      <p:sp>
        <p:nvSpPr>
          <p:cNvPr id="19" name="Slide Number Placeholder 18">
            <a:extLst>
              <a:ext uri="{FF2B5EF4-FFF2-40B4-BE49-F238E27FC236}">
                <a16:creationId xmlns:a16="http://schemas.microsoft.com/office/drawing/2014/main" id="{1487CC71-570D-E8AB-AE26-995077661E57}"/>
              </a:ext>
            </a:extLst>
          </p:cNvPr>
          <p:cNvSpPr>
            <a:spLocks noGrp="1"/>
          </p:cNvSpPr>
          <p:nvPr>
            <p:ph type="sldNum" sz="quarter" idx="12"/>
          </p:nvPr>
        </p:nvSpPr>
        <p:spPr/>
        <p:txBody>
          <a:bodyPr/>
          <a:lstStyle/>
          <a:p>
            <a:fld id="{FC6170F0-41F2-461F-AAB8-A7A369DA6ABC}" type="slidenum">
              <a:rPr lang="en-US" smtClean="0"/>
              <a:pPr/>
              <a:t>27</a:t>
            </a:fld>
            <a:endParaRPr lang="en-US"/>
          </a:p>
        </p:txBody>
      </p:sp>
    </p:spTree>
    <p:extLst>
      <p:ext uri="{BB962C8B-B14F-4D97-AF65-F5344CB8AC3E}">
        <p14:creationId xmlns:p14="http://schemas.microsoft.com/office/powerpoint/2010/main" val="4009217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E273F6D-C934-2FD3-B1AD-BC4F276E5EC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28</a:t>
            </a:fld>
            <a:endParaRPr lang="en-US"/>
          </a:p>
        </p:txBody>
      </p:sp>
      <p:sp>
        <p:nvSpPr>
          <p:cNvPr id="7" name="Slide Number Placeholder 4">
            <a:extLst>
              <a:ext uri="{FF2B5EF4-FFF2-40B4-BE49-F238E27FC236}">
                <a16:creationId xmlns:a16="http://schemas.microsoft.com/office/drawing/2014/main" id="{A984FF1D-B5FD-11A9-1C7C-A8FA31F8D6C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28</a:t>
            </a:fld>
            <a:endParaRPr lang="en-US"/>
          </a:p>
        </p:txBody>
      </p:sp>
      <p:sp>
        <p:nvSpPr>
          <p:cNvPr id="8" name="Slide Number Placeholder 4">
            <a:extLst>
              <a:ext uri="{FF2B5EF4-FFF2-40B4-BE49-F238E27FC236}">
                <a16:creationId xmlns:a16="http://schemas.microsoft.com/office/drawing/2014/main" id="{B6BDA7C4-0DA2-901D-47C1-D164DCFF616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28</a:t>
            </a:fld>
            <a:endParaRPr lang="en-US"/>
          </a:p>
        </p:txBody>
      </p:sp>
      <p:sp>
        <p:nvSpPr>
          <p:cNvPr id="9" name="Slide Number Placeholder 4">
            <a:extLst>
              <a:ext uri="{FF2B5EF4-FFF2-40B4-BE49-F238E27FC236}">
                <a16:creationId xmlns:a16="http://schemas.microsoft.com/office/drawing/2014/main" id="{57061B49-3719-13FD-6536-25EB385AED3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28</a:t>
            </a:fld>
            <a:endParaRPr lang="en-US"/>
          </a:p>
        </p:txBody>
      </p:sp>
      <p:sp>
        <p:nvSpPr>
          <p:cNvPr id="10" name="Slide Number Placeholder 4">
            <a:extLst>
              <a:ext uri="{FF2B5EF4-FFF2-40B4-BE49-F238E27FC236}">
                <a16:creationId xmlns:a16="http://schemas.microsoft.com/office/drawing/2014/main" id="{CF54E8F5-3EF4-D569-6DD2-1CDD33FFF0C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28</a:t>
            </a:fld>
            <a:endParaRPr lang="en-US"/>
          </a:p>
        </p:txBody>
      </p:sp>
      <p:sp>
        <p:nvSpPr>
          <p:cNvPr id="12" name="Slide Number Placeholder 4">
            <a:extLst>
              <a:ext uri="{FF2B5EF4-FFF2-40B4-BE49-F238E27FC236}">
                <a16:creationId xmlns:a16="http://schemas.microsoft.com/office/drawing/2014/main" id="{DD8171DA-CE3B-975D-058C-FD0958027A3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28</a:t>
            </a:fld>
            <a:endParaRPr lang="en-US"/>
          </a:p>
        </p:txBody>
      </p:sp>
      <p:sp>
        <p:nvSpPr>
          <p:cNvPr id="13" name="Title 1">
            <a:extLst>
              <a:ext uri="{FF2B5EF4-FFF2-40B4-BE49-F238E27FC236}">
                <a16:creationId xmlns:a16="http://schemas.microsoft.com/office/drawing/2014/main" id="{D90A70E4-17DB-2004-1771-DB808453B7CD}"/>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3200" dirty="0">
              <a:solidFill>
                <a:schemeClr val="accent1">
                  <a:lumMod val="75000"/>
                </a:schemeClr>
              </a:solidFill>
            </a:endParaRPr>
          </a:p>
        </p:txBody>
      </p:sp>
      <p:sp>
        <p:nvSpPr>
          <p:cNvPr id="14" name="Slide Number Placeholder 4">
            <a:extLst>
              <a:ext uri="{FF2B5EF4-FFF2-40B4-BE49-F238E27FC236}">
                <a16:creationId xmlns:a16="http://schemas.microsoft.com/office/drawing/2014/main" id="{F758EF06-54D5-F5A3-12CE-F90BAEAB9C61}"/>
              </a:ext>
            </a:extLst>
          </p:cNvPr>
          <p:cNvSpPr txBox="1">
            <a:spLocks/>
          </p:cNvSpPr>
          <p:nvPr/>
        </p:nvSpPr>
        <p:spPr>
          <a:xfrm>
            <a:off x="7884368" y="6525344"/>
            <a:ext cx="802432" cy="19613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15" name="Picture 3" descr="C:\Users\welco_koih58\OneDrive\Desktop\download.jpg">
            <a:extLst>
              <a:ext uri="{FF2B5EF4-FFF2-40B4-BE49-F238E27FC236}">
                <a16:creationId xmlns:a16="http://schemas.microsoft.com/office/drawing/2014/main" id="{AE8B835F-9EA6-EFAE-60F3-7287025D09CB}"/>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6" name="Picture 2" descr="Home - Information Science and Engineering">
            <a:extLst>
              <a:ext uri="{FF2B5EF4-FFF2-40B4-BE49-F238E27FC236}">
                <a16:creationId xmlns:a16="http://schemas.microsoft.com/office/drawing/2014/main" id="{BB202F19-5737-B6C1-3F1C-66E09CAE3410}"/>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17" name="Straight Connector 16">
            <a:extLst>
              <a:ext uri="{FF2B5EF4-FFF2-40B4-BE49-F238E27FC236}">
                <a16:creationId xmlns:a16="http://schemas.microsoft.com/office/drawing/2014/main" id="{B2260A5A-CE67-5DDC-FE1E-3DF37D33BCE9}"/>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BDB882CD-8AB5-5634-ABB9-963014A98E4C}"/>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21" name="TextBox 20">
            <a:extLst>
              <a:ext uri="{FF2B5EF4-FFF2-40B4-BE49-F238E27FC236}">
                <a16:creationId xmlns:a16="http://schemas.microsoft.com/office/drawing/2014/main" id="{F72375B3-5F3D-C004-EB03-78C6BD251F0E}"/>
              </a:ext>
            </a:extLst>
          </p:cNvPr>
          <p:cNvSpPr txBox="1"/>
          <p:nvPr/>
        </p:nvSpPr>
        <p:spPr>
          <a:xfrm>
            <a:off x="2267744" y="332656"/>
            <a:ext cx="5112568" cy="861774"/>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REFERENCES</a:t>
            </a:r>
            <a:endParaRPr lang="en-US" sz="3200" b="1" dirty="0">
              <a:solidFill>
                <a:schemeClr val="accent1">
                  <a:lumMod val="75000"/>
                </a:schemeClr>
              </a:solidFill>
            </a:endParaRPr>
          </a:p>
          <a:p>
            <a:pPr algn="ctr"/>
            <a:endParaRPr lang="en-IN" dirty="0"/>
          </a:p>
        </p:txBody>
      </p:sp>
      <p:sp>
        <p:nvSpPr>
          <p:cNvPr id="24" name="TextBox 23">
            <a:extLst>
              <a:ext uri="{FF2B5EF4-FFF2-40B4-BE49-F238E27FC236}">
                <a16:creationId xmlns:a16="http://schemas.microsoft.com/office/drawing/2014/main" id="{53F9A610-0022-5A7D-85A3-17C758663284}"/>
              </a:ext>
            </a:extLst>
          </p:cNvPr>
          <p:cNvSpPr txBox="1"/>
          <p:nvPr/>
        </p:nvSpPr>
        <p:spPr>
          <a:xfrm>
            <a:off x="395536" y="1268760"/>
            <a:ext cx="8291264" cy="3970318"/>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 </a:t>
            </a:r>
            <a:r>
              <a:rPr lang="en-IN" dirty="0"/>
              <a:t>Q. Li, Z. Wang, C. Gan, et al., </a:t>
            </a:r>
            <a:r>
              <a:rPr lang="en-IN" i="1" dirty="0"/>
              <a:t>“</a:t>
            </a:r>
            <a:r>
              <a:rPr lang="en-IN" i="1" dirty="0" err="1"/>
              <a:t>MetaDrive</a:t>
            </a:r>
            <a:r>
              <a:rPr lang="en-IN" i="1" dirty="0"/>
              <a:t>: Composing Diverse Driving Scenarios for Generalizable Autonomous Driving,”</a:t>
            </a:r>
            <a:r>
              <a:rPr lang="en-IN" dirty="0"/>
              <a:t> IEEE TPAMI, 2023.</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[2] </a:t>
            </a:r>
            <a:r>
              <a:rPr lang="en-US" dirty="0"/>
              <a:t>P. Ren, M. Li, Z. Su, </a:t>
            </a:r>
            <a:r>
              <a:rPr lang="en-US" i="1" dirty="0"/>
              <a:t>“Hybrid Path Planning Algorithm Based on Anti-Collision Mechanisms,”</a:t>
            </a:r>
            <a:r>
              <a:rPr lang="en-US" dirty="0"/>
              <a:t> </a:t>
            </a:r>
            <a:r>
              <a:rPr lang="en-US" dirty="0" err="1"/>
              <a:t>CoST</a:t>
            </a:r>
            <a:r>
              <a:rPr lang="en-US" dirty="0"/>
              <a:t> Conference, 2023.</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[3] </a:t>
            </a:r>
            <a:r>
              <a:rPr lang="en-US" dirty="0"/>
              <a:t>M. Khalid, S. Ahmed, </a:t>
            </a:r>
            <a:r>
              <a:rPr lang="en-US" i="1" dirty="0"/>
              <a:t>“Lightweight AES-Based Encryption for Secure Vehicular Networks,”</a:t>
            </a:r>
            <a:r>
              <a:rPr lang="en-US" dirty="0"/>
              <a:t> Journal of Network Security, 2023.</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[4] </a:t>
            </a:r>
            <a:r>
              <a:rPr lang="en-US" dirty="0"/>
              <a:t>F. Wang, C. Jiang, </a:t>
            </a:r>
            <a:r>
              <a:rPr lang="en-US" i="1" dirty="0"/>
              <a:t>“Cooperative Driving Using V2V Communication and Decentralized Control,”</a:t>
            </a:r>
            <a:r>
              <a:rPr lang="en-US" dirty="0"/>
              <a:t> IEEE Transactions on Vehicular Technology, 2022.</a:t>
            </a:r>
            <a:endParaRPr lang="en-IN" dirty="0">
              <a:latin typeface="Times New Roman" panose="02020603050405020304" pitchFamily="18" charset="0"/>
              <a:cs typeface="Times New Roman" panose="02020603050405020304" pitchFamily="18" charset="0"/>
            </a:endParaRPr>
          </a:p>
          <a:p>
            <a:endParaRPr lang="en-IN" dirty="0"/>
          </a:p>
          <a:p>
            <a:r>
              <a:rPr lang="en-IN" dirty="0">
                <a:latin typeface="Times New Roman" panose="02020603050405020304" pitchFamily="18" charset="0"/>
                <a:cs typeface="Times New Roman" panose="02020603050405020304" pitchFamily="18" charset="0"/>
              </a:rPr>
              <a:t>[5] </a:t>
            </a:r>
            <a:r>
              <a:rPr lang="en-US" dirty="0"/>
              <a:t>F J. Park, H. Kim, </a:t>
            </a:r>
            <a:r>
              <a:rPr lang="en-US" i="1" dirty="0"/>
              <a:t>“Real-Time Trajectory Prediction for Autonomous Vehicles in Dynamic Environments,”</a:t>
            </a:r>
            <a:r>
              <a:rPr lang="en-US" dirty="0"/>
              <a:t> IEEE Access, 2022.</a:t>
            </a:r>
            <a:endParaRPr lang="en-IN" dirty="0"/>
          </a:p>
        </p:txBody>
      </p:sp>
      <p:sp>
        <p:nvSpPr>
          <p:cNvPr id="19" name="Footer Placeholder 18">
            <a:extLst>
              <a:ext uri="{FF2B5EF4-FFF2-40B4-BE49-F238E27FC236}">
                <a16:creationId xmlns:a16="http://schemas.microsoft.com/office/drawing/2014/main" id="{10ABFC8E-F689-6034-81E4-9138DBE59188}"/>
              </a:ext>
            </a:extLst>
          </p:cNvPr>
          <p:cNvSpPr>
            <a:spLocks noGrp="1"/>
          </p:cNvSpPr>
          <p:nvPr>
            <p:ph type="ftr" sz="quarter" idx="11"/>
          </p:nvPr>
        </p:nvSpPr>
        <p:spPr/>
        <p:txBody>
          <a:bodyPr/>
          <a:lstStyle/>
          <a:p>
            <a:r>
              <a:rPr lang="en-US"/>
              <a:t>Autonomous Multi-Agent V2V Simulation with MetaDrive</a:t>
            </a:r>
          </a:p>
        </p:txBody>
      </p:sp>
      <p:sp>
        <p:nvSpPr>
          <p:cNvPr id="20" name="Slide Number Placeholder 19">
            <a:extLst>
              <a:ext uri="{FF2B5EF4-FFF2-40B4-BE49-F238E27FC236}">
                <a16:creationId xmlns:a16="http://schemas.microsoft.com/office/drawing/2014/main" id="{7ABD35F5-5603-3F17-4B27-5C350129DC69}"/>
              </a:ext>
            </a:extLst>
          </p:cNvPr>
          <p:cNvSpPr>
            <a:spLocks noGrp="1"/>
          </p:cNvSpPr>
          <p:nvPr>
            <p:ph type="sldNum" sz="quarter" idx="12"/>
          </p:nvPr>
        </p:nvSpPr>
        <p:spPr/>
        <p:txBody>
          <a:bodyPr/>
          <a:lstStyle/>
          <a:p>
            <a:fld id="{FC6170F0-41F2-461F-AAB8-A7A369DA6ABC}" type="slidenum">
              <a:rPr lang="en-US" smtClean="0"/>
              <a:pPr/>
              <a:t>28</a:t>
            </a:fld>
            <a:endParaRPr lang="en-US"/>
          </a:p>
        </p:txBody>
      </p:sp>
    </p:spTree>
    <p:extLst>
      <p:ext uri="{BB962C8B-B14F-4D97-AF65-F5344CB8AC3E}">
        <p14:creationId xmlns:p14="http://schemas.microsoft.com/office/powerpoint/2010/main" val="1150807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3B188E7-2803-D955-3ED2-99595BA8BA5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29</a:t>
            </a:fld>
            <a:endParaRPr lang="en-US"/>
          </a:p>
        </p:txBody>
      </p:sp>
      <p:sp>
        <p:nvSpPr>
          <p:cNvPr id="7" name="Slide Number Placeholder 4">
            <a:extLst>
              <a:ext uri="{FF2B5EF4-FFF2-40B4-BE49-F238E27FC236}">
                <a16:creationId xmlns:a16="http://schemas.microsoft.com/office/drawing/2014/main" id="{B69D3E64-2E3F-550C-C234-679F10F7D28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29</a:t>
            </a:fld>
            <a:endParaRPr lang="en-US"/>
          </a:p>
        </p:txBody>
      </p:sp>
      <p:sp>
        <p:nvSpPr>
          <p:cNvPr id="8" name="Slide Number Placeholder 4">
            <a:extLst>
              <a:ext uri="{FF2B5EF4-FFF2-40B4-BE49-F238E27FC236}">
                <a16:creationId xmlns:a16="http://schemas.microsoft.com/office/drawing/2014/main" id="{E7244D3F-3E5B-9C84-D92F-B1991C3C59E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29</a:t>
            </a:fld>
            <a:endParaRPr lang="en-US"/>
          </a:p>
        </p:txBody>
      </p:sp>
      <p:sp>
        <p:nvSpPr>
          <p:cNvPr id="9" name="Slide Number Placeholder 4">
            <a:extLst>
              <a:ext uri="{FF2B5EF4-FFF2-40B4-BE49-F238E27FC236}">
                <a16:creationId xmlns:a16="http://schemas.microsoft.com/office/drawing/2014/main" id="{3DA89AC2-8E30-7CEF-2493-1BCAA7C452F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29</a:t>
            </a:fld>
            <a:endParaRPr lang="en-US"/>
          </a:p>
        </p:txBody>
      </p:sp>
      <p:sp>
        <p:nvSpPr>
          <p:cNvPr id="10" name="Slide Number Placeholder 4">
            <a:extLst>
              <a:ext uri="{FF2B5EF4-FFF2-40B4-BE49-F238E27FC236}">
                <a16:creationId xmlns:a16="http://schemas.microsoft.com/office/drawing/2014/main" id="{427859EC-9DEF-4479-5F7F-55F4C6F119C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29</a:t>
            </a:fld>
            <a:endParaRPr lang="en-US"/>
          </a:p>
        </p:txBody>
      </p:sp>
      <p:sp>
        <p:nvSpPr>
          <p:cNvPr id="12" name="Slide Number Placeholder 4">
            <a:extLst>
              <a:ext uri="{FF2B5EF4-FFF2-40B4-BE49-F238E27FC236}">
                <a16:creationId xmlns:a16="http://schemas.microsoft.com/office/drawing/2014/main" id="{85DAD918-31B9-CC9E-8186-81A5188A291F}"/>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6170F0-41F2-461F-AAB8-A7A369DA6ABC}" type="slidenum">
              <a:rPr lang="en-US" smtClean="0"/>
              <a:pPr/>
              <a:t>29</a:t>
            </a:fld>
            <a:endParaRPr lang="en-US"/>
          </a:p>
        </p:txBody>
      </p:sp>
      <p:sp>
        <p:nvSpPr>
          <p:cNvPr id="13" name="Title 1">
            <a:extLst>
              <a:ext uri="{FF2B5EF4-FFF2-40B4-BE49-F238E27FC236}">
                <a16:creationId xmlns:a16="http://schemas.microsoft.com/office/drawing/2014/main" id="{5167C1F3-EA35-705A-0355-94884ECA6A9A}"/>
              </a:ext>
            </a:extLst>
          </p:cNvPr>
          <p:cNvSpPr txBox="1">
            <a:spLocks/>
          </p:cNvSpPr>
          <p:nvPr/>
        </p:nvSpPr>
        <p:spPr>
          <a:xfrm>
            <a:off x="90721" y="64818"/>
            <a:ext cx="8962558" cy="100010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3200" dirty="0">
              <a:solidFill>
                <a:schemeClr val="accent1">
                  <a:lumMod val="75000"/>
                </a:schemeClr>
              </a:solidFill>
            </a:endParaRPr>
          </a:p>
        </p:txBody>
      </p:sp>
      <p:sp>
        <p:nvSpPr>
          <p:cNvPr id="14" name="Slide Number Placeholder 4">
            <a:extLst>
              <a:ext uri="{FF2B5EF4-FFF2-40B4-BE49-F238E27FC236}">
                <a16:creationId xmlns:a16="http://schemas.microsoft.com/office/drawing/2014/main" id="{57E0CB4D-3E6B-39F5-C777-CE4EAED76F9C}"/>
              </a:ext>
            </a:extLst>
          </p:cNvPr>
          <p:cNvSpPr txBox="1">
            <a:spLocks/>
          </p:cNvSpPr>
          <p:nvPr/>
        </p:nvSpPr>
        <p:spPr>
          <a:xfrm>
            <a:off x="7884368" y="6525344"/>
            <a:ext cx="802432" cy="19613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15" name="Picture 3" descr="C:\Users\welco_koih58\OneDrive\Desktop\download.jpg">
            <a:extLst>
              <a:ext uri="{FF2B5EF4-FFF2-40B4-BE49-F238E27FC236}">
                <a16:creationId xmlns:a16="http://schemas.microsoft.com/office/drawing/2014/main" id="{3E7EB239-AE1A-18FC-C9E8-BDF3825A495B}"/>
              </a:ext>
            </a:extLst>
          </p:cNvPr>
          <p:cNvPicPr>
            <a:picLocks noChangeAspect="1" noChangeArrowheads="1"/>
          </p:cNvPicPr>
          <p:nvPr/>
        </p:nvPicPr>
        <p:blipFill>
          <a:blip r:embed="rId2"/>
          <a:srcRect/>
          <a:stretch>
            <a:fillRect/>
          </a:stretch>
        </p:blipFill>
        <p:spPr bwMode="auto">
          <a:xfrm>
            <a:off x="90721" y="33870"/>
            <a:ext cx="1285884" cy="1000108"/>
          </a:xfrm>
          <a:prstGeom prst="rect">
            <a:avLst/>
          </a:prstGeom>
          <a:noFill/>
        </p:spPr>
      </p:pic>
      <p:pic>
        <p:nvPicPr>
          <p:cNvPr id="16" name="Picture 2" descr="Home - Information Science and Engineering">
            <a:extLst>
              <a:ext uri="{FF2B5EF4-FFF2-40B4-BE49-F238E27FC236}">
                <a16:creationId xmlns:a16="http://schemas.microsoft.com/office/drawing/2014/main" id="{299548BA-55B7-E2D0-A129-804BC5B0438D}"/>
              </a:ext>
            </a:extLst>
          </p:cNvPr>
          <p:cNvPicPr>
            <a:picLocks noChangeAspect="1" noChangeArrowheads="1"/>
          </p:cNvPicPr>
          <p:nvPr/>
        </p:nvPicPr>
        <p:blipFill>
          <a:blip r:embed="rId3">
            <a:clrChange>
              <a:clrFrom>
                <a:srgbClr val="E6E6E6"/>
              </a:clrFrom>
              <a:clrTo>
                <a:srgbClr val="E6E6E6">
                  <a:alpha val="0"/>
                </a:srgbClr>
              </a:clrTo>
            </a:clrChange>
          </a:blip>
          <a:srcRect/>
          <a:stretch>
            <a:fillRect/>
          </a:stretch>
        </p:blipFill>
        <p:spPr bwMode="auto">
          <a:xfrm>
            <a:off x="7981709" y="64817"/>
            <a:ext cx="1071570" cy="1000108"/>
          </a:xfrm>
          <a:prstGeom prst="rect">
            <a:avLst/>
          </a:prstGeom>
          <a:noFill/>
          <a:ln w="9525">
            <a:noFill/>
            <a:miter lim="800000"/>
            <a:headEnd/>
            <a:tailEnd/>
          </a:ln>
        </p:spPr>
      </p:pic>
      <p:cxnSp>
        <p:nvCxnSpPr>
          <p:cNvPr id="17" name="Straight Connector 16">
            <a:extLst>
              <a:ext uri="{FF2B5EF4-FFF2-40B4-BE49-F238E27FC236}">
                <a16:creationId xmlns:a16="http://schemas.microsoft.com/office/drawing/2014/main" id="{143F40A6-AD57-1836-5AED-B203C1B49380}"/>
              </a:ext>
            </a:extLst>
          </p:cNvPr>
          <p:cNvCxnSpPr/>
          <p:nvPr/>
        </p:nvCxnSpPr>
        <p:spPr>
          <a:xfrm>
            <a:off x="0" y="1069982"/>
            <a:ext cx="9144000" cy="1588"/>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0A4B9EF6-2D00-7926-2317-8F1B5C9BBD0E}"/>
              </a:ext>
            </a:extLst>
          </p:cNvPr>
          <p:cNvCxnSpPr>
            <a:cxnSpLocks/>
          </p:cNvCxnSpPr>
          <p:nvPr/>
        </p:nvCxnSpPr>
        <p:spPr>
          <a:xfrm>
            <a:off x="0" y="6356350"/>
            <a:ext cx="9144000" cy="0"/>
          </a:xfrm>
          <a:prstGeom prst="line">
            <a:avLst/>
          </a:prstGeom>
          <a:ln>
            <a:solidFill>
              <a:schemeClr val="accent6">
                <a:lumMod val="75000"/>
              </a:schemeClr>
            </a:solidFill>
          </a:ln>
        </p:spPr>
        <p:style>
          <a:lnRef idx="2">
            <a:schemeClr val="accent2"/>
          </a:lnRef>
          <a:fillRef idx="0">
            <a:schemeClr val="accent2"/>
          </a:fillRef>
          <a:effectRef idx="1">
            <a:schemeClr val="accent2"/>
          </a:effectRef>
          <a:fontRef idx="minor">
            <a:schemeClr val="tx1"/>
          </a:fontRef>
        </p:style>
      </p:cxnSp>
      <p:sp>
        <p:nvSpPr>
          <p:cNvPr id="19" name="TextBox 18">
            <a:extLst>
              <a:ext uri="{FF2B5EF4-FFF2-40B4-BE49-F238E27FC236}">
                <a16:creationId xmlns:a16="http://schemas.microsoft.com/office/drawing/2014/main" id="{D95F4651-7109-6AF1-1E74-E0DFE32FB340}"/>
              </a:ext>
            </a:extLst>
          </p:cNvPr>
          <p:cNvSpPr txBox="1"/>
          <p:nvPr/>
        </p:nvSpPr>
        <p:spPr>
          <a:xfrm>
            <a:off x="2923456" y="385714"/>
            <a:ext cx="3096344" cy="861774"/>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REFERENCES</a:t>
            </a:r>
            <a:endParaRPr lang="en-US" sz="3200" b="1" dirty="0">
              <a:solidFill>
                <a:schemeClr val="accent1">
                  <a:lumMod val="75000"/>
                </a:schemeClr>
              </a:solidFill>
            </a:endParaRPr>
          </a:p>
          <a:p>
            <a:pPr algn="ctr"/>
            <a:endParaRPr lang="en-IN" dirty="0"/>
          </a:p>
        </p:txBody>
      </p:sp>
      <p:sp>
        <p:nvSpPr>
          <p:cNvPr id="20" name="TextBox 19">
            <a:extLst>
              <a:ext uri="{FF2B5EF4-FFF2-40B4-BE49-F238E27FC236}">
                <a16:creationId xmlns:a16="http://schemas.microsoft.com/office/drawing/2014/main" id="{704FB1E0-939B-A4C7-E87F-FD4DEE7DB5A6}"/>
              </a:ext>
            </a:extLst>
          </p:cNvPr>
          <p:cNvSpPr txBox="1"/>
          <p:nvPr/>
        </p:nvSpPr>
        <p:spPr>
          <a:xfrm>
            <a:off x="358011" y="1508020"/>
            <a:ext cx="8363272" cy="2862322"/>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[6] </a:t>
            </a:r>
            <a:r>
              <a:rPr lang="en-IN" dirty="0"/>
              <a:t>K. Muhammad, F. Hussain, </a:t>
            </a:r>
            <a:r>
              <a:rPr lang="en-IN" i="1" dirty="0"/>
              <a:t>“Deep Learning for Safe and Intelligent Autonomous Driving,”</a:t>
            </a:r>
            <a:r>
              <a:rPr lang="en-IN" dirty="0"/>
              <a:t> IEEE Intelligent Transportation Systems, 2021.</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[7] </a:t>
            </a:r>
            <a:r>
              <a:rPr lang="en-IN" dirty="0"/>
              <a:t>S. Gyawali, Y. Qian, R. Q. Hu, </a:t>
            </a:r>
            <a:r>
              <a:rPr lang="en-IN" i="1" dirty="0"/>
              <a:t>“Challenges and Solutions for Cellular-Based V2X Communications,”</a:t>
            </a:r>
            <a:r>
              <a:rPr lang="en-IN" dirty="0"/>
              <a:t> IEEE Communications Surveys &amp; Tutorials, 2021.</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[8] </a:t>
            </a:r>
            <a:r>
              <a:rPr lang="en-US" dirty="0"/>
              <a:t>A. Pütz, M. Werling, </a:t>
            </a:r>
            <a:r>
              <a:rPr lang="en-US" i="1" dirty="0"/>
              <a:t>“Motion Primitives-Based Motion Planning for Automated Driving,”</a:t>
            </a:r>
            <a:r>
              <a:rPr lang="en-US" dirty="0"/>
              <a:t> IEEE Intelligent Vehicles Symposium, 2018.</a:t>
            </a:r>
          </a:p>
          <a:p>
            <a:pPr algn="just"/>
            <a:endParaRPr lang="en-IN" dirty="0">
              <a:latin typeface="Times New Roman" panose="02020603050405020304" pitchFamily="18" charset="0"/>
              <a:cs typeface="Times New Roman" panose="02020603050405020304" pitchFamily="18" charset="0"/>
            </a:endParaRPr>
          </a:p>
          <a:p>
            <a:endParaRPr lang="en-IN" dirty="0"/>
          </a:p>
        </p:txBody>
      </p:sp>
      <p:sp>
        <p:nvSpPr>
          <p:cNvPr id="21" name="Footer Placeholder 20">
            <a:extLst>
              <a:ext uri="{FF2B5EF4-FFF2-40B4-BE49-F238E27FC236}">
                <a16:creationId xmlns:a16="http://schemas.microsoft.com/office/drawing/2014/main" id="{47FE2577-9A00-EA82-F4AE-CB51A678DEAD}"/>
              </a:ext>
            </a:extLst>
          </p:cNvPr>
          <p:cNvSpPr>
            <a:spLocks noGrp="1"/>
          </p:cNvSpPr>
          <p:nvPr>
            <p:ph type="ftr" sz="quarter" idx="11"/>
          </p:nvPr>
        </p:nvSpPr>
        <p:spPr/>
        <p:txBody>
          <a:bodyPr/>
          <a:lstStyle/>
          <a:p>
            <a:r>
              <a:rPr lang="en-US"/>
              <a:t>Autonomous Multi-Agent V2V Simulation with MetaDrive</a:t>
            </a:r>
          </a:p>
        </p:txBody>
      </p:sp>
      <p:sp>
        <p:nvSpPr>
          <p:cNvPr id="22" name="Slide Number Placeholder 21">
            <a:extLst>
              <a:ext uri="{FF2B5EF4-FFF2-40B4-BE49-F238E27FC236}">
                <a16:creationId xmlns:a16="http://schemas.microsoft.com/office/drawing/2014/main" id="{490C6526-C32F-505A-2DE0-838E05E54AF6}"/>
              </a:ext>
            </a:extLst>
          </p:cNvPr>
          <p:cNvSpPr>
            <a:spLocks noGrp="1"/>
          </p:cNvSpPr>
          <p:nvPr>
            <p:ph type="sldNum" sz="quarter" idx="12"/>
          </p:nvPr>
        </p:nvSpPr>
        <p:spPr/>
        <p:txBody>
          <a:bodyPr/>
          <a:lstStyle/>
          <a:p>
            <a:fld id="{FC6170F0-41F2-461F-AAB8-A7A369DA6ABC}" type="slidenum">
              <a:rPr lang="en-US" smtClean="0"/>
              <a:pPr/>
              <a:t>29</a:t>
            </a:fld>
            <a:endParaRPr lang="en-US"/>
          </a:p>
        </p:txBody>
      </p:sp>
    </p:spTree>
    <p:extLst>
      <p:ext uri="{BB962C8B-B14F-4D97-AF65-F5344CB8AC3E}">
        <p14:creationId xmlns:p14="http://schemas.microsoft.com/office/powerpoint/2010/main" val="2054720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1372</TotalTime>
  <Words>2826</Words>
  <Application>Microsoft Office PowerPoint</Application>
  <PresentationFormat>On-screen Show (4:3)</PresentationFormat>
  <Paragraphs>297</Paragraphs>
  <Slides>29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||Jai Sri Gurudev || Adichunchanagiri Shikshana Trust(R.) SJC INSTITUTE OF TECHNOLOGY An Autonomous Institution under VTU from 2024-25 AICTE Approved, Accredited by NBA(CSE,ISE,ECE,ME,CV,AE) NAAC with A+ grade, QS I-Gauge Gold rated  P.B. No. 20, B.B. Road, Chikkaballapur- 562101, Karnataka. </vt:lpstr>
      <vt:lpstr>. </vt:lpstr>
      <vt:lpstr>. </vt:lpstr>
      <vt:lpstr>. </vt:lpstr>
      <vt:lpstr>                            </vt:lpstr>
      <vt:lpstr>  SIGNIFICANT  </vt:lpstr>
      <vt:lpstr> EXISTING SYSTEM </vt:lpstr>
      <vt:lpstr> PROPOSED SYSTEM</vt:lpstr>
      <vt:lpstr>SYSTEM ARCHITECTURE</vt:lpstr>
      <vt:lpstr>SYSTEM ARCHITECTURE</vt:lpstr>
      <vt:lpstr>RESOURCE REQUIREMENTS</vt:lpstr>
      <vt:lpstr>FLOW CHART</vt:lpstr>
      <vt:lpstr> LITERATURE SURVEY</vt:lpstr>
      <vt:lpstr> LITERATURE SURVEY</vt:lpstr>
      <vt:lpstr>IMPLEMENTATION</vt:lpstr>
      <vt:lpstr>METHODOLOGY</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||Jai Sri Gurudev || Adichunchanagiri Shikshana Trust(R.) SJC INSTITUTE OF TECHNOLOGY An Autonomous Institution under VTU from 2024-25 AICTE Approved, Accredited by NBA(CSE,ISE,ECE,ME,CV,AE) NAAC with A+ grade, QS I-Gauge Gold rated  P.B. No. 20, B.B. Road, Chikkaballapur- 562101, Karnataka.</dc:title>
  <dc:creator>Shravani R</dc:creator>
  <cp:lastModifiedBy>Pushpak Chakraborty</cp:lastModifiedBy>
  <cp:revision>25</cp:revision>
  <dcterms:created xsi:type="dcterms:W3CDTF">2024-11-26T16:02:16Z</dcterms:created>
  <dcterms:modified xsi:type="dcterms:W3CDTF">2026-01-04T23:27:11Z</dcterms:modified>
</cp:coreProperties>
</file>