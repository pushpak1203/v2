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0" r:id="rId4"/>
    <p:sldId id="262" r:id="rId5"/>
    <p:sldId id="263" r:id="rId6"/>
    <p:sldId id="264" r:id="rId7"/>
    <p:sldId id="271" r:id="rId8"/>
    <p:sldId id="281" r:id="rId9"/>
    <p:sldId id="266" r:id="rId10"/>
    <p:sldId id="275" r:id="rId11"/>
    <p:sldId id="268" r:id="rId12"/>
    <p:sldId id="273" r:id="rId13"/>
    <p:sldId id="276" r:id="rId14"/>
    <p:sldId id="277" r:id="rId15"/>
    <p:sldId id="267" r:id="rId16"/>
    <p:sldId id="278" r:id="rId17"/>
    <p:sldId id="269" r:id="rId18"/>
    <p:sldId id="279" r:id="rId19"/>
    <p:sldId id="272" r:id="rId20"/>
    <p:sldId id="280" r:id="rId21"/>
    <p:sldId id="270" r:id="rId22"/>
    <p:sldId id="274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5DB825-6509-4AC1-89FB-5E416E1A716B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4AAA1-1871-4590-8033-AE3F003E5C3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A4C12-79ED-D7A2-5E97-63E7423C4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A57E8D-5A50-FB97-AE13-1EBC7EFFD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E3B6C-9F88-AF8A-9BF1-85DF84327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F5B7D-6C91-060A-CC87-90152F2F87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2E6E8-2E73-0DB1-2289-2DDA2DD9D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326F4E-99E9-F9A6-AE56-884D8BA5B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6DF5E-E1FF-4C19-A97D-072D5C19B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DFF51-24B4-0A4A-CE53-3990881AFE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41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88A06-26A6-2355-5D63-0A77DA0B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293442-168A-23AB-D88A-EFD82DCEE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E1ED66-2902-5AF6-ABF3-F78E992D7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B03B9-6691-6370-2186-B32C268A9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7FDE6-FEBC-17CC-206A-0053752BC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F7590-CA98-0CCC-B131-6FCD4C879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BF9DF-65E4-5FED-1BC7-1F790FCB7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CB03C-47F7-B8A5-E24F-34D934D646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79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CB3A0-922E-05E4-E154-C11B64D8E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AA136-CE9F-6EDE-DC64-DC98E9231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6D0D19-2797-6AB5-047F-2C4C6D966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6467C-B0DD-2405-6AB7-6D3543A590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60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0B2D5-EEF0-09BA-AEFF-44CF2E077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1422C-C6A9-E8EB-1D49-8A660FFE9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50E7B-3A5D-C23E-D0F4-9FACD4546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204C4-D0B7-6EE3-E31C-15662D11F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98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CA80F-38CE-4CE8-27BC-60AA4AC94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44894-894D-0A20-6BE2-56F109F32E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47FB2-8F0B-2F66-5837-42666BD89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2C51C-255A-A3A6-EE34-D8D1E9D222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934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D2377-7012-CCB3-8028-A188FBC63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5837D-394C-1B88-CFC0-4D64D7D0D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CB0188-B40C-AEFF-09F1-476609E9D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6F456-433A-78BB-3D47-A2E5CBA97E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103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24C55-19D1-2D12-8C00-36475F546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39B10-0526-4114-2F2A-DAD979D93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9D63D0-FA3F-6910-4A27-DAEF213E3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06E89-C743-53C1-3AD3-68C4DD20AE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809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D4086-FB8D-7973-EA42-0680937C3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F067F-A713-F7FA-9948-C258F5A1C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8D92F-8DCE-32E5-26FB-89E4DCD6C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E5B4F-966A-43E7-E996-8472072A3E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89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F011F-DE8D-4CCE-1D2E-BA0D006CD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42AE6-E70B-C99A-15F8-AE38A336A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ACA67-8465-34BA-E567-D93F13CB9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0AF3D-718E-FC28-8601-99A94922E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359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9C704-98AB-0CD4-43ED-CDB1FD069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D5E46-71E4-ED21-0E2E-E93061DFC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072FC-508F-D0D5-6D6E-FF0234CBB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04AAA-3AF7-0C18-9B0E-527510C0D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814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54E43-5E8F-40BB-7BA4-531AF7AA2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36EC1-55E6-CEB2-9721-ED2D8B676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6EBD1-192E-B00D-2E65-512076354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B9EFE-3A68-0493-3AAE-AA0E50DED0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474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D24A0-F98B-C843-43D3-8E008B1AD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A7450-2511-BB6B-0F5F-9379E2F4F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0C9851-13C3-F43E-53D2-1D9D8EC93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96DE9-1C09-8EAC-B08D-44D73214A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5507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A0D9B-88F3-0F2D-7B7E-8DC754437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491A0-8120-B1A2-F7DB-B255F803C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C88D7-B6B7-B0A9-A054-C5541FCBD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343C1-EEEB-E182-9274-FEDC93026C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0677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E0B37-E25B-995F-5EFA-3FFC45864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0380C2-DBC5-052E-7544-54392A8D0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8393F-F9D4-F46B-AB0F-24A303A6E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022EC-9252-6227-DF04-C076C5079A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4911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F4343-1B10-E096-5534-EC5DF1B6C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57233-3B5E-8482-F3C7-0A7AF9A43D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2ACE2-99DA-FCB6-5117-3E888A14B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5139C-1752-4BB1-FA9B-C138B3202F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224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A9832-7B9D-4481-BA06-24D5FFFC0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146406-6949-806E-817B-464FA9E99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500F4-9439-A588-6A8D-8054C2998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F4B54-A5B0-1154-E47A-7C37B9580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555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0C2E3-4375-77A5-8636-3ED2885B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DF902-A8BB-913F-7039-5B1A3D385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3E56B-0312-2889-783F-92E441858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7173C-88CC-3E50-ACA4-38ED290FA5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4AAA1-1871-4590-8033-AE3F003E5C3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36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36D0-BC13-40CC-A8C6-E9E7593A02EB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Incentivized Waste Collection and Management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3F3B-1F8F-4E7D-8E4B-0158D50DF39A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Incentivized Waste Collection and Management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AD38-599F-4038-B4E6-0C82D77AD65C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Incentivized Waste Collection and Management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53FD-818F-40BD-80B9-A4494A699DCE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Incentivized Waste Collection and Management System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9C57-6751-4FFA-953B-5FF2A2F9C1FF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Incentivized Waste Collection and Management System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5AF4F-850C-4D33-B0D6-538F9C4A449F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Incentivized Waste Collection and Management System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5F49-B58B-4C09-89E8-4E5A28FF76AD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Incentivized Waste Collection and Management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3659B-DAD2-4EEE-B811-F52E2E6B163D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Incentivized Waste Collection and Management System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818B-6DFD-4298-9157-19197A44D391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Incentivized Waste Collection and Management System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F5983-8D90-4F45-8BDD-920300E8D80E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Incentivized Waste Collection and Management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6D4CA-D084-4920-A882-3942B1EEFCCE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Incentivized Waste Collection and Management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FD68-C435-4B7C-AC90-A80955C4947C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Incentivized Waste Collection and Management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170F0-41F2-461F-AAB8-A7A369DA6AB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pPr lvl="0"/>
            <a:r>
              <a:rPr lang="en-US" sz="1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||Jai Sri </a:t>
            </a:r>
            <a:r>
              <a:rPr lang="en-US" sz="1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Gurudev</a:t>
            </a:r>
            <a:r>
              <a:rPr lang="en-US" sz="1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||</a:t>
            </a:r>
            <a:br>
              <a:rPr lang="en-US" sz="1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Adichunchanagiri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Shikshana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 Trust</a:t>
            </a:r>
            <a:r>
              <a:rPr lang="en-US" sz="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(R.)</a:t>
            </a:r>
            <a:br>
              <a:rPr lang="en-US" sz="1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SJC INSTITUTE OF TECHNOLOGY</a:t>
            </a:r>
            <a:b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An Autonomous Institution under VTU from 2024-25</a:t>
            </a:r>
            <a:b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AICTE Approved, Accredited by NBA(CSE,ISE,ECE,ME,CV,AE) NAAC with A+ grade, QS I-Gauge Gold rated </a:t>
            </a:r>
            <a:b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P.B. No. 20, B.B. Road,</a:t>
            </a:r>
            <a:b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Chikkaballapur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- 562101, Karnataka.</a:t>
            </a:r>
            <a:br>
              <a:rPr lang="en-US" sz="1000" b="1" dirty="0">
                <a:latin typeface="Times New Roman" pitchFamily="18" charset="0"/>
                <a:cs typeface="Times New Roman" pitchFamily="18" charset="0"/>
              </a:rPr>
            </a:br>
            <a:endParaRPr lang="en-US" sz="1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500174"/>
            <a:ext cx="9144000" cy="4643470"/>
          </a:xfrm>
        </p:spPr>
        <p:txBody>
          <a:bodyPr>
            <a:normAutofit fontScale="92500" lnSpcReduction="20000"/>
          </a:bodyPr>
          <a:lstStyle/>
          <a:p>
            <a:pPr defTabSz="914377">
              <a:defRPr/>
            </a:pPr>
            <a:endParaRPr lang="en-US" sz="35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377">
              <a:defRPr/>
            </a:pPr>
            <a:r>
              <a:rPr lang="en-US" sz="3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phase -II</a:t>
            </a:r>
          </a:p>
          <a:p>
            <a:pPr defTabSz="914377">
              <a:defRPr/>
            </a:pPr>
            <a:r>
              <a:rPr lang="en-US" sz="3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 </a:t>
            </a:r>
            <a:endParaRPr lang="en-US" b="1" dirty="0">
              <a:solidFill>
                <a:srgbClr val="3333CC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defTabSz="914377">
              <a:defRPr/>
            </a:pPr>
            <a:r>
              <a:rPr lang="en-US" b="1" dirty="0">
                <a:solidFill>
                  <a:srgbClr val="3333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“Autonomous Multi-Agent V2V Simulation with MetaDrive”</a:t>
            </a:r>
            <a:endParaRPr lang="en-US" sz="2000" dirty="0">
              <a:solidFill>
                <a:schemeClr val="dk1"/>
              </a:solidFill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defTabSz="914377"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lvl="0" algn="l">
              <a:lnSpc>
                <a:spcPct val="160000"/>
              </a:lnSpc>
              <a:spcBef>
                <a:spcPts val="0"/>
              </a:spcBef>
              <a:buClr>
                <a:schemeClr val="accent2"/>
              </a:buClr>
              <a:buSzPts val="1800"/>
            </a:pPr>
            <a:r>
              <a:rPr lang="en-US" sz="2200" b="1" i="0" u="none" strike="noStrike" cap="none" dirty="0">
                <a:solidFill>
                  <a:schemeClr val="accent2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Presented by:</a:t>
            </a:r>
            <a:endParaRPr lang="en-US" sz="22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  <a:p>
            <a:pPr lvl="0" algn="l">
              <a:lnSpc>
                <a:spcPct val="160000"/>
              </a:lnSpc>
              <a:spcBef>
                <a:spcPts val="0"/>
              </a:spcBef>
              <a:buClr>
                <a:schemeClr val="accent2"/>
              </a:buClr>
              <a:buSzPts val="1800"/>
            </a:pPr>
            <a:r>
              <a:rPr lang="en-US" sz="1800" b="1" dirty="0">
                <a:solidFill>
                  <a:schemeClr val="accent2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PRIYANSHU KUMAR		</a:t>
            </a:r>
            <a:r>
              <a:rPr lang="en-US" sz="1800" b="1" i="0" u="none" strike="noStrike" cap="none" dirty="0">
                <a:solidFill>
                  <a:schemeClr val="accent2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1SJ</a:t>
            </a:r>
            <a:r>
              <a:rPr lang="en-US" sz="1800" b="1" dirty="0">
                <a:solidFill>
                  <a:schemeClr val="accent2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22CI040 	</a:t>
            </a:r>
            <a:endParaRPr lang="en-US" sz="1800" b="1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SzPts val="1800"/>
            </a:pPr>
            <a:r>
              <a:rPr lang="en-US" sz="1800" b="1" dirty="0">
                <a:solidFill>
                  <a:schemeClr val="accent2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PUSHPAK CHAKRABORTY	</a:t>
            </a:r>
            <a:r>
              <a:rPr lang="en-US" sz="1800" b="1" i="0" u="none" strike="noStrike" cap="none" dirty="0">
                <a:solidFill>
                  <a:schemeClr val="accent2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1SJ</a:t>
            </a:r>
            <a:r>
              <a:rPr lang="en-US" sz="1800" b="1" dirty="0">
                <a:solidFill>
                  <a:schemeClr val="accent2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22CI042   </a:t>
            </a:r>
            <a:endParaRPr lang="en-US" sz="1800" b="1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SzPts val="1800"/>
            </a:pPr>
            <a:r>
              <a:rPr lang="en-US" sz="1800" b="1" i="0" u="none" strike="noStrike" cap="none" dirty="0">
                <a:solidFill>
                  <a:schemeClr val="accent2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RAJATH K M               		1SJ</a:t>
            </a:r>
            <a:r>
              <a:rPr lang="en-US" sz="1800" b="1" dirty="0">
                <a:solidFill>
                  <a:schemeClr val="accent2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22CI044</a:t>
            </a:r>
            <a:endParaRPr lang="en-US" sz="1800" b="1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SzPts val="1800"/>
            </a:pPr>
            <a:r>
              <a:rPr lang="en-US" sz="1800" b="1" dirty="0">
                <a:solidFill>
                  <a:schemeClr val="accent2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TRUPTI GARWAD</a:t>
            </a:r>
            <a:r>
              <a:rPr lang="en-US" sz="1800" b="1" i="0" u="none" strike="noStrike" cap="none" dirty="0">
                <a:solidFill>
                  <a:schemeClr val="accent2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		</a:t>
            </a:r>
            <a:r>
              <a:rPr lang="en-US" sz="1800" b="1" dirty="0">
                <a:solidFill>
                  <a:schemeClr val="accent2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1SJ22CI057</a:t>
            </a:r>
            <a:endParaRPr lang="en-US" sz="1800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  <a:p>
            <a:pPr lvl="0" algn="l">
              <a:lnSpc>
                <a:spcPct val="70000"/>
              </a:lnSpc>
              <a:spcBef>
                <a:spcPts val="0"/>
              </a:spcBef>
              <a:buClr>
                <a:srgbClr val="953590"/>
              </a:buClr>
              <a:buSzPts val="1800"/>
            </a:pPr>
            <a:r>
              <a:rPr lang="en-US" sz="1800" b="1" i="0" u="none" strike="noStrike" cap="none" dirty="0">
                <a:solidFill>
                  <a:srgbClr val="95359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					</a:t>
            </a:r>
            <a:endParaRPr lang="en-US" dirty="0"/>
          </a:p>
        </p:txBody>
      </p:sp>
      <p:pic>
        <p:nvPicPr>
          <p:cNvPr id="1027" name="Picture 3" descr="C:\Users\welco_koih58\OneDrive\Desktop\download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/>
          <p:cNvCxnSpPr/>
          <p:nvPr/>
        </p:nvCxnSpPr>
        <p:spPr>
          <a:xfrm>
            <a:off x="0" y="150017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614364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15074" y="3286124"/>
            <a:ext cx="35004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953590"/>
              </a:buClr>
              <a:buSzPts val="1800"/>
            </a:pPr>
            <a:endParaRPr lang="en-US" b="1" dirty="0">
              <a:solidFill>
                <a:srgbClr val="95359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buClr>
                <a:srgbClr val="953590"/>
              </a:buClr>
              <a:buSzPts val="1800"/>
            </a:pPr>
            <a:endParaRPr lang="en-US" b="1" dirty="0">
              <a:solidFill>
                <a:srgbClr val="95359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buClr>
                <a:srgbClr val="953590"/>
              </a:buClr>
              <a:buSzPts val="1800"/>
            </a:pPr>
            <a:endParaRPr lang="en-US" b="1" dirty="0">
              <a:solidFill>
                <a:srgbClr val="95359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buClr>
                <a:srgbClr val="953590"/>
              </a:buClr>
              <a:buSzPts val="1800"/>
            </a:pPr>
            <a:endParaRPr lang="en-US" b="1" dirty="0">
              <a:solidFill>
                <a:srgbClr val="95359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150000"/>
              </a:lnSpc>
              <a:buClr>
                <a:srgbClr val="953590"/>
              </a:buClr>
              <a:buSzPts val="1800"/>
            </a:pPr>
            <a:r>
              <a:rPr lang="en-US" b="1" dirty="0">
                <a:solidFill>
                  <a:srgbClr val="95359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 the guidance of :</a:t>
            </a:r>
            <a:endParaRPr lang="en-US" b="1" dirty="0">
              <a:solidFill>
                <a:schemeClr val="dk1"/>
              </a:solidFill>
              <a:latin typeface="Times New Roman" panose="020206030504050203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lvl="0">
              <a:lnSpc>
                <a:spcPct val="150000"/>
              </a:lnSpc>
              <a:buClr>
                <a:srgbClr val="953590"/>
              </a:buClr>
              <a:buSzPts val="1800"/>
            </a:pPr>
            <a:r>
              <a:rPr lang="en-US" b="1" dirty="0">
                <a:solidFill>
                  <a:srgbClr val="95359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Asst. Prof Muniraju M </a:t>
            </a:r>
            <a:endParaRPr lang="en-US" b="1" dirty="0">
              <a:solidFill>
                <a:schemeClr val="dk1"/>
              </a:solidFill>
              <a:latin typeface="Times New Roman" panose="020206030504050203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lvl="0">
              <a:buClr>
                <a:srgbClr val="953590"/>
              </a:buClr>
              <a:buSzPts val="1800"/>
            </a:pPr>
            <a:r>
              <a:rPr lang="en-US" b="1" dirty="0">
                <a:solidFill>
                  <a:srgbClr val="95359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Dept. of AI &amp; ML, SJCIT</a:t>
            </a:r>
            <a:endParaRPr lang="en-US" b="1" dirty="0">
              <a:solidFill>
                <a:schemeClr val="dk1"/>
              </a:solidFill>
              <a:latin typeface="Times New Roman" panose="020206030504050203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lvl="0">
              <a:buClr>
                <a:srgbClr val="953590"/>
              </a:buClr>
              <a:buSzPts val="1800"/>
            </a:pPr>
            <a:endParaRPr lang="en-US" b="1" dirty="0">
              <a:solidFill>
                <a:srgbClr val="95359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endParaRPr lang="en-US" dirty="0"/>
          </a:p>
        </p:txBody>
      </p:sp>
      <p:pic>
        <p:nvPicPr>
          <p:cNvPr id="1028" name="Picture 2" descr="Home - Information Science and Engineerin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929586" y="285728"/>
            <a:ext cx="1071570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1" descr="C:\Users\welco_koih58\Downloads\WhatsApp Image 2024-11-12 at 9.06.30 AM.jpe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72462" y="1928802"/>
            <a:ext cx="1071538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TextBox 25"/>
          <p:cNvSpPr txBox="1"/>
          <p:nvPr/>
        </p:nvSpPr>
        <p:spPr>
          <a:xfrm>
            <a:off x="357158" y="1571612"/>
            <a:ext cx="8786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&amp; MACHINE LEARNING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pPr lvl="0"/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1000" b="1" dirty="0">
                <a:latin typeface="Times New Roman" pitchFamily="18" charset="0"/>
                <a:cs typeface="Times New Roman" pitchFamily="18" charset="0"/>
              </a:rPr>
            </a:br>
            <a:endParaRPr lang="en-US" sz="1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1285860"/>
            <a:ext cx="8532440" cy="4643470"/>
          </a:xfrm>
        </p:spPr>
        <p:txBody>
          <a:bodyPr>
            <a:normAutofit/>
          </a:bodyPr>
          <a:lstStyle/>
          <a:p>
            <a:pPr lvl="0" indent="-165100"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 panose="020B0604020202020204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Abstract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0" indent="-165100"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 panose="020B0604020202020204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 Objective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0" indent="-165100"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 panose="020B0604020202020204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 Problem statement 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0" indent="-165100"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 panose="020B0604020202020204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 Methodology</a:t>
            </a:r>
          </a:p>
          <a:p>
            <a:pPr lvl="0" indent="-165100"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 panose="020B0604020202020204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Times New Roman" panose="02020603050405020304"/>
              </a:rPr>
              <a:t>Algorithm</a:t>
            </a:r>
          </a:p>
          <a:p>
            <a:pPr lvl="0" indent="-165100"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 panose="020B0604020202020204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Times New Roman" panose="02020603050405020304"/>
              </a:rPr>
              <a:t>Flow chart</a:t>
            </a:r>
          </a:p>
          <a:p>
            <a:pPr lvl="0" indent="-165100"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 panose="020B0604020202020204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Times New Roman" panose="02020603050405020304"/>
              </a:rPr>
              <a:t>Errors</a:t>
            </a:r>
          </a:p>
          <a:p>
            <a:pPr lvl="0" indent="-165100"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 panose="020B0604020202020204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O/P </a:t>
            </a:r>
            <a:r>
              <a:rPr lang="en-US" sz="1800" b="1" i="0" u="none" strike="noStrike" cap="none" dirty="0">
                <a:solidFill>
                  <a:srgbClr val="95359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				</a:t>
            </a:r>
            <a:endParaRPr lang="en-US" dirty="0"/>
          </a:p>
        </p:txBody>
      </p:sp>
      <p:pic>
        <p:nvPicPr>
          <p:cNvPr id="1027" name="Picture 3" descr="C:\Users\welco_koih58\OneDrive\Desktop\download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/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1857356" y="285728"/>
            <a:ext cx="5643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31859B"/>
                </a:solidFill>
                <a:latin typeface="Times New Roman" pitchFamily="18" charset="0"/>
                <a:cs typeface="Times New Roman" pitchFamily="18" charset="0"/>
              </a:rPr>
              <a:t>TABLE OF CONTENTS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Incentivized Waste Collection and Management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345721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br>
              <a:rPr lang="en-US" sz="1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1000" b="1" dirty="0">
                <a:latin typeface="Times New Roman" pitchFamily="18" charset="0"/>
                <a:cs typeface="Times New Roman" pitchFamily="18" charset="0"/>
              </a:rPr>
            </a:br>
            <a:endParaRPr lang="en-US" sz="1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3248" y="1440337"/>
            <a:ext cx="8028384" cy="4643470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70000"/>
              </a:lnSpc>
              <a:spcBef>
                <a:spcPts val="0"/>
              </a:spcBef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endParaRPr lang="en-US" sz="24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85750" lvl="0" indent="-285750" algn="just">
              <a:lnSpc>
                <a:spcPct val="70000"/>
              </a:lnSpc>
              <a:spcBef>
                <a:spcPts val="0"/>
              </a:spcBef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endParaRPr lang="en-US" sz="18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85750" lvl="0" indent="-285750" algn="just">
              <a:lnSpc>
                <a:spcPct val="70000"/>
              </a:lnSpc>
              <a:spcBef>
                <a:spcPts val="0"/>
              </a:spcBef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Vehicle-to-Vehicle (V2V) communication allows vehicles to share data such as speed, position, and direction.</a:t>
            </a:r>
          </a:p>
          <a:p>
            <a:pPr marL="285750" lvl="0" indent="-285750" algn="just">
              <a:lnSpc>
                <a:spcPct val="70000"/>
              </a:lnSpc>
              <a:spcBef>
                <a:spcPts val="0"/>
              </a:spcBef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85750" lvl="0" indent="-285750" algn="just">
              <a:lnSpc>
                <a:spcPct val="70000"/>
              </a:lnSpc>
              <a:spcBef>
                <a:spcPts val="0"/>
              </a:spcBef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It helps autonomous vehicles detect and respond to nearby obstacles more efficiently.</a:t>
            </a:r>
          </a:p>
          <a:p>
            <a:pPr marL="285750" lvl="0" indent="-285750" algn="just">
              <a:lnSpc>
                <a:spcPct val="70000"/>
              </a:lnSpc>
              <a:spcBef>
                <a:spcPts val="0"/>
              </a:spcBef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85750" lvl="0" indent="-285750" algn="just">
              <a:lnSpc>
                <a:spcPct val="70000"/>
              </a:lnSpc>
              <a:spcBef>
                <a:spcPts val="0"/>
              </a:spcBef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Simulations like MetaDrive provide a safe and flexible platform to test obstacle detection systems. </a:t>
            </a:r>
          </a:p>
          <a:p>
            <a:pPr marL="285750" lvl="0" indent="-285750" algn="just">
              <a:lnSpc>
                <a:spcPct val="70000"/>
              </a:lnSpc>
              <a:spcBef>
                <a:spcPts val="0"/>
              </a:spcBef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85750" lvl="0" indent="-285750" algn="just">
              <a:lnSpc>
                <a:spcPct val="70000"/>
              </a:lnSpc>
              <a:spcBef>
                <a:spcPts val="0"/>
              </a:spcBef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Using V2V, vehicles can predict potential collisions and take preventive actions.</a:t>
            </a:r>
          </a:p>
          <a:p>
            <a:pPr marL="285750" lvl="0" indent="-285750" algn="just">
              <a:lnSpc>
                <a:spcPct val="70000"/>
              </a:lnSpc>
              <a:spcBef>
                <a:spcPts val="0"/>
              </a:spcBef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85750" lvl="0" indent="-285750" algn="just">
              <a:lnSpc>
                <a:spcPct val="70000"/>
              </a:lnSpc>
              <a:spcBef>
                <a:spcPts val="0"/>
              </a:spcBef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This improves road safety and reliability in autonomous multi-agent environments.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	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7" name="Picture 3" descr="C:\Users\welco_koih58\OneDrive\Desktop\download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/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03FA0-731E-35CF-26E2-B0788EF74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163A3-94B7-0711-9503-CE86D4529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980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29B64-3BB2-04A0-15F0-5F030F5E5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248" y="1440337"/>
            <a:ext cx="8028384" cy="4643470"/>
          </a:xfrm>
        </p:spPr>
        <p:txBody>
          <a:bodyPr>
            <a:normAutofit/>
          </a:bodyPr>
          <a:lstStyle/>
          <a:p>
            <a:pPr lvl="0" algn="just">
              <a:lnSpc>
                <a:spcPct val="70000"/>
              </a:lnSpc>
              <a:spcBef>
                <a:spcPts val="0"/>
              </a:spcBef>
              <a:buClr>
                <a:schemeClr val="tx1"/>
              </a:buClr>
              <a:buSzPts val="1800"/>
            </a:pP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buClr>
                <a:schemeClr val="tx1"/>
              </a:buClr>
              <a:buSzPts val="18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growth of autonomous vehicles has increased the need for safe and reliable V2V communication systems. This project, “Autonomous Multi-Agent V2V Simulation with MetaDrive,” focuses on simulating multiple vehicles that can communicate and coordinate effectively. Each vehicle acts as an intelligent agent, sharing real-time data such as position, speed, and obstacle information.</a:t>
            </a:r>
          </a:p>
          <a:p>
            <a:pPr lvl="0" algn="just">
              <a:spcBef>
                <a:spcPts val="0"/>
              </a:spcBef>
              <a:buClr>
                <a:schemeClr val="tx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buClr>
                <a:schemeClr val="tx1"/>
              </a:buClr>
              <a:buSzPts val="18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AES-based encryption ensures secure and private communication between vehicles. The system integrates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MetaDrive’s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multi-agent environment with Python modules for broadcasting, receiving, and processing messages. Simulation results show improved coordination, reduced collision risks, and faster decision-making. This work provides a foundation for developing secure and scalable V2V frameworks. It can also be extended to include V2I and V2X communications for real-world autonomous systems.</a:t>
            </a: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D4256C7D-23DF-5B68-2919-7CE1B518C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4C1A15-1732-FD9D-87F5-6DA167C8C19F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E33580B-6780-FD57-1433-FD96C416A83C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9351CC44-87B6-173D-8884-D2C43A224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8EB9FFF-8D85-ACF8-9796-1C9182B9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5F5826D-2CD3-A091-4079-DFA6279C5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</p:spTree>
    <p:extLst>
      <p:ext uri="{BB962C8B-B14F-4D97-AF65-F5344CB8AC3E}">
        <p14:creationId xmlns:p14="http://schemas.microsoft.com/office/powerpoint/2010/main" val="4293850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6C5E-915F-DDC4-7925-82126D71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1A773-CD3E-6480-5227-57CFFCEAE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ADFED-6CC7-ACD9-FCD2-0A21D4CE6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248" y="1000108"/>
            <a:ext cx="8028384" cy="5356242"/>
          </a:xfrm>
        </p:spPr>
        <p:txBody>
          <a:bodyPr>
            <a:normAutofit/>
          </a:bodyPr>
          <a:lstStyle/>
          <a:p>
            <a:pPr marL="342900" lvl="0" indent="-342900" algn="just">
              <a:spcBef>
                <a:spcPts val="0"/>
              </a:spcBef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Development: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Develop a real-world environment for autonomous vehicles utilizing the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MetaDrive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framework.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Sharing: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Implement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Vehicle-to-Vehicle (V2V) communication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enable seamless, real-time data exchange between vehicles.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 and Responsiveness: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Ensure that each vehicle can accurately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and efficiently respond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obstacles to maintain safety.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Implementation: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Secure the V2V communication protocols through the application of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AES-based encryption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Collision Mitigation: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inter-vehicle coordination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strategies to actively reduce and minimize the risk of collisions.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Demonstration: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Effectively demonstrate the practical benefits and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 of V2V communication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improving traffic flow and safety within a controlled setting.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 a foundational system that can be readily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 to support V2V 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architectures.</a:t>
            </a: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6E874895-0386-AFE4-E544-5018AD49C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CF512E-06F6-264D-7DC1-D8BAF0217E52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4F6DA20-2FC1-A87C-0541-AF002A4A852F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B0042160-FE95-7838-7A37-5DA8C59B4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D622BEC-BC6D-653C-EE7D-EACCA59F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51EF32E3-DC94-147C-E486-63A6DFC7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</p:spTree>
    <p:extLst>
      <p:ext uri="{BB962C8B-B14F-4D97-AF65-F5344CB8AC3E}">
        <p14:creationId xmlns:p14="http://schemas.microsoft.com/office/powerpoint/2010/main" val="988742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00F09-F1A0-BE09-9CE4-E8B31E705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16C99-13F4-9296-535F-7C4569373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41397"/>
          </a:xfrm>
        </p:spPr>
        <p:txBody>
          <a:bodyPr>
            <a:normAutofit/>
          </a:bodyPr>
          <a:lstStyle/>
          <a:p>
            <a:pPr lvl="0"/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4E90D-ED8E-C814-9A33-57E0DC6E4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248" y="1440337"/>
            <a:ext cx="8028384" cy="4643470"/>
          </a:xfrm>
        </p:spPr>
        <p:txBody>
          <a:bodyPr>
            <a:normAutofit/>
          </a:bodyPr>
          <a:lstStyle/>
          <a:p>
            <a:pPr lvl="0" algn="just">
              <a:spcBef>
                <a:spcPts val="0"/>
              </a:spcBef>
              <a:buClr>
                <a:schemeClr val="tx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buClr>
                <a:schemeClr val="tx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buClr>
                <a:schemeClr val="tx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buClr>
                <a:schemeClr val="tx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buClr>
                <a:schemeClr val="tx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buClr>
                <a:schemeClr val="tx1"/>
              </a:buClr>
              <a:buSzPts val="18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Ensuring the safe operation of autonomous vehicles requires accurate awareness of surrounding vehicles and obstacles, yet poor inter-vehicle communication often leads to safety risks. This project leverages the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MetaDrive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simulation platform to develop a secure Vehicle-to-Vehicle (V2V) communication system, enhancing obstacle detection and coordination to reduce collisions and improve road safety.</a:t>
            </a: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17256E2C-6C61-B52E-9793-3FEEC25DA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664B2A-48D9-C606-68B1-B5FF7E306568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9985C0F-6622-F3C9-67F5-2CCC11D13204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CD610332-4E3C-3F27-B0B2-8636650FF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1FE21B0-76D4-78E2-A9D1-5235E01AB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1DC93CDB-8110-7D01-7BD5-051ED9E08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</p:spTree>
    <p:extLst>
      <p:ext uri="{BB962C8B-B14F-4D97-AF65-F5344CB8AC3E}">
        <p14:creationId xmlns:p14="http://schemas.microsoft.com/office/powerpoint/2010/main" val="995224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51FF0-D517-2A8C-5EE0-A3E69C8B0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C30E-783E-1313-3582-6277DE3CA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Methodology</a:t>
            </a:r>
            <a:br>
              <a:rPr lang="en-US" sz="3200" b="1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</a:br>
            <a:endParaRPr lang="en-US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9CD27-D518-71D8-C402-A98042EF5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248" y="1440337"/>
            <a:ext cx="8028384" cy="4643470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  <a:defRPr sz="1800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Environment setup:</a:t>
            </a:r>
          </a:p>
          <a:p>
            <a:pPr algn="just">
              <a:spcAft>
                <a:spcPts val="500"/>
              </a:spcAft>
              <a:defRPr sz="1800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MultiAgentMetaDrive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(v0.4.x) with 10 autonomous agents and onscreen rendering.</a:t>
            </a:r>
          </a:p>
          <a:p>
            <a:pPr algn="just">
              <a:spcAft>
                <a:spcPts val="500"/>
              </a:spcAft>
              <a:defRPr sz="1800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Procedural maps and seed-based reproducibility.</a:t>
            </a:r>
          </a:p>
          <a:p>
            <a:pPr algn="just">
              <a:spcAft>
                <a:spcPts val="500"/>
              </a:spcAft>
              <a:defRPr sz="1800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defRPr sz="1800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Agent configuration:</a:t>
            </a:r>
          </a:p>
          <a:p>
            <a:pPr algn="just">
              <a:spcAft>
                <a:spcPts val="500"/>
              </a:spcAft>
              <a:defRPr sz="1800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Sensors: Lidar, Side Detector, Lane Line Detector.</a:t>
            </a:r>
          </a:p>
          <a:p>
            <a:pPr algn="just">
              <a:spcAft>
                <a:spcPts val="500"/>
              </a:spcAft>
              <a:defRPr sz="1800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IDMPolicy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human-like control.</a:t>
            </a:r>
          </a:p>
          <a:p>
            <a:pPr algn="just">
              <a:spcAft>
                <a:spcPts val="500"/>
              </a:spcAft>
              <a:defRPr sz="1800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defRPr sz="1800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V2V Communication &amp; Security:</a:t>
            </a:r>
          </a:p>
          <a:p>
            <a:pPr algn="just">
              <a:spcAft>
                <a:spcPts val="500"/>
              </a:spcAft>
              <a:defRPr sz="1800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UDP-based broadcaster/receiver per vehicle.</a:t>
            </a:r>
          </a:p>
          <a:p>
            <a:pPr algn="just">
              <a:spcAft>
                <a:spcPts val="500"/>
              </a:spcAft>
              <a:defRPr sz="1800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Encrypted JSON messages (AES + HMAC via Fernet).</a:t>
            </a:r>
          </a:p>
          <a:p>
            <a:pPr algn="just">
              <a:spcAft>
                <a:spcPts val="500"/>
              </a:spcAft>
              <a:defRPr sz="1800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70000"/>
              </a:lnSpc>
              <a:spcBef>
                <a:spcPts val="0"/>
              </a:spcBef>
              <a:buClr>
                <a:schemeClr val="tx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1EF05D9E-B51D-BBE3-8E61-F8FF9A30B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C36506-255E-0650-8913-00036ED6B0A2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8E0D9C-09F2-22D8-9A65-EF153838D608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5AA9D7A5-C539-BBAC-2136-D9C530D5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5445C49-6A9E-17C7-251D-B4E98A030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0FFAE0C-0254-F2B7-7C6D-B12FB35A5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</p:spTree>
    <p:extLst>
      <p:ext uri="{BB962C8B-B14F-4D97-AF65-F5344CB8AC3E}">
        <p14:creationId xmlns:p14="http://schemas.microsoft.com/office/powerpoint/2010/main" val="1187168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0879-1A0A-D967-3C54-B5D196966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1F544-FE00-69FF-C376-93EFB9975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Methodology</a:t>
            </a:r>
            <a:br>
              <a:rPr lang="en-US" sz="3200" b="1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</a:br>
            <a:endParaRPr lang="en-US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856BBA-A3C4-901D-FF0F-F1FD72C7B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248" y="1440337"/>
            <a:ext cx="8028384" cy="4643470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  <a:defRPr sz="1800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defRPr sz="1800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Planning &amp; Control:</a:t>
            </a:r>
          </a:p>
          <a:p>
            <a:pPr algn="just">
              <a:spcAft>
                <a:spcPts val="500"/>
              </a:spcAft>
              <a:defRPr sz="1800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Hybrid A* for global paths, motion primitives for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maneuvers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Aft>
                <a:spcPts val="500"/>
              </a:spcAft>
              <a:defRPr sz="1800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Response Planner ensures collision-free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Aft>
                <a:spcPts val="500"/>
              </a:spcAft>
              <a:defRPr sz="1800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defRPr sz="1800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Execution &amp; Evaluation:</a:t>
            </a:r>
          </a:p>
          <a:p>
            <a:pPr algn="just">
              <a:spcAft>
                <a:spcPts val="500"/>
              </a:spcAft>
              <a:defRPr sz="1800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Parallel communication subprocesses with seed management.</a:t>
            </a:r>
          </a:p>
          <a:p>
            <a:pPr algn="just">
              <a:spcAft>
                <a:spcPts val="500"/>
              </a:spcAft>
              <a:defRPr sz="1800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Metrics: collision rate, latency, headway, speed.</a:t>
            </a:r>
          </a:p>
          <a:p>
            <a:pPr algn="just">
              <a:spcAft>
                <a:spcPts val="500"/>
              </a:spcAft>
              <a:defRPr sz="1800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Logs saved per tick for reproducibility and analysis.</a:t>
            </a:r>
          </a:p>
          <a:p>
            <a:pPr lvl="0" algn="just">
              <a:lnSpc>
                <a:spcPct val="70000"/>
              </a:lnSpc>
              <a:spcBef>
                <a:spcPts val="0"/>
              </a:spcBef>
              <a:buClr>
                <a:schemeClr val="tx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57845534-9DEC-4067-0A7F-F34CAA4CA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8D63960-3986-26CA-84D1-1C34DCBD19E2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A8174F-CC1F-3BF4-C87D-969FD335F322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B124C667-AD3C-3F8D-7B96-ED74B8235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B361C02-C58D-18BC-6A1E-437B8C70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52772A78-1552-273A-9BC3-22A5B322A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</p:spTree>
    <p:extLst>
      <p:ext uri="{BB962C8B-B14F-4D97-AF65-F5344CB8AC3E}">
        <p14:creationId xmlns:p14="http://schemas.microsoft.com/office/powerpoint/2010/main" val="2486590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9C932-2C7E-5F7B-3C25-9B98A79D9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8F01-AFE5-0548-0876-F3F304DAD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Prompt Medium" pitchFamily="34" charset="-122"/>
                <a:cs typeface="Times New Roman" panose="02020603050405020304" pitchFamily="18" charset="0"/>
              </a:rPr>
              <a:t>System Architecture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7768896D-6DFC-F2E4-2BE5-660B4A6F3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45C6AA-0158-F439-B524-31F004A20B84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A27D64F-FC08-4946-FAB5-13A1E0A4F689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614479FB-AA8D-3F6E-8CDA-C568631C6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0A27FC9-F93B-F4D5-7867-AE718A316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2C8DBA03-AD6A-94F5-87E7-F60EEAF42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7223C1-54FA-DFF8-2052-1EE80F007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533983"/>
              </p:ext>
            </p:extLst>
          </p:nvPr>
        </p:nvGraphicFramePr>
        <p:xfrm>
          <a:off x="415627" y="1598024"/>
          <a:ext cx="8312745" cy="4288409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2237724">
                  <a:extLst>
                    <a:ext uri="{9D8B030D-6E8A-4147-A177-3AD203B41FA5}">
                      <a16:colId xmlns:a16="http://schemas.microsoft.com/office/drawing/2014/main" val="869541257"/>
                    </a:ext>
                  </a:extLst>
                </a:gridCol>
                <a:gridCol w="2089465">
                  <a:extLst>
                    <a:ext uri="{9D8B030D-6E8A-4147-A177-3AD203B41FA5}">
                      <a16:colId xmlns:a16="http://schemas.microsoft.com/office/drawing/2014/main" val="1165214705"/>
                    </a:ext>
                  </a:extLst>
                </a:gridCol>
                <a:gridCol w="3985556">
                  <a:extLst>
                    <a:ext uri="{9D8B030D-6E8A-4147-A177-3AD203B41FA5}">
                      <a16:colId xmlns:a16="http://schemas.microsoft.com/office/drawing/2014/main" val="3195689991"/>
                    </a:ext>
                  </a:extLst>
                </a:gridCol>
              </a:tblGrid>
              <a:tr h="4329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Section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Module/File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Description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1986588"/>
                  </a:ext>
                </a:extLst>
              </a:tr>
              <a:tr h="4329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1. communication/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broadcaster.py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Encrypts and transmits V2V messages.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7608536"/>
                  </a:ext>
                </a:extLst>
              </a:tr>
              <a:tr h="4329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receiver.py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Receives and decrypts incoming data.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0917509"/>
                  </a:ext>
                </a:extLst>
              </a:tr>
              <a:tr h="4329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encryption_utils.py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Key generation and Fernet encryption layer.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1666436"/>
                  </a:ext>
                </a:extLst>
              </a:tr>
              <a:tr h="4329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2. metadrive_env/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env_manager.py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Multi-agent environment orchestration and simulation loop.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2747069"/>
                  </a:ext>
                </a:extLst>
              </a:tr>
              <a:tr h="4329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vehicle_manager.py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Individual vehicle state management and control interface.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4623640"/>
                  </a:ext>
                </a:extLst>
              </a:tr>
              <a:tr h="4329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3. decision_engine/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planning_module.py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Trajectory planning algorithms.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0863282"/>
                  </a:ext>
                </a:extLst>
              </a:tr>
              <a:tr h="39189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decision_module.py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High-level behavioral decision-making using V2V data.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4897491"/>
                  </a:ext>
                </a:extLst>
              </a:tr>
              <a:tr h="4329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4. config/ &amp; Launcher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config.yaml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System parameters and vehicle configurations.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0117890"/>
                  </a:ext>
                </a:extLst>
              </a:tr>
              <a:tr h="4329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run_all.py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Master orchestrator coordinating all system components.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2854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2396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5A31F-0380-A004-6922-6B50BB7EE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5BFA7-67DC-3139-27E8-1FF522D1D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Prompt Medium" pitchFamily="34" charset="-122"/>
                <a:cs typeface="Times New Roman" panose="02020603050405020304" pitchFamily="18" charset="0"/>
              </a:rPr>
              <a:t>System Architecture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0933A320-514C-745D-8BE9-091BB721E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54FE3F-1728-3127-7784-67FA3857AAE9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7E390C2-4F2D-CD33-6D69-FFE81E570B52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DBD4F3D7-F9E1-B198-4660-6D0D63187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1388DAC-D88E-27EA-19A8-2F7363A7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E6AEF1C-20C8-EFF9-34D7-0B18F345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E36CD-764F-2F4E-95F7-3899DDE3CF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268760"/>
            <a:ext cx="8928992" cy="483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94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B4A0D-D421-9F7A-38BC-061C1D263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58B4-D8D3-7453-1C60-63762A20A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D66B8-C776-BBCF-DEBC-DB3068F20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176" y="1071570"/>
            <a:ext cx="7831963" cy="5373826"/>
          </a:xfrm>
        </p:spPr>
        <p:txBody>
          <a:bodyPr>
            <a:noAutofit/>
          </a:bodyPr>
          <a:lstStyle/>
          <a:p>
            <a:pPr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IDM – Intelligent Driver Model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Controls longitudinal (forward–backward) motion of autonomous vehicles.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computes each vehicle’s acceleration based on its current speed, desired speed, and the gap/time-headway to the vehicle in front.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used: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Produces human-like car-following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traffic simulations.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IN" sz="1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Hybrid A* Path Planning Algorithm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Generates a smooth, collision-free path from the vehicle’s current pose to the goal.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Extends traditional A* by including continuous heading angles and vehicle kinematics, producing drivable, curvature-constrained trajectories.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used: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car-like robots that can’t turn instantaneously (non-holonomic vehicles).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6ACA7758-082D-3AF4-9E5A-5824A1789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CC4DDB-0A84-EF26-23D1-87F08AFB2BEE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826810-88FB-FFC6-5B18-699698B94E9D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B334FA67-C058-ACC1-2843-A0DB15524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5030213-1CE0-E97A-61B1-353B7E82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F9A04F52-5B62-D578-C144-D4C9EB6BE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</p:spTree>
    <p:extLst>
      <p:ext uri="{BB962C8B-B14F-4D97-AF65-F5344CB8AC3E}">
        <p14:creationId xmlns:p14="http://schemas.microsoft.com/office/powerpoint/2010/main" val="3380131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3976E-D784-0EAE-52A3-B0B14A745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1216C-E235-24EE-8C68-8B813C49D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 (Cont.)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E9BE2-DC11-2A45-6F20-3AFAE82CC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568" y="1230282"/>
            <a:ext cx="7776864" cy="5230950"/>
          </a:xfrm>
        </p:spPr>
        <p:txBody>
          <a:bodyPr>
            <a:noAutofit/>
          </a:bodyPr>
          <a:lstStyle/>
          <a:p>
            <a:pPr algn="just"/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Motion Primitives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Defines a discrete set of feasible vehicle motions (e.g., straight, left-turn, right-turn arcs).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Each primitive encodes realistic steering and velocity commands that respect the vehicle’s turning radius.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used: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Reduces computation time by searching only through feasible motions during planning.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Response Planning Algorithm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Decides how an autonomous vehicle reacts to V2V messages or nearby obstacles.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distance thresholds and predicted trajectories to trigger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such as slow down, maintain lane, or reroute.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used: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Ensures cooperative, safe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maneuvers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between vehicles in shared road scenarios.</a:t>
            </a:r>
          </a:p>
          <a:p>
            <a:pPr algn="just"/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4D62EEF3-FC0D-6D74-6807-4E677AC08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0AF27F-0A38-4365-B9C3-09C58760EB25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4208C7E-2D87-13AD-B0C3-08C698F2C614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736C1745-71DA-74E6-20BB-B44F5F513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4F30EC3-84EE-E768-C5EF-17C59CF25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A8078484-BD00-8911-CEA7-E387C94D5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</p:spTree>
    <p:extLst>
      <p:ext uri="{BB962C8B-B14F-4D97-AF65-F5344CB8AC3E}">
        <p14:creationId xmlns:p14="http://schemas.microsoft.com/office/powerpoint/2010/main" val="3469322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0C4FF-E7F6-A7F5-7F26-2AE49132B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6B50-1798-EDF2-FCD5-292CBEDD1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B9622D-A017-06DA-6177-D6E3DA4DC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176" y="1214446"/>
            <a:ext cx="7831963" cy="5230950"/>
          </a:xfrm>
        </p:spPr>
        <p:txBody>
          <a:bodyPr>
            <a:noAutofit/>
          </a:bodyPr>
          <a:lstStyle/>
          <a:p>
            <a:pPr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5. Fernet Encryption Algorithm (Symmetric Key Crypto)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Secures V2V messages during transmission.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AES </a:t>
            </a:r>
            <a:r>
              <a:rPr lang="en-IN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(Advanced Encryption Standard)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(in CBC: </a:t>
            </a:r>
            <a:r>
              <a:rPr lang="en-IN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Cipher Block Chaining mode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HMAC </a:t>
            </a:r>
            <a:r>
              <a:rPr lang="en-IN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(Hash Based Message Authentication Code)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authenticated encryption with a 32-byte base64 key.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used: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Guarantees confidentiality, integrity, and authenticity of vehicle-to-vehicle data.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UDP(</a:t>
            </a:r>
            <a:r>
              <a:rPr lang="en-IN" sz="1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Datagram Protocol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Broadcast/Receive Protocol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Handles low-latency message passing between vehicles.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Each broadcaster sends encrypted packets via UDP to a shared or per-agent port; receivers decrypt and parse messages in real time.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used: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Simulates real-world V2V wireless communication with minimal network overhead.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3D0243FA-E8D7-3014-0390-A4FA37679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3B212D3-A188-B0AD-7DE1-47C07339220F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8A6D994-F9CE-CEED-33D9-7EDD28C5F075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1A467F62-B47C-CB00-F360-0D679EE58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DAF5B3A-46A1-A23A-E4FA-936AF7114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EE24CEB-A4E1-F401-B180-306640B3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</p:spTree>
    <p:extLst>
      <p:ext uri="{BB962C8B-B14F-4D97-AF65-F5344CB8AC3E}">
        <p14:creationId xmlns:p14="http://schemas.microsoft.com/office/powerpoint/2010/main" val="2018820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3F22F-9682-90AE-0376-51435C13D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5BD2-C1D1-9B51-1806-F16B87FD2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B030C1-348C-B159-3E89-B7AA01E5D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176" y="1214446"/>
            <a:ext cx="7831963" cy="5230950"/>
          </a:xfrm>
        </p:spPr>
        <p:txBody>
          <a:bodyPr>
            <a:noAutofit/>
          </a:bodyPr>
          <a:lstStyle/>
          <a:p>
            <a:pPr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Multi-Agent Decision Loop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Coordinates all autonomous vehicles simultaneously in the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MetaDrive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environment.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every simulation tick, each agent observes environment data, receives V2V messages, updates its state through its policy (IDM + planner), and outputs new actions.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used: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Enables decentralized yet coordinated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among multiple self-driving cars.</a:t>
            </a: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A072B2CF-1827-42E6-761E-F0083900A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7269BD-A8E8-A617-DC98-D5A7AFB39370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B6628B-1552-5810-FA6F-19C004DC4841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2C2C7D0D-5B44-A517-880D-77D3A7DCC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A9EDE59-C181-F219-E90B-C2B9D34B0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5BB65D1D-65A9-633D-EBA3-21073CCB0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</p:spTree>
    <p:extLst>
      <p:ext uri="{BB962C8B-B14F-4D97-AF65-F5344CB8AC3E}">
        <p14:creationId xmlns:p14="http://schemas.microsoft.com/office/powerpoint/2010/main" val="2329308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C4FB5-87D4-A203-CE9E-256339272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65902-93A5-CDD4-7D25-2D3E67511D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pPr lvl="0"/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Flow Chart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endParaRPr lang="en-US" sz="3200" dirty="0"/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4BEC4868-B242-3FCA-28B7-5AE16AB7F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E5DFB2-3AF5-839A-E9E9-393B2B7947AC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76FC671-9037-AA4A-34B8-0DFA39E1E266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6EB383F1-248B-E9F2-D9D6-BCB07355D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C53A577-13CE-781C-C6D8-DEB33946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91AF7A0-4E07-66DF-B6D1-0F1A0448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EF29A1-7477-0871-C69B-D0B1F43F5C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84" b="40764"/>
          <a:stretch>
            <a:fillRect/>
          </a:stretch>
        </p:blipFill>
        <p:spPr>
          <a:xfrm>
            <a:off x="971600" y="1261513"/>
            <a:ext cx="2231268" cy="50577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D00B9F-676C-883E-4A1F-95204804DF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5406"/>
          <a:stretch>
            <a:fillRect/>
          </a:stretch>
        </p:blipFill>
        <p:spPr>
          <a:xfrm>
            <a:off x="5317795" y="1272961"/>
            <a:ext cx="2470810" cy="505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773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0378C-8F19-AA20-9471-B68CBE2E6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EA11-463C-2C0E-D3B6-2EF77F105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and Fixes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8E86BC-F68E-AE34-4E07-2A185145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942" y="1303525"/>
            <a:ext cx="7776864" cy="5238344"/>
          </a:xfrm>
        </p:spPr>
        <p:txBody>
          <a:bodyPr>
            <a:noAutofit/>
          </a:bodyPr>
          <a:lstStyle/>
          <a:p>
            <a:pPr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1.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MetaDrive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Environment Initialization Errors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Errors like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TypeError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agent_policy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IDMPolicy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Agents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Incorrect configuration keys passed to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MetaDriveEnv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MultiAgentMetaDrive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Some keys like policy,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agent_policy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num_agents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were not supported or mismatched.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Cleaned up env_manager.py to only include valid parameters and switched to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MultiAgentMetaDrive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multi-vehicle simulation.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Invalid Spawn Lane / No Valid Lanes Found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Runtime errors like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RuntimeError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No valid lanes found in the current map!.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chosen map had no drivable or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spawnable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lanes for autonomous vehicles.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Switched to procedural maps like 'S' or 5 and added fallback logic in env_manager.py to retry with alternate maps when spawn lanes are missing.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C663D734-CB51-4BD9-24AE-E80C16C3B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C559A1-BC13-DF67-5440-2411A56AE388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1E468C-2CEB-BF4C-B721-40A6085A0D9A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7856696B-2012-96D3-8592-D344DAB80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676AA1D-23B6-A844-9BE7-5E3D19E6E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AF38113C-AFA4-4631-122D-706B0111D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</p:spTree>
    <p:extLst>
      <p:ext uri="{BB962C8B-B14F-4D97-AF65-F5344CB8AC3E}">
        <p14:creationId xmlns:p14="http://schemas.microsoft.com/office/powerpoint/2010/main" val="3837398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3486B-28D3-328A-987B-24094D2A7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A8FBA-6C66-65FA-B7D1-272EDC6DB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and Fixes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29091-9155-FF2C-0329-F3018CC44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111" y="1310077"/>
            <a:ext cx="7776864" cy="5238344"/>
          </a:xfrm>
        </p:spPr>
        <p:txBody>
          <a:bodyPr>
            <a:normAutofit/>
          </a:bodyPr>
          <a:lstStyle/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Encryption Key Format Error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ValueError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Fernet key must be 32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-safe base64-encoded bytes.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Old or manually created key file (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secret.key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was not a valid Fernet key.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automatic key validation and regeneration in encryption_utils.py (via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generate_key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and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load_key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()).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Communication Import &amp; Structure Issues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ImportError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cannot import name '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start_broadcaster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or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start_receiver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Mismatch between module imports and function definitions in the communication folder.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process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91C2E8EE-6E17-6BCA-0A99-77597674E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4894771-25A4-CC97-CF02-C7F799E604CF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3CC6E4-1B49-B10D-BE2D-0B7B136763D5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6DD56C27-61CE-4F70-0C4A-8A80C825A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722C5FF-3B74-40AC-75C0-03F1EDF4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AD732768-12B0-0819-F816-1C0AAB93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</p:spTree>
    <p:extLst>
      <p:ext uri="{BB962C8B-B14F-4D97-AF65-F5344CB8AC3E}">
        <p14:creationId xmlns:p14="http://schemas.microsoft.com/office/powerpoint/2010/main" val="65449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BBEC0-11DE-23E5-6ABD-EFB47679A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2A128-164A-4E44-BB93-E88B4E117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and Fixes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B0673-C752-512F-AFDE-5E82640FA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560" y="1142984"/>
            <a:ext cx="7776864" cy="5238344"/>
          </a:xfrm>
        </p:spPr>
        <p:txBody>
          <a:bodyPr>
            <a:normAutofit/>
          </a:bodyPr>
          <a:lstStyle/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Port Type &amp; Network Binding Errors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TypeError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str, bytes or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bytearray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expected, not int during socket binding or broadcasting.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Port numbers and hostnames were being mixed up or passed as incorrect data types to the socket bind/send functions.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Ensured all ports were integers and hostnames were strings (host="127.0.0.1", port=int(port)).</a:t>
            </a:r>
          </a:p>
          <a:p>
            <a:pPr lvl="0" algn="just"/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Missing or Incorrect Agent Policy Attribute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MultiAgentMetaDrive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object has no attribute '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agent_policy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Attempt to access a non-existent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agent_policy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MetaDrive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0.4.3 (policy is handled internally).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Removed direct policy access — agents now run autonomously under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MultiAgentMetaDrive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default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(e.g., IDM).</a:t>
            </a:r>
          </a:p>
          <a:p>
            <a:pPr lvl="0" algn="just"/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E2460111-D2BB-D3D5-E1C8-847047D22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FD3C994-555F-CDFE-05D7-2C6F76C1E0AA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CEF72B-9082-510E-CB6F-AE64A4ACFDC6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B5E33CAC-30CE-3F48-C42F-0CAA52F3A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DD4ABB4-5BA1-5E23-4940-BE3B825BA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28D076EB-2C0B-2A19-A307-8D1925326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</p:spTree>
    <p:extLst>
      <p:ext uri="{BB962C8B-B14F-4D97-AF65-F5344CB8AC3E}">
        <p14:creationId xmlns:p14="http://schemas.microsoft.com/office/powerpoint/2010/main" val="3304168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54D11-5559-0CD0-1D2E-BBCCB4146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DF1E7-BA77-0363-7023-42B139EFE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and Fixes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F8870-24F4-F094-98D9-FB7C06A5F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358" y="1386168"/>
            <a:ext cx="8028384" cy="5283192"/>
          </a:xfrm>
        </p:spPr>
        <p:txBody>
          <a:bodyPr>
            <a:noAutofit/>
          </a:bodyPr>
          <a:lstStyle/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Rendering and Visualization Issues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visual output or rendering crash when using onscreen.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Incompatible render mode or absence of display device.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Added runtime check for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render_mode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='onscreen' or 'none' depending on available resources.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Synchronization and Early Simulation Termination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Simulation started but crashed immediately with cleanup messages.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Multiprocessing race conditions — environment started before all communication subprocesses stabilized.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Added controlled startup order and short delays (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time.sleep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 before launching main loop.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9ED61EB1-A4CF-D221-181E-962005B1E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81158D-7560-4AD6-5736-E1B308D6F17A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B0BF4E-3555-61DD-E96B-555D26A7DBCD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3EA8BA6C-7301-07DD-05D6-AB5D8F93F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7830255-BEC5-436F-EF8C-6654E196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15DC06BF-8176-5EBD-A033-1894B9CEF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</p:spTree>
    <p:extLst>
      <p:ext uri="{BB962C8B-B14F-4D97-AF65-F5344CB8AC3E}">
        <p14:creationId xmlns:p14="http://schemas.microsoft.com/office/powerpoint/2010/main" val="1589906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2CBF6-8314-5B0E-BD78-2CC9FCDFA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10BC-B7F9-63EC-F63B-8CD83B897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and Fixes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17F55-A345-E689-AE8C-39F9AE008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358" y="1386168"/>
            <a:ext cx="8028384" cy="5283192"/>
          </a:xfrm>
        </p:spPr>
        <p:txBody>
          <a:bodyPr>
            <a:normAutofit/>
          </a:bodyPr>
          <a:lstStyle/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MetaDrive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Configuration Schema Mismatch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KeyError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'{'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environment_num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'}' does not exist in existing config.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Passing unsupported keys (legacy config format).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Updated configuration dictionary to match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MetaDrive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v0.4.3 schema (only valid keys like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num_agents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agent_configs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map, etc.).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Process Cleanup and Signal Handling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Orphan processes or delayed shutdown after termination signal.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and environment processes weren’t closing gracefully.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process.</a:t>
            </a: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02BC66AC-7D0F-9217-1CD4-A4ABAE503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BAA4815-6409-4058-D908-B21457D04C50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73554D-813C-78FF-9509-60E8CAA113D8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03F6E9D5-A8AA-BF86-34F3-0BFAEAC54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D247FBF-D571-AD5B-9A9C-3F1B49A5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279AD007-E6B9-E4DC-7758-38BA32B4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</p:spTree>
    <p:extLst>
      <p:ext uri="{BB962C8B-B14F-4D97-AF65-F5344CB8AC3E}">
        <p14:creationId xmlns:p14="http://schemas.microsoft.com/office/powerpoint/2010/main" val="3907386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1F83D-D807-E4DF-F85C-44B65B774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CA75-904D-A8F7-2A52-24B8985EA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FF7AE-77AF-11DC-B1B3-D81F3FAC7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248" y="1440337"/>
            <a:ext cx="8028384" cy="4643470"/>
          </a:xfrm>
        </p:spPr>
        <p:txBody>
          <a:bodyPr>
            <a:normAutofit/>
          </a:bodyPr>
          <a:lstStyle/>
          <a:p>
            <a:pPr lvl="0" algn="just">
              <a:lnSpc>
                <a:spcPct val="70000"/>
              </a:lnSpc>
              <a:spcBef>
                <a:spcPts val="0"/>
              </a:spcBef>
              <a:buClr>
                <a:schemeClr val="tx1"/>
              </a:buClr>
              <a:buSzPts val="18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 Video (or by running we can show)</a:t>
            </a: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4B6F922B-0D47-527E-9C50-14048228D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D960CA-8108-D111-B5D9-EF103882826A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F45FFE9-8528-D552-20F4-7A0284BC0E31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6E8C0359-9F5C-047E-178A-160CE910C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8B705D6-9E5E-96DB-2A1D-BAD6608E7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DE58CCE4-E448-B2EE-EBC5-77888C782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</p:spTree>
    <p:extLst>
      <p:ext uri="{BB962C8B-B14F-4D97-AF65-F5344CB8AC3E}">
        <p14:creationId xmlns:p14="http://schemas.microsoft.com/office/powerpoint/2010/main" val="1808398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AA1CF-4596-FF29-65C3-DAF8ABF31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4CC26-13FC-2872-97AC-A60E38361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endParaRPr lang="en-US" sz="1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3B257-C2AD-9000-6624-A0C50201F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248" y="1440337"/>
            <a:ext cx="8028384" cy="4643470"/>
          </a:xfrm>
        </p:spPr>
        <p:txBody>
          <a:bodyPr>
            <a:normAutofit/>
          </a:bodyPr>
          <a:lstStyle/>
          <a:p>
            <a:pPr lvl="0" algn="just">
              <a:lnSpc>
                <a:spcPct val="70000"/>
              </a:lnSpc>
              <a:spcBef>
                <a:spcPts val="0"/>
              </a:spcBef>
              <a:buClr>
                <a:schemeClr val="tx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 descr="C:\Users\welco_koih58\OneDrive\Desktop\download.jpg">
            <a:extLst>
              <a:ext uri="{FF2B5EF4-FFF2-40B4-BE49-F238E27FC236}">
                <a16:creationId xmlns:a16="http://schemas.microsoft.com/office/drawing/2014/main" id="{18EEDCE2-E19F-CB0D-DBC2-3BA097D3A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85884" cy="1071570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250170-B6AD-B23E-DEC7-E49EEF45A562}"/>
              </a:ext>
            </a:extLst>
          </p:cNvPr>
          <p:cNvCxnSpPr/>
          <p:nvPr/>
        </p:nvCxnSpPr>
        <p:spPr>
          <a:xfrm>
            <a:off x="0" y="1142984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C1C1D5-0A45-068A-12E7-666E969095F8}"/>
              </a:ext>
            </a:extLst>
          </p:cNvPr>
          <p:cNvCxnSpPr/>
          <p:nvPr/>
        </p:nvCxnSpPr>
        <p:spPr>
          <a:xfrm>
            <a:off x="0" y="6357958"/>
            <a:ext cx="91440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2" descr="Home - Information Science and Engineering">
            <a:extLst>
              <a:ext uri="{FF2B5EF4-FFF2-40B4-BE49-F238E27FC236}">
                <a16:creationId xmlns:a16="http://schemas.microsoft.com/office/drawing/2014/main" id="{EFC05F74-3098-1F79-C710-8A79D97E7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2430" y="0"/>
            <a:ext cx="1071570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D255D6E-21ED-40AE-65E1-E8A8688F1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0F0-41F2-461F-AAB8-A7A369DA6ABC}" type="slidenum">
              <a:rPr lang="en-US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7BAF77B-C3B1-3ACF-09CB-3EE29A02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6019800" cy="365125"/>
          </a:xfrm>
        </p:spPr>
        <p:txBody>
          <a:bodyPr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 Multi-Agent V2V Simulation with MetaDrive</a:t>
            </a:r>
          </a:p>
        </p:txBody>
      </p:sp>
    </p:spTree>
    <p:extLst>
      <p:ext uri="{BB962C8B-B14F-4D97-AF65-F5344CB8AC3E}">
        <p14:creationId xmlns:p14="http://schemas.microsoft.com/office/powerpoint/2010/main" val="410923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2100</Words>
  <Application>Microsoft Office PowerPoint</Application>
  <PresentationFormat>On-screen Show (4:3)</PresentationFormat>
  <Paragraphs>275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Office Theme</vt:lpstr>
      <vt:lpstr>||Jai Sri Gurudev || Adichunchanagiri Shikshana Trust(R.) SJC INSTITUTE OF TECHNOLOGY An Autonomous Institution under VTU from 2024-25 AICTE Approved, Accredited by NBA(CSE,ISE,ECE,ME,CV,AE) NAAC with A+ grade, QS I-Gauge Gold rated  P.B. No. 20, B.B. Road, Chikkaballapur- 562101, Karnataka. </vt:lpstr>
      <vt:lpstr>. </vt:lpstr>
      <vt:lpstr>Introduction  </vt:lpstr>
      <vt:lpstr>Abstract </vt:lpstr>
      <vt:lpstr>Objectives </vt:lpstr>
      <vt:lpstr>Problem Statement</vt:lpstr>
      <vt:lpstr>Methodology </vt:lpstr>
      <vt:lpstr>Methodology </vt:lpstr>
      <vt:lpstr>System Architecture </vt:lpstr>
      <vt:lpstr>System Architecture </vt:lpstr>
      <vt:lpstr>Algorithm Used</vt:lpstr>
      <vt:lpstr>Algorithm Used (Cont.)</vt:lpstr>
      <vt:lpstr>Algorithm Used</vt:lpstr>
      <vt:lpstr>Algorithm Used</vt:lpstr>
      <vt:lpstr>Flow Chart </vt:lpstr>
      <vt:lpstr>Errors and Fixes</vt:lpstr>
      <vt:lpstr>Errors and Fixes</vt:lpstr>
      <vt:lpstr>Errors and Fixes</vt:lpstr>
      <vt:lpstr>Errors and Fixes</vt:lpstr>
      <vt:lpstr>Errors and Fixes</vt:lpstr>
      <vt:lpstr>Output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||Jai Sri Gurudev || Adichunchanagiri Shikshana Trust(R.) SJC INSTITUTE OF TECHNOLOGY An Autonomous Institution under VTU from 2024-25 AICTE Approved, Accredited by NBA(CSE,ISE,ECE,ME,CV,AE) NAAC with A+ grade, QS I-Gauge Gold rated  P.B. No. 20, B.B. Road, Chikkaballapur- 562101, Karnataka. </dc:title>
  <dc:creator>Shravani R</dc:creator>
  <cp:lastModifiedBy>Pushpak Chakraborty</cp:lastModifiedBy>
  <cp:revision>22</cp:revision>
  <dcterms:created xsi:type="dcterms:W3CDTF">2024-11-26T16:02:16Z</dcterms:created>
  <dcterms:modified xsi:type="dcterms:W3CDTF">2025-10-09T05:36:30Z</dcterms:modified>
</cp:coreProperties>
</file>